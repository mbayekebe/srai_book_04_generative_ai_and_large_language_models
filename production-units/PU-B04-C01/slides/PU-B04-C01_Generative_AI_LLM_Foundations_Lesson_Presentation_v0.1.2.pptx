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8a12ca9eb744c7" /><Relationship Type="http://schemas.openxmlformats.org/officeDocument/2006/relationships/extended-properties" Target="/docProps/app.xml" Id="R8a7d309373164bf8" /><Relationship Type="http://schemas.openxmlformats.org/officeDocument/2006/relationships/officeDocument" Target="/ppt/presentation.xml" Id="R799b17fba5ec492a" /></Relationships>
</file>

<file path=ppt/presentation.xml><?xml version="1.0" encoding="utf-8"?>
<p:presentation xmlns:p="http://schemas.openxmlformats.org/presentationml/2006/main">
  <p:sldMasterIdLst>
    <p:sldMasterId xmlns:r="http://schemas.openxmlformats.org/officeDocument/2006/relationships" id="2147483648" r:id="R239df659f1ed401f"/>
  </p:sldMasterIdLst>
  <p:notesMasterIdLst>
    <p:notesMasterId xmlns:r="http://schemas.openxmlformats.org/officeDocument/2006/relationships" r:id="R3a9f1fb001d94706"/>
  </p:notesMasterIdLst>
  <p:sldIdLst>
    <p:sldId xmlns:r="http://schemas.openxmlformats.org/officeDocument/2006/relationships" id="256" r:id="Rb6e01961bf444611"/>
    <p:sldId xmlns:r="http://schemas.openxmlformats.org/officeDocument/2006/relationships" id="257" r:id="Rdf1d1ace59fc48e2"/>
    <p:sldId xmlns:r="http://schemas.openxmlformats.org/officeDocument/2006/relationships" id="258" r:id="R800dfeff7542432c"/>
    <p:sldId xmlns:r="http://schemas.openxmlformats.org/officeDocument/2006/relationships" id="259" r:id="R80f6277577d340c4"/>
    <p:sldId xmlns:r="http://schemas.openxmlformats.org/officeDocument/2006/relationships" id="260" r:id="Rcc0fc981fc1a4826"/>
    <p:sldId xmlns:r="http://schemas.openxmlformats.org/officeDocument/2006/relationships" id="261" r:id="R8d0e247520ba49cd"/>
    <p:sldId xmlns:r="http://schemas.openxmlformats.org/officeDocument/2006/relationships" id="262" r:id="R4137babe46ea448f"/>
    <p:sldId xmlns:r="http://schemas.openxmlformats.org/officeDocument/2006/relationships" id="263" r:id="Rf6c808135d6b47c4"/>
    <p:sldId xmlns:r="http://schemas.openxmlformats.org/officeDocument/2006/relationships" id="264" r:id="Rfac208250af44d45"/>
    <p:sldId xmlns:r="http://schemas.openxmlformats.org/officeDocument/2006/relationships" id="265" r:id="Raf7edba18c6f4ac4"/>
    <p:sldId xmlns:r="http://schemas.openxmlformats.org/officeDocument/2006/relationships" id="266" r:id="R2423a09bef0747c2"/>
    <p:sldId xmlns:r="http://schemas.openxmlformats.org/officeDocument/2006/relationships" id="267" r:id="R6134de23b8fa4b5c"/>
    <p:sldId xmlns:r="http://schemas.openxmlformats.org/officeDocument/2006/relationships" id="268" r:id="R742c575377424ae4"/>
    <p:sldId xmlns:r="http://schemas.openxmlformats.org/officeDocument/2006/relationships" id="269" r:id="R64e6d8d2bcad4098"/>
    <p:sldId xmlns:r="http://schemas.openxmlformats.org/officeDocument/2006/relationships" id="270" r:id="Rdef153f62a1f47a1"/>
    <p:sldId xmlns:r="http://schemas.openxmlformats.org/officeDocument/2006/relationships" id="271" r:id="Recc6cc28dcff48ab"/>
    <p:sldId xmlns:r="http://schemas.openxmlformats.org/officeDocument/2006/relationships" id="272" r:id="Rea9dc76eeee24c17"/>
    <p:sldId xmlns:r="http://schemas.openxmlformats.org/officeDocument/2006/relationships" id="273" r:id="Re2ca0173fcab4a8e"/>
    <p:sldId xmlns:r="http://schemas.openxmlformats.org/officeDocument/2006/relationships" id="274" r:id="Rfd893a6070af4ad6"/>
    <p:sldId xmlns:r="http://schemas.openxmlformats.org/officeDocument/2006/relationships" id="275" r:id="R89d2306fddfe4e9e"/>
    <p:sldId xmlns:r="http://schemas.openxmlformats.org/officeDocument/2006/relationships" id="276" r:id="R783652d3005143d3"/>
    <p:sldId xmlns:r="http://schemas.openxmlformats.org/officeDocument/2006/relationships" id="277" r:id="R4aef4db47b834d5d"/>
    <p:sldId xmlns:r="http://schemas.openxmlformats.org/officeDocument/2006/relationships" id="278" r:id="R077dfe7e82b44f2a"/>
    <p:sldId xmlns:r="http://schemas.openxmlformats.org/officeDocument/2006/relationships" id="279" r:id="R31e31467667b4500"/>
    <p:sldId xmlns:r="http://schemas.openxmlformats.org/officeDocument/2006/relationships" id="280" r:id="R16de6314f2224b7b"/>
    <p:sldId xmlns:r="http://schemas.openxmlformats.org/officeDocument/2006/relationships" id="281" r:id="Reae65a2e4c56461e"/>
    <p:sldId xmlns:r="http://schemas.openxmlformats.org/officeDocument/2006/relationships" id="282" r:id="R0f80292be6ff4dd3"/>
    <p:sldId xmlns:r="http://schemas.openxmlformats.org/officeDocument/2006/relationships" id="283" r:id="Rf574d89ff18147a8"/>
    <p:sldId xmlns:r="http://schemas.openxmlformats.org/officeDocument/2006/relationships" id="284" r:id="Rd6ae96c4bf2745ed"/>
    <p:sldId xmlns:r="http://schemas.openxmlformats.org/officeDocument/2006/relationships" id="285" r:id="Re189881f720f4035"/>
    <p:sldId xmlns:r="http://schemas.openxmlformats.org/officeDocument/2006/relationships" id="286" r:id="Rf63651ee5e1240e1"/>
    <p:sldId xmlns:r="http://schemas.openxmlformats.org/officeDocument/2006/relationships" id="287" r:id="Re74d6bb9d9c74940"/>
    <p:sldId xmlns:r="http://schemas.openxmlformats.org/officeDocument/2006/relationships" id="288" r:id="R1fd4c94c543d48a1"/>
    <p:sldId xmlns:r="http://schemas.openxmlformats.org/officeDocument/2006/relationships" id="289" r:id="R8e03f848df12452e"/>
    <p:sldId xmlns:r="http://schemas.openxmlformats.org/officeDocument/2006/relationships" id="290" r:id="R6a184533c6114dcd"/>
    <p:sldId xmlns:r="http://schemas.openxmlformats.org/officeDocument/2006/relationships" id="291" r:id="R12a0426514b44363"/>
    <p:sldId xmlns:r="http://schemas.openxmlformats.org/officeDocument/2006/relationships" id="292" r:id="R5be1f092b21e49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2159023c0045d6" /><Relationship Type="http://schemas.openxmlformats.org/officeDocument/2006/relationships/slideMaster" Target="/ppt/slideMasters/slideMaster1.xml" Id="R239df659f1ed401f" /><Relationship Type="http://schemas.openxmlformats.org/officeDocument/2006/relationships/notesMaster" Target="/ppt/notesMasters/notesMaster1.xml" Id="R3a9f1fb001d94706" /><Relationship Type="http://schemas.openxmlformats.org/officeDocument/2006/relationships/presProps" Target="/ppt/presProps.xml" Id="R676f4d25f5014e09" /><Relationship Type="http://schemas.openxmlformats.org/officeDocument/2006/relationships/tableStyles" Target="/ppt/tableStyles.xml" Id="R2b28f57adf8649ed" /><Relationship Type="http://schemas.openxmlformats.org/officeDocument/2006/relationships/slide" Target="/ppt/slides/slide1.xml" Id="Rb6e01961bf444611" /><Relationship Type="http://schemas.openxmlformats.org/officeDocument/2006/relationships/slide" Target="/ppt/slides/slide2.xml" Id="Rdf1d1ace59fc48e2" /><Relationship Type="http://schemas.openxmlformats.org/officeDocument/2006/relationships/slide" Target="/ppt/slides/slide3.xml" Id="R800dfeff7542432c" /><Relationship Type="http://schemas.openxmlformats.org/officeDocument/2006/relationships/slide" Target="/ppt/slides/slide4.xml" Id="R80f6277577d340c4" /><Relationship Type="http://schemas.openxmlformats.org/officeDocument/2006/relationships/slide" Target="/ppt/slides/slide5.xml" Id="Rcc0fc981fc1a4826" /><Relationship Type="http://schemas.openxmlformats.org/officeDocument/2006/relationships/slide" Target="/ppt/slides/slide6.xml" Id="R8d0e247520ba49cd" /><Relationship Type="http://schemas.openxmlformats.org/officeDocument/2006/relationships/slide" Target="/ppt/slides/slide7.xml" Id="R4137babe46ea448f" /><Relationship Type="http://schemas.openxmlformats.org/officeDocument/2006/relationships/slide" Target="/ppt/slides/slide8.xml" Id="Rf6c808135d6b47c4" /><Relationship Type="http://schemas.openxmlformats.org/officeDocument/2006/relationships/slide" Target="/ppt/slides/slide9.xml" Id="Rfac208250af44d45" /><Relationship Type="http://schemas.openxmlformats.org/officeDocument/2006/relationships/slide" Target="/ppt/slides/slide10.xml" Id="Raf7edba18c6f4ac4" /><Relationship Type="http://schemas.openxmlformats.org/officeDocument/2006/relationships/slide" Target="/ppt/slides/slide11.xml" Id="R2423a09bef0747c2" /><Relationship Type="http://schemas.openxmlformats.org/officeDocument/2006/relationships/slide" Target="/ppt/slides/slide12.xml" Id="R6134de23b8fa4b5c" /><Relationship Type="http://schemas.openxmlformats.org/officeDocument/2006/relationships/slide" Target="/ppt/slides/slide13.xml" Id="R742c575377424ae4" /><Relationship Type="http://schemas.openxmlformats.org/officeDocument/2006/relationships/slide" Target="/ppt/slides/slide14.xml" Id="R64e6d8d2bcad4098" /><Relationship Type="http://schemas.openxmlformats.org/officeDocument/2006/relationships/slide" Target="/ppt/slides/slide15.xml" Id="Rdef153f62a1f47a1" /><Relationship Type="http://schemas.openxmlformats.org/officeDocument/2006/relationships/slide" Target="/ppt/slides/slide16.xml" Id="Recc6cc28dcff48ab" /><Relationship Type="http://schemas.openxmlformats.org/officeDocument/2006/relationships/slide" Target="/ppt/slides/slide17.xml" Id="Rea9dc76eeee24c17" /><Relationship Type="http://schemas.openxmlformats.org/officeDocument/2006/relationships/slide" Target="/ppt/slides/slide18.xml" Id="Re2ca0173fcab4a8e" /><Relationship Type="http://schemas.openxmlformats.org/officeDocument/2006/relationships/slide" Target="/ppt/slides/slide19.xml" Id="Rfd893a6070af4ad6" /><Relationship Type="http://schemas.openxmlformats.org/officeDocument/2006/relationships/slide" Target="/ppt/slides/slide20.xml" Id="R89d2306fddfe4e9e" /><Relationship Type="http://schemas.openxmlformats.org/officeDocument/2006/relationships/slide" Target="/ppt/slides/slide21.xml" Id="R783652d3005143d3" /><Relationship Type="http://schemas.openxmlformats.org/officeDocument/2006/relationships/slide" Target="/ppt/slides/slide22.xml" Id="R4aef4db47b834d5d" /><Relationship Type="http://schemas.openxmlformats.org/officeDocument/2006/relationships/slide" Target="/ppt/slides/slide23.xml" Id="R077dfe7e82b44f2a" /><Relationship Type="http://schemas.openxmlformats.org/officeDocument/2006/relationships/slide" Target="/ppt/slides/slide24.xml" Id="R31e31467667b4500" /><Relationship Type="http://schemas.openxmlformats.org/officeDocument/2006/relationships/slide" Target="/ppt/slides/slide25.xml" Id="R16de6314f2224b7b" /><Relationship Type="http://schemas.openxmlformats.org/officeDocument/2006/relationships/slide" Target="/ppt/slides/slide26.xml" Id="Reae65a2e4c56461e" /><Relationship Type="http://schemas.openxmlformats.org/officeDocument/2006/relationships/slide" Target="/ppt/slides/slide27.xml" Id="R0f80292be6ff4dd3" /><Relationship Type="http://schemas.openxmlformats.org/officeDocument/2006/relationships/slide" Target="/ppt/slides/slide28.xml" Id="Rf574d89ff18147a8" /><Relationship Type="http://schemas.openxmlformats.org/officeDocument/2006/relationships/slide" Target="/ppt/slides/slide29.xml" Id="Rd6ae96c4bf2745ed" /><Relationship Type="http://schemas.openxmlformats.org/officeDocument/2006/relationships/slide" Target="/ppt/slides/slide30.xml" Id="Re189881f720f4035" /><Relationship Type="http://schemas.openxmlformats.org/officeDocument/2006/relationships/slide" Target="/ppt/slides/slide31.xml" Id="Rf63651ee5e1240e1" /><Relationship Type="http://schemas.openxmlformats.org/officeDocument/2006/relationships/slide" Target="/ppt/slides/slide32.xml" Id="Re74d6bb9d9c74940" /><Relationship Type="http://schemas.openxmlformats.org/officeDocument/2006/relationships/slide" Target="/ppt/slides/slide33.xml" Id="R1fd4c94c543d48a1" /><Relationship Type="http://schemas.openxmlformats.org/officeDocument/2006/relationships/slide" Target="/ppt/slides/slide34.xml" Id="R8e03f848df12452e" /><Relationship Type="http://schemas.openxmlformats.org/officeDocument/2006/relationships/slide" Target="/ppt/slides/slide35.xml" Id="R6a184533c6114dcd" /><Relationship Type="http://schemas.openxmlformats.org/officeDocument/2006/relationships/slide" Target="/ppt/slides/slide36.xml" Id="R12a0426514b44363" /><Relationship Type="http://schemas.openxmlformats.org/officeDocument/2006/relationships/slide" Target="/ppt/slides/slide37.xml" Id="R5be1f092b21e49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663f8498fe4e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0695afbea64e31" /><Relationship Type="http://schemas.openxmlformats.org/officeDocument/2006/relationships/notesMaster" Target="/ppt/notesMasters/notesMaster1.xml" Id="R3a30a655f5ad4a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1a78fe5a5c4720" /><Relationship Type="http://schemas.openxmlformats.org/officeDocument/2006/relationships/notesMaster" Target="/ppt/notesMasters/notesMaster1.xml" Id="Rc81bee1b0c4d40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3b36ef32c1457b" /><Relationship Type="http://schemas.openxmlformats.org/officeDocument/2006/relationships/notesMaster" Target="/ppt/notesMasters/notesMaster1.xml" Id="R2c0bcce5a1ff44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f3b02c0d02486f" /><Relationship Type="http://schemas.openxmlformats.org/officeDocument/2006/relationships/notesMaster" Target="/ppt/notesMasters/notesMaster1.xml" Id="Rf59e80ec317d40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8261ffe910485a" /><Relationship Type="http://schemas.openxmlformats.org/officeDocument/2006/relationships/notesMaster" Target="/ppt/notesMasters/notesMaster1.xml" Id="Ra884f252e7a449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23a762b0c3475f" /><Relationship Type="http://schemas.openxmlformats.org/officeDocument/2006/relationships/notesMaster" Target="/ppt/notesMasters/notesMaster1.xml" Id="R3ee916a3b0df48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e3e4dbc0c141da" /><Relationship Type="http://schemas.openxmlformats.org/officeDocument/2006/relationships/notesMaster" Target="/ppt/notesMasters/notesMaster1.xml" Id="R611eda85fb4d40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ee6fa7b1cf49b9" /><Relationship Type="http://schemas.openxmlformats.org/officeDocument/2006/relationships/notesMaster" Target="/ppt/notesMasters/notesMaster1.xml" Id="R87cdd293601143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eb0652a08a457e" /><Relationship Type="http://schemas.openxmlformats.org/officeDocument/2006/relationships/notesMaster" Target="/ppt/notesMasters/notesMaster1.xml" Id="R113a6f7e5d934d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10776edb9d4518" /><Relationship Type="http://schemas.openxmlformats.org/officeDocument/2006/relationships/notesMaster" Target="/ppt/notesMasters/notesMaster1.xml" Id="R3beba7c1469749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dddc7b18324da2" /><Relationship Type="http://schemas.openxmlformats.org/officeDocument/2006/relationships/notesMaster" Target="/ppt/notesMasters/notesMaster1.xml" Id="R9dad057b3ed443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8fbee21258425b" /><Relationship Type="http://schemas.openxmlformats.org/officeDocument/2006/relationships/notesMaster" Target="/ppt/notesMasters/notesMaster1.xml" Id="R96055dabd1394f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a2e8e565fc4f28" /><Relationship Type="http://schemas.openxmlformats.org/officeDocument/2006/relationships/notesMaster" Target="/ppt/notesMasters/notesMaster1.xml" Id="R7c25c934cc0d40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5fff2a501e4457" /><Relationship Type="http://schemas.openxmlformats.org/officeDocument/2006/relationships/notesMaster" Target="/ppt/notesMasters/notesMaster1.xml" Id="R6de56dfedef446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20021ef4e641de" /><Relationship Type="http://schemas.openxmlformats.org/officeDocument/2006/relationships/notesMaster" Target="/ppt/notesMasters/notesMaster1.xml" Id="Rc01af9d7285e43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d75033c3e94aae" /><Relationship Type="http://schemas.openxmlformats.org/officeDocument/2006/relationships/notesMaster" Target="/ppt/notesMasters/notesMaster1.xml" Id="R20404a29e72f45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71f3fdaf04478e" /><Relationship Type="http://schemas.openxmlformats.org/officeDocument/2006/relationships/notesMaster" Target="/ppt/notesMasters/notesMaster1.xml" Id="R1df8e03c215c40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6bad82dd97444b" /><Relationship Type="http://schemas.openxmlformats.org/officeDocument/2006/relationships/notesMaster" Target="/ppt/notesMasters/notesMaster1.xml" Id="Rf1f8b8ccf5ad4f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a38f42b76d41f9" /><Relationship Type="http://schemas.openxmlformats.org/officeDocument/2006/relationships/notesMaster" Target="/ppt/notesMasters/notesMaster1.xml" Id="Re3a794c6fb3f43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89ac455e4f4483" /><Relationship Type="http://schemas.openxmlformats.org/officeDocument/2006/relationships/notesMaster" Target="/ppt/notesMasters/notesMaster1.xml" Id="R7b1a7bf759d148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995a3957b541ef" /><Relationship Type="http://schemas.openxmlformats.org/officeDocument/2006/relationships/notesMaster" Target="/ppt/notesMasters/notesMaster1.xml" Id="Rf8354f1fe83e44d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7c68814bbab444e" /><Relationship Type="http://schemas.openxmlformats.org/officeDocument/2006/relationships/notesMaster" Target="/ppt/notesMasters/notesMaster1.xml" Id="R7c73bc508bda49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f05b6eb05a4ad2" /><Relationship Type="http://schemas.openxmlformats.org/officeDocument/2006/relationships/notesMaster" Target="/ppt/notesMasters/notesMaster1.xml" Id="R213e2f8d25be48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2baaf1bfdac4341" /><Relationship Type="http://schemas.openxmlformats.org/officeDocument/2006/relationships/notesMaster" Target="/ppt/notesMasters/notesMaster1.xml" Id="R7434d00d2cae4e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122970aff88488d" /><Relationship Type="http://schemas.openxmlformats.org/officeDocument/2006/relationships/notesMaster" Target="/ppt/notesMasters/notesMaster1.xml" Id="R3876fcea99554f0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b5ab1a55cb4947" /><Relationship Type="http://schemas.openxmlformats.org/officeDocument/2006/relationships/notesMaster" Target="/ppt/notesMasters/notesMaster1.xml" Id="R0ab9028767e64d3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47ae66c54824082" /><Relationship Type="http://schemas.openxmlformats.org/officeDocument/2006/relationships/notesMaster" Target="/ppt/notesMasters/notesMaster1.xml" Id="R10b40b5d148f42a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83934b495c04fb4" /><Relationship Type="http://schemas.openxmlformats.org/officeDocument/2006/relationships/notesMaster" Target="/ppt/notesMasters/notesMaster1.xml" Id="R36d4637baca6474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0671b71a9cf4fed" /><Relationship Type="http://schemas.openxmlformats.org/officeDocument/2006/relationships/notesMaster" Target="/ppt/notesMasters/notesMaster1.xml" Id="R84f2e859a3e3413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8f3b01199694368" /><Relationship Type="http://schemas.openxmlformats.org/officeDocument/2006/relationships/notesMaster" Target="/ppt/notesMasters/notesMaster1.xml" Id="R3837907fedf24f3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b6c892ea351463c" /><Relationship Type="http://schemas.openxmlformats.org/officeDocument/2006/relationships/notesMaster" Target="/ppt/notesMasters/notesMaster1.xml" Id="Rb1c96e82c75946d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5421af415844c3a" /><Relationship Type="http://schemas.openxmlformats.org/officeDocument/2006/relationships/notesMaster" Target="/ppt/notesMasters/notesMaster1.xml" Id="Rf43804c3bb694d9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1755e0a7a9c41d8" /><Relationship Type="http://schemas.openxmlformats.org/officeDocument/2006/relationships/notesMaster" Target="/ppt/notesMasters/notesMaster1.xml" Id="R712b132a4098493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bbb13377de42f1" /><Relationship Type="http://schemas.openxmlformats.org/officeDocument/2006/relationships/notesMaster" Target="/ppt/notesMasters/notesMaster1.xml" Id="R7775c05d31a24fb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5608f83baef403e" /><Relationship Type="http://schemas.openxmlformats.org/officeDocument/2006/relationships/notesMaster" Target="/ppt/notesMasters/notesMaster1.xml" Id="R0ce279451a9d4ca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62f6d0b2f8b4db9" /><Relationship Type="http://schemas.openxmlformats.org/officeDocument/2006/relationships/notesMaster" Target="/ppt/notesMasters/notesMaster1.xml" Id="R1ecbade7d2f3439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2009d33925a4d03" /><Relationship Type="http://schemas.openxmlformats.org/officeDocument/2006/relationships/notesMaster" Target="/ppt/notesMasters/notesMaster1.xml" Id="Rb09305d831d34b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Book 4 of the SRAI learning ecosystem. This lesson introduces generative artificial intelligence and large language model foundations. We will examine how language models represent text, calculate probabilities, and generate one token at a time. We will also establish a central principle for the entire book: fluent language can be useful, but factual authority must come from evidence, verification, and accountable human judgment. Across Book 4, ambitious learners will progress toward building and explaining a small GPT-style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Generative AI matters because it combines broad capability with a distinctive form of risk. Language models can draft, summarize, translate, extract information, and support programming work. The same fluency can conceal altered facts, missing conditions, or invented support. When generated content enters an institutional decision, the organization therefore needs traceable evidence and a defined verification process. The value of the technology and the cost of undetected error rise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the end of this lesson, you should be able to explain tokens, conditional probability, decoding, and attention in clear language. You will also connect those concepts to transparent experiments in the accompanying notebook. Beyond technical mechanics, you will learn to evaluate groundedness, correctness, robustness, safety, and fitness for a real decision. Finally, you will identify the evidence records, approval boundaries, and escalation rules that support accountable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public-enterprise analyst who asks a language model to summarize a provisional quarterly financial report. The model produces a polished narrative, but changes one number and removes the provisional qualification. Because the text sounds certain, the error enters an executive briefing. This case reveals two interacting failures. The model generated a plausible continuation, and the surrounding workflow lacked a reliable claim-level verification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4 follows a cumulative pathway. We begin with tokens, probability, attention, and generation. We then study retrieval, tools, agents, model adaptation, evaluation, safety, and production architecture. The pathway culminates in a practical capstone where learners build and explain a small GPT-style model. The goal is not to reproduce a frontier system. The goal is to understand the essential mechanisms through a compact, observable, and educational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Discriminative and generative learning answer different questions. A discriminative model estimates an outcome or label from observed features. A generative model learns a distribution that can produce new examples or continuations. This difference affects how we interpret the result. A generated answer reflects patterns learned by the model and conditions supplied at inference time. It does not automatically provide evidence that the answer matches verified reality.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Generative systems can produce many forms of output. Text applications include drafting, summarization, translation, and extraction. Code applications include completion, transformation, testing, and explanation. Multimodal systems can produce images, audio, or video. Models can also return structured outputs such as tables, JSON objects, classifications, or proposed workflow actions. Every capability claim should identify the task, model version, context, evaluation method, and conditions under which the claim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language model does not process a sentence as an indivisible human idea. A tokenizer divides the text into units called tokens. Each token receives an identifier from a vocabulary. An embedding layer maps that identifier to a learned vector. Later layers transform those vectors into contextual representations. This sequence creates the first measurable information boundary between human language and model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 tokenization strategies create different tradeoffs. Word tokenization is intuitive but handles rare forms poorly. Character tokenization provides broad coverage but produces long sequences. Subword tokenization reuses common fragments and usually offers efficient coverage. Byte-level methods can represent a very wide range of text, although token costs may differ across languages. Responsible evaluation must therefore test the languages and documents that the institution actually serves.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token identifier is simply an index in a vocabulary. The corresponding embedding is a learned numerical vector. Position information represents sequence order. Attention and later transformations then produce a contextual state whose meaning depends on surrounding tokens. These vectors capture useful statistical patterns and relationships. They should not be interpreted as direct records of factual truth or transparent citations to training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model has a finite context window. Instructions, conversation history, retrieved sources, the current input, and the generated output must all fit within that token budget. The application decides what enters the window and what disappears when the budget is exceeded. Truncation is therefore not a minor technical detail. It changes the evidence available to the model and can alter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autoregressive language model assigns probability to a sequence by multiplying a series of conditional probabilities. At each position, the model estimates the next token from the tokens that came before it. It selects or samples a token, adds that token to the retained context, and repeats the calculation. A high probability means that a continuation fits the model and context well. It does not prove that the continuation is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paragraph emerges through repeated local decisions. The model begins with the retained context, calculates a probability distribution over possible next tokens, applies a decoding policy, and appends the selected token. The expanded sequence becomes the context for the next calculation. Repeating this process many times can produce coherent and apparently purposeful prose, even though each step remains a conditional token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pretraining, a model learns statistical structure from many examples by minimizing a predictive loss. The resulting parameters encode patterns that support later generation. They do not form a transparent catalogue of source documents. Data selection, filtering, rights, exclusions, and the predictive objective all influence the learned system. Exposure during training cannot provide current, claim-level provenance for a generated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methods can change model behaviour, but they operate at different points. Prompting changes the instructions and context for the current request. Retrieval adds external evidence during inference. Fine-tuning updates model parameters using additional training data. Preference methods shape behaviour using comparative signals or feedback. Clear distinctions among these methods help teams identify which component changed and what evidence they need to evaluate the resulting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Scaled dot-product attention combines information across token positions. Queries are compared with keys, the scores are scaled and normalized, and the resulting weights combine value vectors. This mechanism allows each position to form a context-sensitive representation. Attention is central to Transformer models, but attention weights do not function as factual citations. They describe an internal computation rather than external evidence for a real-world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measurements require careful interpretation. It is valid to say that a defined layer assigned measurable weights across positions for a specific input. It is much stronger, and usually unjustified, to claim that those weights reveal the complete reason for the final answer. Stronger explanations require controlled interventions, systematic evaluation, and external verification. Internal model measurements and institutional accountability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application normally assembles several kinds of context before generation. System policy defines the application’s governing instructions. Retained history carries selected prior interaction. Retrieved evidence supplies authorized passages. The user request identifies the current task and required output. Good prompt assembly can improve relevance and consistency, but it cannot replace access control, source authorization, factual verification, or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decoding policy determines how the model selects the next token. Greedy decoding chooses the token with the highest probability. Temperature changes how concentrated the probability distribution becomes. Top-k sampling restricts selection to a fixed number of candidates. Top-p sampling retains candidates until their cumulative probability reaches a threshold. When generated outputs matter, the model version and decoding settings should form part of the reproducibility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Temperature reshapes the token probability distribution. A lower temperature concentrates probability on the most likely candidates and usually reduces variation. A higher temperature gives relatively more weight to less likely candidates and usually increases variation. This setting affects diversity and reproducibility. It cannot add missing evidence, update outdated knowledge, or transform a plausible statement into an authoritative 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Language-model capability remains conditional. Performance depends on the task definition, the language and population, the evidence placed in context, and the exact model and application version. A strong score on one benchmark does not authorize every workflow. A defensible capability statement must identify what was tested, under which configuration, for which users, and with what observed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Confabulation can appear in several forms. A model may invent a citation or use a real citation that fails to support the claim. It may alter a number, unit, period, or status. It may fill an evidence gap with a plausible detail. It may also remove uncertainty and make a qualified source sound certain. Claim-level verification helps detect these failures when fluent prose would otherwise conceal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correct answer on one case provides useful but limited evidence. Output agreement does not reveal the complete internal route, stability under variation, or behaviour on the next case. A stronger evaluation uses counterexamples, perturbations, repeated runs, and process checks. The objective is to learn where the system remains reliable and where apparently correct output may depend on fragile or accidental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Retrieval-augmented generation connects a language model to external sources. The system first organizes eligible documents, retrieves passages relevant to the request, generates an answer conditioned on the retained evidence, and verifies material claims. Retrieval and generation can fail separately. Evaluation should therefore measure whether the system selected the right evidence and whether the generated answer represented that evidence accurately.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Claim-level evidence connects each important statement to its supporting source and qualifications. In this example, the revenue figure must preserve the currency, amount, reporting period, and provisional audit status. The cited table cell and note must carry authority and support the stated meaning. A reviewer can then approve, revise, reject, or escalate the claim. A citation alone is insufficient when it does not support the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 and function calling can connect a model to operational services. The model proposes structured arguments. The application validates the schema, user permission, and allowed action. An authorized service performs the operation, and the system records the result, error, and approval. The model can help formulate an action, but operational authority must remain with enforceable controls outside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Agentic systems perform multiple steps toward an objective, which increases the importance of external control. The application should define the allowed objective, tools, and data. It should limit steps, time, and cost. Consequential actions should require a human approval gate. The system also needs explicit conditions for completion, refusal, or escalation. Greater autonomy creates more opportunities for error to propagate across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should separate distinct qualities. Fluency measures coherence and relevance. Groundedness asks whether authorized evidence supports the claims. Correctness compares the output with verified reality. Decision fitness asks whether the result is suitable for the accountable workflow. A single combined score can conceal a serious failure, so teams should report the important dimensions separately and preserve the evidence behind each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Credible evaluation begins by defining intended and excluded uses. Testing should include representative cases and deliberately difficult cases. Qualified reviewers need clear scoring rules and a method for resolving disagreement. After deployment, monitoring should track incidents, drift, and operational outcomes. The resulting evidence supports claims only for the tested configuration and population. Material changes require renewed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Privacy and security apply to the complete application path. Sensitive context should be minimized and authorized before it enters a prompt. Retrieved documents should be treated as untrusted data because they may contain prompt-injection instructions. Tool access should follow least privilege and remain enforceable outside the model. The organization also needs a documented process to detect, contain, correct, and record incidents.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Bias and multilingual performance require disaggregated evidence. Teams should examine who and which languages appear in the data, whether metrics capture relevant harms, and who receives the benefits or errors produced by the system. People affected by a consequential result also need a practical route to challenge it. Aggregate accuracy can look acceptable while concealing serious failure for a smaller language or population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an official-statistics workflow, approved tables and metadata remain authoritative. Deterministic code should calculate published values and changes. A language model may draft a narrative using source identifiers, but a qualified statistician should verify the claims and authorize publication. Metadata forms part of the statistical fact because it defines concepts, units, coverage, reference periods, revisions, and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public-enterprise reporting system should preserve the financial system of record as the authoritative source. A language model can help explain exceptions or draft a management narrative. It should not directly alter ledger records. A named reviewer must confirm material claims, retained qualifications, and source references before release. This separation supports useful automation while protecting accounting integrity and institutional accountability.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notebook turns the lesson’s concepts into transparent experiments. It contains forty-one cells, including twenty-one executable code cells. The notebook runs in both Visual Studio Code and Google Colab and does not require a private SRAI package. Learners can inspect tokenization, probability, decoding, attention, retrieval, and evaluation behaviour directly. These experiments reveal mechanisms without claiming to reproduce frontier-scale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SRAI evidence chain connects a request to an accountable decision. It records the purpose and user, the authorized context, the model and application configuration, the verification results, and the final approval or escalation. This chain supports reproducibility and audit. At the same time, retention should remain proportionate. The system should preserve enough evidence to explain the decision without storing unnecessary sensitive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SRAI Principle Number Ninety-Six states that a language model generates statistically plausible continuations, while factual authority must come from evidence, validation, and accountable human use. This principle separates generative capability from institutional authority. The model can support analysis and communication. The organization remains responsible for sources, controls, verification, approval, and the consequences of using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4 begins with an ambitious destination. Across the complete pathway, learners will build and explain a small GPT-style model using tokens, embeddings, causal attention, decoder blocks, training loss, generation, and evaluation. The project remains educational and computationally modest, but the mechanisms are genuine. Lesson 1 establishes the technical vocabulary and evidence discipline that will govern every later stage of that journey.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d676942ad44c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3fa96466a8478f" /><Relationship Type="http://schemas.openxmlformats.org/officeDocument/2006/relationships/slideLayout" Target="/ppt/slideLayouts/slideLayout1.xml" Id="R567c365dc8b140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7c365dc8b140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252ccbfeff4c15" /><Relationship Type="http://schemas.openxmlformats.org/officeDocument/2006/relationships/image" Target="/ppt/media/image.png" Id="R7a75145671e74465" /><Relationship Type="http://schemas.openxmlformats.org/officeDocument/2006/relationships/notesSlide" Target="/ppt/notesSlides/notesSlide1.xml" Id="Re69cd0946f5244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d862ee89054888" /><Relationship Type="http://schemas.openxmlformats.org/officeDocument/2006/relationships/notesSlide" Target="/ppt/notesSlides/notesSlide2.xml" Id="Rdae6da51641b4c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a8cd7f3d044000" /><Relationship Type="http://schemas.openxmlformats.org/officeDocument/2006/relationships/notesSlide" Target="/ppt/notesSlides/notesSlide3.xml" Id="R6e07ee0450b547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ddc32db38d4fce" /><Relationship Type="http://schemas.openxmlformats.org/officeDocument/2006/relationships/notesSlide" Target="/ppt/notesSlides/notesSlide4.xml" Id="R81b42fe853c24f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f2c46edb3c4ec9" /><Relationship Type="http://schemas.openxmlformats.org/officeDocument/2006/relationships/notesSlide" Target="/ppt/notesSlides/notesSlide5.xml" Id="Rca218554f22a49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31a7930d7c4354" /><Relationship Type="http://schemas.openxmlformats.org/officeDocument/2006/relationships/notesSlide" Target="/ppt/notesSlides/notesSlide6.xml" Id="R5752b22a945c48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d210de58ad4c7c" /><Relationship Type="http://schemas.openxmlformats.org/officeDocument/2006/relationships/notesSlide" Target="/ppt/notesSlides/notesSlide7.xml" Id="Rb544603a86ce46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e99e7205294d49" /><Relationship Type="http://schemas.openxmlformats.org/officeDocument/2006/relationships/notesSlide" Target="/ppt/notesSlides/notesSlide8.xml" Id="R6df84af8b73642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3909105e9146e3" /><Relationship Type="http://schemas.openxmlformats.org/officeDocument/2006/relationships/notesSlide" Target="/ppt/notesSlides/notesSlide9.xml" Id="R4e31d27344db42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4f8b654d7c4223" /><Relationship Type="http://schemas.openxmlformats.org/officeDocument/2006/relationships/notesSlide" Target="/ppt/notesSlides/notesSlide10.xml" Id="R713fce6a88c14a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ed64c56a054f4b" /><Relationship Type="http://schemas.openxmlformats.org/officeDocument/2006/relationships/notesSlide" Target="/ppt/notesSlides/notesSlide11.xml" Id="Re4b43d58d71b47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59f2aa89ef4d62" /><Relationship Type="http://schemas.openxmlformats.org/officeDocument/2006/relationships/notesSlide" Target="/ppt/notesSlides/notesSlide12.xml" Id="Re367045d2f494f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d19eeb177954e8e" /><Relationship Type="http://schemas.openxmlformats.org/officeDocument/2006/relationships/notesSlide" Target="/ppt/notesSlides/notesSlide13.xml" Id="Rb8dd149cacf648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c822540608e4e0b" /><Relationship Type="http://schemas.openxmlformats.org/officeDocument/2006/relationships/notesSlide" Target="/ppt/notesSlides/notesSlide14.xml" Id="Rf7c20fadc7ab4d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33bc8ae28a9462b" /><Relationship Type="http://schemas.openxmlformats.org/officeDocument/2006/relationships/notesSlide" Target="/ppt/notesSlides/notesSlide15.xml" Id="Ra51c065498d043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f9b3d8cf8374838" /><Relationship Type="http://schemas.openxmlformats.org/officeDocument/2006/relationships/notesSlide" Target="/ppt/notesSlides/notesSlide16.xml" Id="Rf5c8657654554d3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971d15481f949e1" /><Relationship Type="http://schemas.openxmlformats.org/officeDocument/2006/relationships/notesSlide" Target="/ppt/notesSlides/notesSlide17.xml" Id="R55342a5539fd4a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efdb78a42084ada" /><Relationship Type="http://schemas.openxmlformats.org/officeDocument/2006/relationships/notesSlide" Target="/ppt/notesSlides/notesSlide18.xml" Id="R888842ce955145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1ad0a92ff214af6" /><Relationship Type="http://schemas.openxmlformats.org/officeDocument/2006/relationships/notesSlide" Target="/ppt/notesSlides/notesSlide19.xml" Id="Rffb4d9116faf44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da6e3cf167f4636" /><Relationship Type="http://schemas.openxmlformats.org/officeDocument/2006/relationships/notesSlide" Target="/ppt/notesSlides/notesSlide20.xml" Id="Rb55493a72f9d4e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7974f6614604285" /><Relationship Type="http://schemas.openxmlformats.org/officeDocument/2006/relationships/notesSlide" Target="/ppt/notesSlides/notesSlide21.xml" Id="R20702e18348d4f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467f31302a342a9" /><Relationship Type="http://schemas.openxmlformats.org/officeDocument/2006/relationships/notesSlide" Target="/ppt/notesSlides/notesSlide22.xml" Id="R13fb775a4250465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435d297930d4d74" /><Relationship Type="http://schemas.openxmlformats.org/officeDocument/2006/relationships/notesSlide" Target="/ppt/notesSlides/notesSlide23.xml" Id="R78d6e337fdb249d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9f617b3f4284d2e" /><Relationship Type="http://schemas.openxmlformats.org/officeDocument/2006/relationships/notesSlide" Target="/ppt/notesSlides/notesSlide24.xml" Id="R94744a38daf147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f566a1138bd4b76" /><Relationship Type="http://schemas.openxmlformats.org/officeDocument/2006/relationships/notesSlide" Target="/ppt/notesSlides/notesSlide25.xml" Id="R9f635479fd8b49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cd229c109a842d1" /><Relationship Type="http://schemas.openxmlformats.org/officeDocument/2006/relationships/notesSlide" Target="/ppt/notesSlides/notesSlide26.xml" Id="R9850ebd4ba07481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5127a89825b4c31" /><Relationship Type="http://schemas.openxmlformats.org/officeDocument/2006/relationships/notesSlide" Target="/ppt/notesSlides/notesSlide27.xml" Id="R2f616840b2a9412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0f697ac729c4b2d" /><Relationship Type="http://schemas.openxmlformats.org/officeDocument/2006/relationships/notesSlide" Target="/ppt/notesSlides/notesSlide28.xml" Id="R47209e2308fa421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92bcd0eb67f4c79" /><Relationship Type="http://schemas.openxmlformats.org/officeDocument/2006/relationships/notesSlide" Target="/ppt/notesSlides/notesSlide29.xml" Id="R0102b333090644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20c28ffc89c4629" /><Relationship Type="http://schemas.openxmlformats.org/officeDocument/2006/relationships/notesSlide" Target="/ppt/notesSlides/notesSlide30.xml" Id="Rf3e9563bac5e4b0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1665d5dea604cbf" /><Relationship Type="http://schemas.openxmlformats.org/officeDocument/2006/relationships/notesSlide" Target="/ppt/notesSlides/notesSlide31.xml" Id="R73eae8e317c243d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9691f5068d545e1" /><Relationship Type="http://schemas.openxmlformats.org/officeDocument/2006/relationships/notesSlide" Target="/ppt/notesSlides/notesSlide32.xml" Id="Rd57bbacc0efe461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68782a752b949f2" /><Relationship Type="http://schemas.openxmlformats.org/officeDocument/2006/relationships/notesSlide" Target="/ppt/notesSlides/notesSlide33.xml" Id="Rcd99ac07743d46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35626e449374169" /><Relationship Type="http://schemas.openxmlformats.org/officeDocument/2006/relationships/notesSlide" Target="/ppt/notesSlides/notesSlide34.xml" Id="Rcf339921b69f4d0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84d23c10c6649b3" /><Relationship Type="http://schemas.openxmlformats.org/officeDocument/2006/relationships/notesSlide" Target="/ppt/notesSlides/notesSlide35.xml" Id="R8f4e01c837fd415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888afdf37d5444c" /><Relationship Type="http://schemas.openxmlformats.org/officeDocument/2006/relationships/notesSlide" Target="/ppt/notesSlides/notesSlide36.xml" Id="Rabddbbedeb9e413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76694fd75dd4645" /><Relationship Type="http://schemas.openxmlformats.org/officeDocument/2006/relationships/notesSlide" Target="/ppt/notesSlides/notesSlide37.xml" Id="R2ed8581d6ed741b2" /></Relationships>
</file>

<file path=ppt/slides/slide1.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75145671e7446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91FAC3-09F9-48E8-9715-9C6D619420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B2A">
              <a:alpha val="80000"/>
            </a:srgbClr>
          </a:solidFill>
          <a:ln xmlns:a="http://schemas.openxmlformats.org/drawingml/2006/main" w="9525">
            <a:solidFill>
              <a:srgbClr val="061B2A">
                <a:alpha val="0"/>
              </a:srgbClr>
            </a:solidFill>
          </a:ln>
        </p:spPr>
      </p:sp>
      <p:sp>
        <p:nvSpPr>
          <p:cNvPr id="3" name="">
            <a:extLst xmlns:a="http://schemas.openxmlformats.org/drawingml/2006/main">
              <a:ext uri="{FF2B5EF4-FFF2-40B4-BE49-F238E27FC236}">
                <a16:creationId xmlns:a16="http://schemas.microsoft.com/office/drawing/2014/main" id="{9E3EC79C-0CD3-4C5D-B854-7FEA9F5E18A4}"/>
              </a:ext>
            </a:extLst>
          </p:cNvPr>
          <p:cNvSpPr>
            <a:spLocks xmlns:a="http://schemas.openxmlformats.org/drawingml/2006/main" noGrp="1"/>
          </p:cNvSpPr>
          <p:nvPr/>
        </p:nvSpPr>
        <p:spPr>
          <a:xfrm xmlns:a="http://schemas.openxmlformats.org/drawingml/2006/main">
            <a:off x="476250" y="3238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39D7D5"/>
                </a:solidFill>
                <a:latin typeface="Calibri"/>
                <a:ea typeface="Calibri"/>
                <a:cs typeface="Calibri"/>
              </a:defRPr>
            </a:pPr>
            <a:r>
              <a:rPr sz="1125" b="1">
                <a:solidFill>
                  <a:srgbClr val="39D7D5"/>
                </a:solidFill>
                <a:latin typeface="Calibri"/>
                <a:ea typeface="Calibri"/>
                <a:cs typeface="Calibri"/>
              </a:rPr>
              <a:t>SRAI</a:t>
            </a:r>
          </a:p>
        </p:txBody>
      </p:sp>
      <p:sp>
        <p:nvSpPr>
          <p:cNvPr id="4" name="">
            <a:extLst xmlns:a="http://schemas.openxmlformats.org/drawingml/2006/main">
              <a:ext uri="{FF2B5EF4-FFF2-40B4-BE49-F238E27FC236}">
                <a16:creationId xmlns:a16="http://schemas.microsoft.com/office/drawing/2014/main" id="{7BBC6970-9ACC-4EA5-8400-DE273F008EC0}"/>
              </a:ext>
            </a:extLst>
          </p:cNvPr>
          <p:cNvSpPr>
            <a:spLocks xmlns:a="http://schemas.openxmlformats.org/drawingml/2006/main" noGrp="1"/>
          </p:cNvSpPr>
          <p:nvPr/>
        </p:nvSpPr>
        <p:spPr>
          <a:xfrm xmlns:a="http://schemas.openxmlformats.org/drawingml/2006/main">
            <a:off x="495300" y="15716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F5FAFC"/>
                </a:solidFill>
                <a:latin typeface="Calibri"/>
                <a:ea typeface="Calibri"/>
                <a:cs typeface="Calibri"/>
              </a:defRPr>
            </a:pPr>
            <a:r>
              <a:rPr sz="3000" b="1">
                <a:solidFill>
                  <a:srgbClr val="F5FAFC"/>
                </a:solidFill>
                <a:latin typeface="Calibri"/>
                <a:ea typeface="Calibri"/>
                <a:cs typeface="Calibri"/>
              </a:rPr>
              <a:t>GENERATIVE AI AND LLM FOUNDATIONS</a:t>
            </a:r>
          </a:p>
        </p:txBody>
      </p:sp>
      <p:sp>
        <p:nvSpPr>
          <p:cNvPr id="5" name="">
            <a:extLst xmlns:a="http://schemas.openxmlformats.org/drawingml/2006/main">
              <a:ext uri="{FF2B5EF4-FFF2-40B4-BE49-F238E27FC236}">
                <a16:creationId xmlns:a16="http://schemas.microsoft.com/office/drawing/2014/main" id="{9E4D6EEF-A201-40FC-B64C-09D1FBFE0AF4}"/>
              </a:ext>
            </a:extLst>
          </p:cNvPr>
          <p:cNvSpPr>
            <a:spLocks xmlns:a="http://schemas.openxmlformats.org/drawingml/2006/main" noGrp="1"/>
          </p:cNvSpPr>
          <p:nvPr/>
        </p:nvSpPr>
        <p:spPr>
          <a:xfrm xmlns:a="http://schemas.openxmlformats.org/drawingml/2006/main">
            <a:off x="523875" y="28384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39D7D5"/>
                </a:solidFill>
                <a:latin typeface="Calibri"/>
                <a:ea typeface="Calibri"/>
                <a:cs typeface="Calibri"/>
              </a:defRPr>
            </a:pPr>
            <a:r>
              <a:rPr sz="1575" b="1">
                <a:solidFill>
                  <a:srgbClr val="39D7D5"/>
                </a:solidFill>
                <a:latin typeface="Calibri"/>
                <a:ea typeface="Calibri"/>
                <a:cs typeface="Calibri"/>
              </a:rPr>
              <a:t>Book 4  Lesson 1  PU-B04-C01</a:t>
            </a:r>
          </a:p>
        </p:txBody>
      </p:sp>
      <p:sp>
        <p:nvSpPr>
          <p:cNvPr id="6" name="">
            <a:extLst xmlns:a="http://schemas.openxmlformats.org/drawingml/2006/main">
              <a:ext uri="{FF2B5EF4-FFF2-40B4-BE49-F238E27FC236}">
                <a16:creationId xmlns:a16="http://schemas.microsoft.com/office/drawing/2014/main" id="{96EDF62D-43CA-4985-97E2-343BE128F933}"/>
              </a:ext>
            </a:extLst>
          </p:cNvPr>
          <p:cNvSpPr>
            <a:spLocks xmlns:a="http://schemas.openxmlformats.org/drawingml/2006/main" noGrp="1"/>
          </p:cNvSpPr>
          <p:nvPr/>
        </p:nvSpPr>
        <p:spPr>
          <a:xfrm xmlns:a="http://schemas.openxmlformats.org/drawingml/2006/main">
            <a:off x="523875" y="35242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F5FAFC"/>
                </a:solidFill>
                <a:latin typeface="Calibri"/>
                <a:ea typeface="Calibri"/>
                <a:cs typeface="Calibri"/>
              </a:defRPr>
            </a:pPr>
            <a:r>
              <a:rPr sz="1875" b="0">
                <a:solidFill>
                  <a:srgbClr val="F5FAFC"/>
                </a:solidFill>
                <a:latin typeface="Calibri"/>
                <a:ea typeface="Calibri"/>
                <a:cs typeface="Calibri"/>
              </a:rPr>
              <a:t>From probable language to accountable evidence</a:t>
            </a:r>
          </a:p>
        </p:txBody>
      </p:sp>
      <p:sp>
        <p:nvSpPr>
          <p:cNvPr id="7" name="">
            <a:extLst xmlns:a="http://schemas.openxmlformats.org/drawingml/2006/main">
              <a:ext uri="{FF2B5EF4-FFF2-40B4-BE49-F238E27FC236}">
                <a16:creationId xmlns:a16="http://schemas.microsoft.com/office/drawing/2014/main" id="{44F4B46C-810E-4BAB-AC47-DAC2DA2C28C3}"/>
              </a:ext>
            </a:extLst>
          </p:cNvPr>
          <p:cNvSpPr>
            <a:spLocks xmlns:a="http://schemas.openxmlformats.org/drawingml/2006/main" noGrp="1"/>
          </p:cNvSpPr>
          <p:nvPr/>
        </p:nvSpPr>
        <p:spPr>
          <a:xfrm xmlns:a="http://schemas.openxmlformats.org/drawingml/2006/main">
            <a:off x="523875" y="60007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A9C0CE"/>
                </a:solidFill>
                <a:latin typeface="Calibri"/>
                <a:ea typeface="Calibri"/>
                <a:cs typeface="Calibri"/>
              </a:defRPr>
            </a:pPr>
            <a:r>
              <a:rPr sz="975" b="0">
                <a:solidFill>
                  <a:srgbClr val="A9C0CE"/>
                </a:solidFill>
                <a:latin typeface="Calibri"/>
                <a:ea typeface="Calibri"/>
                <a:cs typeface="Calibri"/>
              </a:rPr>
              <a:t>Mbaye Kebe  |  Candidate v0.1</a:t>
            </a:r>
          </a:p>
        </p:txBody>
      </p:sp>
    </p:spTree>
    <p:extLst>
      <p:ext uri="{BB962C8B-B14F-4D97-AF65-F5344CB8AC3E}">
        <p14:creationId xmlns:p14="http://schemas.microsoft.com/office/powerpoint/2010/main" val="1406682923"/>
      </p:ext>
    </p:extLst>
  </p:cSld>
</p:sld>
</file>

<file path=ppt/slides/slide2.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95E3E5A-6C30-41FF-80F2-B86E2B31286E}"/>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09D82320-850E-4044-B3E9-A0AE97961364}"/>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16C55BAF-459B-4D5D-B561-B1E0F8750634}"/>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LESSON ORIENTATION</a:t>
            </a:r>
          </a:p>
        </p:txBody>
      </p:sp>
      <p:sp>
        <p:nvSpPr>
          <p:cNvPr id="4" name="">
            <a:extLst xmlns:a="http://schemas.openxmlformats.org/drawingml/2006/main">
              <a:ext uri="{FF2B5EF4-FFF2-40B4-BE49-F238E27FC236}">
                <a16:creationId xmlns:a16="http://schemas.microsoft.com/office/drawing/2014/main" id="{529557BE-C10E-47B8-B519-0789115152A2}"/>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02</a:t>
            </a:r>
          </a:p>
        </p:txBody>
      </p:sp>
      <p:sp>
        <p:nvSpPr>
          <p:cNvPr id="5" name="">
            <a:extLst xmlns:a="http://schemas.openxmlformats.org/drawingml/2006/main">
              <a:ext uri="{FF2B5EF4-FFF2-40B4-BE49-F238E27FC236}">
                <a16:creationId xmlns:a16="http://schemas.microsoft.com/office/drawing/2014/main" id="{BA55E47A-9788-45CA-A7EE-8CE46691DF2B}"/>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Why this lesson matters</a:t>
            </a:r>
          </a:p>
        </p:txBody>
      </p:sp>
      <p:sp>
        <p:nvSpPr>
          <p:cNvPr id="6" name="">
            <a:extLst xmlns:a="http://schemas.openxmlformats.org/drawingml/2006/main">
              <a:ext uri="{FF2B5EF4-FFF2-40B4-BE49-F238E27FC236}">
                <a16:creationId xmlns:a16="http://schemas.microsoft.com/office/drawing/2014/main" id="{CA6CEBDC-855D-4F73-8266-68685C8D4D29}"/>
              </a:ext>
            </a:extLst>
          </p:cNvPr>
          <p:cNvSpPr>
            <a:spLocks xmlns:a="http://schemas.openxmlformats.org/drawingml/2006/main" noGrp="1"/>
          </p:cNvSpPr>
          <p:nvPr/>
        </p:nvSpPr>
        <p:spPr>
          <a:xfrm xmlns:a="http://schemas.openxmlformats.org/drawingml/2006/main">
            <a:off x="5143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2AEE11B3-9F0B-4A72-9B34-8C2FACB3F354}"/>
              </a:ext>
            </a:extLst>
          </p:cNvPr>
          <p:cNvSpPr>
            <a:spLocks xmlns:a="http://schemas.openxmlformats.org/drawingml/2006/main" noGrp="1"/>
          </p:cNvSpPr>
          <p:nvPr/>
        </p:nvSpPr>
        <p:spPr>
          <a:xfrm xmlns:a="http://schemas.openxmlformats.org/drawingml/2006/main">
            <a:off x="6858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CAPABILITY</a:t>
            </a:r>
          </a:p>
        </p:txBody>
      </p:sp>
      <p:sp>
        <p:nvSpPr>
          <p:cNvPr id="8" name="">
            <a:extLst xmlns:a="http://schemas.openxmlformats.org/drawingml/2006/main">
              <a:ext uri="{FF2B5EF4-FFF2-40B4-BE49-F238E27FC236}">
                <a16:creationId xmlns:a16="http://schemas.microsoft.com/office/drawing/2014/main" id="{1739A756-270B-493B-9E75-7B32D18D1F7A}"/>
              </a:ext>
            </a:extLst>
          </p:cNvPr>
          <p:cNvSpPr>
            <a:spLocks xmlns:a="http://schemas.openxmlformats.org/drawingml/2006/main" noGrp="1"/>
          </p:cNvSpPr>
          <p:nvPr/>
        </p:nvSpPr>
        <p:spPr>
          <a:xfrm xmlns:a="http://schemas.openxmlformats.org/drawingml/2006/main">
            <a:off x="6858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Language models draft, summarize, extract, translate and support code.</a:t>
            </a:r>
          </a:p>
        </p:txBody>
      </p:sp>
      <p:sp>
        <p:nvSpPr>
          <p:cNvPr id="9" name="">
            <a:extLst xmlns:a="http://schemas.openxmlformats.org/drawingml/2006/main">
              <a:ext uri="{FF2B5EF4-FFF2-40B4-BE49-F238E27FC236}">
                <a16:creationId xmlns:a16="http://schemas.microsoft.com/office/drawing/2014/main" id="{2A3209BA-F605-49BC-9370-BEB9F6375B0E}"/>
              </a:ext>
            </a:extLst>
          </p:cNvPr>
          <p:cNvSpPr>
            <a:spLocks xmlns:a="http://schemas.openxmlformats.org/drawingml/2006/main" noGrp="1"/>
          </p:cNvSpPr>
          <p:nvPr/>
        </p:nvSpPr>
        <p:spPr>
          <a:xfrm xmlns:a="http://schemas.openxmlformats.org/drawingml/2006/main">
            <a:off x="42862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21CBA98A-E0C6-44CF-826F-95C6F50D6746}"/>
              </a:ext>
            </a:extLst>
          </p:cNvPr>
          <p:cNvSpPr>
            <a:spLocks xmlns:a="http://schemas.openxmlformats.org/drawingml/2006/main" noGrp="1"/>
          </p:cNvSpPr>
          <p:nvPr/>
        </p:nvSpPr>
        <p:spPr>
          <a:xfrm xmlns:a="http://schemas.openxmlformats.org/drawingml/2006/main">
            <a:off x="44577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RISK</a:t>
            </a:r>
          </a:p>
        </p:txBody>
      </p:sp>
      <p:sp>
        <p:nvSpPr>
          <p:cNvPr id="11" name="">
            <a:extLst xmlns:a="http://schemas.openxmlformats.org/drawingml/2006/main">
              <a:ext uri="{FF2B5EF4-FFF2-40B4-BE49-F238E27FC236}">
                <a16:creationId xmlns:a16="http://schemas.microsoft.com/office/drawing/2014/main" id="{DA934B5A-544B-4A62-82BB-765BA319F942}"/>
              </a:ext>
            </a:extLst>
          </p:cNvPr>
          <p:cNvSpPr>
            <a:spLocks xmlns:a="http://schemas.openxmlformats.org/drawingml/2006/main" noGrp="1"/>
          </p:cNvSpPr>
          <p:nvPr/>
        </p:nvSpPr>
        <p:spPr>
          <a:xfrm xmlns:a="http://schemas.openxmlformats.org/drawingml/2006/main">
            <a:off x="44577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Fluent text can alter facts, omit conditions or invent support.</a:t>
            </a:r>
          </a:p>
        </p:txBody>
      </p:sp>
      <p:sp>
        <p:nvSpPr>
          <p:cNvPr id="12" name="">
            <a:extLst xmlns:a="http://schemas.openxmlformats.org/drawingml/2006/main">
              <a:ext uri="{FF2B5EF4-FFF2-40B4-BE49-F238E27FC236}">
                <a16:creationId xmlns:a16="http://schemas.microsoft.com/office/drawing/2014/main" id="{05DC8CA0-8C01-4A8D-96F2-08E56767FB91}"/>
              </a:ext>
            </a:extLst>
          </p:cNvPr>
          <p:cNvSpPr>
            <a:spLocks xmlns:a="http://schemas.openxmlformats.org/drawingml/2006/main" noGrp="1"/>
          </p:cNvSpPr>
          <p:nvPr/>
        </p:nvSpPr>
        <p:spPr>
          <a:xfrm xmlns:a="http://schemas.openxmlformats.org/drawingml/2006/main">
            <a:off x="80581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C1EB9C0A-2EA4-4B8D-B6EF-F0D77B07B832}"/>
              </a:ext>
            </a:extLst>
          </p:cNvPr>
          <p:cNvSpPr>
            <a:spLocks xmlns:a="http://schemas.openxmlformats.org/drawingml/2006/main" noGrp="1"/>
          </p:cNvSpPr>
          <p:nvPr/>
        </p:nvSpPr>
        <p:spPr>
          <a:xfrm xmlns:a="http://schemas.openxmlformats.org/drawingml/2006/main">
            <a:off x="82296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DECISION</a:t>
            </a:r>
          </a:p>
        </p:txBody>
      </p:sp>
      <p:sp>
        <p:nvSpPr>
          <p:cNvPr id="14" name="">
            <a:extLst xmlns:a="http://schemas.openxmlformats.org/drawingml/2006/main">
              <a:ext uri="{FF2B5EF4-FFF2-40B4-BE49-F238E27FC236}">
                <a16:creationId xmlns:a16="http://schemas.microsoft.com/office/drawing/2014/main" id="{FB05993D-162C-4679-93C2-44862C2E3FD8}"/>
              </a:ext>
            </a:extLst>
          </p:cNvPr>
          <p:cNvSpPr>
            <a:spLocks xmlns:a="http://schemas.openxmlformats.org/drawingml/2006/main" noGrp="1"/>
          </p:cNvSpPr>
          <p:nvPr/>
        </p:nvSpPr>
        <p:spPr>
          <a:xfrm xmlns:a="http://schemas.openxmlformats.org/drawingml/2006/main">
            <a:off x="82296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Institutions need traceable evidence before generated content influences action.</a:t>
            </a:r>
          </a:p>
        </p:txBody>
      </p:sp>
      <p:sp>
        <p:nvSpPr>
          <p:cNvPr id="15" name="">
            <a:extLst xmlns:a="http://schemas.openxmlformats.org/drawingml/2006/main">
              <a:ext uri="{FF2B5EF4-FFF2-40B4-BE49-F238E27FC236}">
                <a16:creationId xmlns:a16="http://schemas.microsoft.com/office/drawing/2014/main" id="{2B22C35E-A690-45A5-8CC2-C68C8D4619FE}"/>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Fluency increases usefulness and also raises the cost of undetected error</a:t>
            </a:r>
          </a:p>
        </p:txBody>
      </p:sp>
    </p:spTree>
    <p:extLst>
      <p:ext uri="{BB962C8B-B14F-4D97-AF65-F5344CB8AC3E}">
        <p14:creationId xmlns:p14="http://schemas.microsoft.com/office/powerpoint/2010/main" val="985113106"/>
      </p:ext>
    </p:extLst>
  </p:cSld>
</p:sld>
</file>

<file path=ppt/slides/slide3.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AE2FD54-4996-45D8-A0A1-87A7B82458FD}"/>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9FAEFAE5-4653-4588-A47E-11DBFCA6DECB}"/>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8572361A-B00D-486A-B57A-3F15C3AFE7D8}"/>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LESSON ORIENTATION</a:t>
            </a:r>
          </a:p>
        </p:txBody>
      </p:sp>
      <p:sp>
        <p:nvSpPr>
          <p:cNvPr id="4" name="">
            <a:extLst xmlns:a="http://schemas.openxmlformats.org/drawingml/2006/main">
              <a:ext uri="{FF2B5EF4-FFF2-40B4-BE49-F238E27FC236}">
                <a16:creationId xmlns:a16="http://schemas.microsoft.com/office/drawing/2014/main" id="{C8CEDCE8-737B-452D-8E19-8CE8C96E19DC}"/>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03</a:t>
            </a:r>
          </a:p>
        </p:txBody>
      </p:sp>
      <p:sp>
        <p:nvSpPr>
          <p:cNvPr id="5" name="">
            <a:extLst xmlns:a="http://schemas.openxmlformats.org/drawingml/2006/main">
              <a:ext uri="{FF2B5EF4-FFF2-40B4-BE49-F238E27FC236}">
                <a16:creationId xmlns:a16="http://schemas.microsoft.com/office/drawing/2014/main" id="{E753369D-3CCC-489A-9A12-D28BBABC5A20}"/>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Learning objectives</a:t>
            </a:r>
          </a:p>
        </p:txBody>
      </p:sp>
      <p:sp>
        <p:nvSpPr>
          <p:cNvPr id="6" name="">
            <a:extLst xmlns:a="http://schemas.openxmlformats.org/drawingml/2006/main">
              <a:ext uri="{FF2B5EF4-FFF2-40B4-BE49-F238E27FC236}">
                <a16:creationId xmlns:a16="http://schemas.microsoft.com/office/drawing/2014/main" id="{6B324FD2-2EDC-4688-AB48-01B09E309CA1}"/>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BFEFBF2F-8B0F-4276-A1AB-3718ADF028D2}"/>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EXPLAIN</a:t>
            </a:r>
          </a:p>
        </p:txBody>
      </p:sp>
      <p:sp>
        <p:nvSpPr>
          <p:cNvPr id="8" name="">
            <a:extLst xmlns:a="http://schemas.openxmlformats.org/drawingml/2006/main">
              <a:ext uri="{FF2B5EF4-FFF2-40B4-BE49-F238E27FC236}">
                <a16:creationId xmlns:a16="http://schemas.microsoft.com/office/drawing/2014/main" id="{9BC1A507-0A03-415B-B0B0-02ABA5768886}"/>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Tokens, conditional probability, decoding and attention</a:t>
            </a:r>
          </a:p>
        </p:txBody>
      </p:sp>
      <p:sp>
        <p:nvSpPr>
          <p:cNvPr id="9" name="">
            <a:extLst xmlns:a="http://schemas.openxmlformats.org/drawingml/2006/main">
              <a:ext uri="{FF2B5EF4-FFF2-40B4-BE49-F238E27FC236}">
                <a16:creationId xmlns:a16="http://schemas.microsoft.com/office/drawing/2014/main" id="{2C72A76E-AA11-47B3-8D4C-4559B365F265}"/>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9A15FC46-6724-4E4B-95DC-7636768395E6}"/>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DEMONSTRATE</a:t>
            </a:r>
          </a:p>
        </p:txBody>
      </p:sp>
      <p:sp>
        <p:nvSpPr>
          <p:cNvPr id="11" name="">
            <a:extLst xmlns:a="http://schemas.openxmlformats.org/drawingml/2006/main">
              <a:ext uri="{FF2B5EF4-FFF2-40B4-BE49-F238E27FC236}">
                <a16:creationId xmlns:a16="http://schemas.microsoft.com/office/drawing/2014/main" id="{259B9ABC-DBBF-4FE5-9E63-39704EF2D8AB}"/>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Transparent experiments in the 41-cell notebook</a:t>
            </a:r>
          </a:p>
        </p:txBody>
      </p:sp>
      <p:sp>
        <p:nvSpPr>
          <p:cNvPr id="12" name="">
            <a:extLst xmlns:a="http://schemas.openxmlformats.org/drawingml/2006/main">
              <a:ext uri="{FF2B5EF4-FFF2-40B4-BE49-F238E27FC236}">
                <a16:creationId xmlns:a16="http://schemas.microsoft.com/office/drawing/2014/main" id="{0589CD22-5289-41D8-BC64-C8C8DE80699F}"/>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0055DA88-248A-4530-907E-953187010AAD}"/>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EVALUATE</a:t>
            </a:r>
          </a:p>
        </p:txBody>
      </p:sp>
      <p:sp>
        <p:nvSpPr>
          <p:cNvPr id="14" name="">
            <a:extLst xmlns:a="http://schemas.openxmlformats.org/drawingml/2006/main">
              <a:ext uri="{FF2B5EF4-FFF2-40B4-BE49-F238E27FC236}">
                <a16:creationId xmlns:a16="http://schemas.microsoft.com/office/drawing/2014/main" id="{E492591A-AF44-460D-A677-F5A8E6629E13}"/>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Groundedness, correctness, robustness, safety and decision fitness</a:t>
            </a:r>
          </a:p>
        </p:txBody>
      </p:sp>
      <p:sp>
        <p:nvSpPr>
          <p:cNvPr id="15" name="">
            <a:extLst xmlns:a="http://schemas.openxmlformats.org/drawingml/2006/main">
              <a:ext uri="{FF2B5EF4-FFF2-40B4-BE49-F238E27FC236}">
                <a16:creationId xmlns:a16="http://schemas.microsoft.com/office/drawing/2014/main" id="{8207C9C2-9D37-4C8C-B198-5F3C5670E409}"/>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93C2A995-4C89-44BA-BBF4-6ED3F94CE5BF}"/>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GOVERN</a:t>
            </a:r>
          </a:p>
        </p:txBody>
      </p:sp>
      <p:sp>
        <p:nvSpPr>
          <p:cNvPr id="17" name="">
            <a:extLst xmlns:a="http://schemas.openxmlformats.org/drawingml/2006/main">
              <a:ext uri="{FF2B5EF4-FFF2-40B4-BE49-F238E27FC236}">
                <a16:creationId xmlns:a16="http://schemas.microsoft.com/office/drawing/2014/main" id="{4A5AC8DA-D0E5-4B24-8054-C6432C2C8A39}"/>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Evidence records, approval boundaries and escalation</a:t>
            </a:r>
          </a:p>
        </p:txBody>
      </p:sp>
      <p:sp>
        <p:nvSpPr>
          <p:cNvPr id="18" name="">
            <a:extLst xmlns:a="http://schemas.openxmlformats.org/drawingml/2006/main">
              <a:ext uri="{FF2B5EF4-FFF2-40B4-BE49-F238E27FC236}">
                <a16:creationId xmlns:a16="http://schemas.microsoft.com/office/drawing/2014/main" id="{AD25D188-2A82-42C8-A09B-2FA37BA8A812}"/>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Technical understanding and accountable use develop together</a:t>
            </a:r>
          </a:p>
        </p:txBody>
      </p:sp>
    </p:spTree>
    <p:extLst>
      <p:ext uri="{BB962C8B-B14F-4D97-AF65-F5344CB8AC3E}">
        <p14:creationId xmlns:p14="http://schemas.microsoft.com/office/powerpoint/2010/main" val="1573536104"/>
      </p:ext>
    </p:extLst>
  </p:cSld>
</p:sld>
</file>

<file path=ppt/slides/slide4.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A97AEA-EC02-49AE-8F60-32DD472857F1}"/>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77BD0CF8-A71E-4D24-A768-BD1063433883}"/>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A80DB125-9364-44CA-AEAC-1F33596E4F7D}"/>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OPENING CASE</a:t>
            </a:r>
          </a:p>
        </p:txBody>
      </p:sp>
      <p:sp>
        <p:nvSpPr>
          <p:cNvPr id="4" name="">
            <a:extLst xmlns:a="http://schemas.openxmlformats.org/drawingml/2006/main">
              <a:ext uri="{FF2B5EF4-FFF2-40B4-BE49-F238E27FC236}">
                <a16:creationId xmlns:a16="http://schemas.microsoft.com/office/drawing/2014/main" id="{23A2177F-FC93-4917-99A2-4C03E86C8D83}"/>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04</a:t>
            </a:r>
          </a:p>
        </p:txBody>
      </p:sp>
      <p:sp>
        <p:nvSpPr>
          <p:cNvPr id="5" name="">
            <a:extLst xmlns:a="http://schemas.openxmlformats.org/drawingml/2006/main">
              <a:ext uri="{FF2B5EF4-FFF2-40B4-BE49-F238E27FC236}">
                <a16:creationId xmlns:a16="http://schemas.microsoft.com/office/drawing/2014/main" id="{34876FE3-23EF-47C4-9CF8-899B783342BC}"/>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Opening case  The certain brief</a:t>
            </a:r>
          </a:p>
        </p:txBody>
      </p:sp>
      <p:sp>
        <p:nvSpPr>
          <p:cNvPr id="6" name="">
            <a:extLst xmlns:a="http://schemas.openxmlformats.org/drawingml/2006/main">
              <a:ext uri="{FF2B5EF4-FFF2-40B4-BE49-F238E27FC236}">
                <a16:creationId xmlns:a16="http://schemas.microsoft.com/office/drawing/2014/main" id="{94EE100A-3A98-44F5-BDBD-838C531BAF14}"/>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CE2B7BA6-3323-4F22-B323-80A7128A0AA8}"/>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REQUEST</a:t>
            </a:r>
          </a:p>
        </p:txBody>
      </p:sp>
      <p:sp>
        <p:nvSpPr>
          <p:cNvPr id="8" name="">
            <a:extLst xmlns:a="http://schemas.openxmlformats.org/drawingml/2006/main">
              <a:ext uri="{FF2B5EF4-FFF2-40B4-BE49-F238E27FC236}">
                <a16:creationId xmlns:a16="http://schemas.microsoft.com/office/drawing/2014/main" id="{06EBC38F-393C-4F3A-A8FE-B7E3517F0211}"/>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Summarize a provisional quarterly financial report</a:t>
            </a:r>
          </a:p>
        </p:txBody>
      </p:sp>
      <p:sp>
        <p:nvSpPr>
          <p:cNvPr id="9" name="">
            <a:extLst xmlns:a="http://schemas.openxmlformats.org/drawingml/2006/main">
              <a:ext uri="{FF2B5EF4-FFF2-40B4-BE49-F238E27FC236}">
                <a16:creationId xmlns:a16="http://schemas.microsoft.com/office/drawing/2014/main" id="{1F413652-79FB-4309-A651-F3EBE563CCD9}"/>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196676C5-E89C-4E6D-88F4-DB1B6B52B191}"/>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OUTPUT</a:t>
            </a:r>
          </a:p>
        </p:txBody>
      </p:sp>
      <p:sp>
        <p:nvSpPr>
          <p:cNvPr id="11" name="">
            <a:extLst xmlns:a="http://schemas.openxmlformats.org/drawingml/2006/main">
              <a:ext uri="{FF2B5EF4-FFF2-40B4-BE49-F238E27FC236}">
                <a16:creationId xmlns:a16="http://schemas.microsoft.com/office/drawing/2014/main" id="{48039398-A599-4537-9DF0-14650021197B}"/>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Fluent narrative with one altered number</a:t>
            </a:r>
          </a:p>
        </p:txBody>
      </p:sp>
      <p:sp>
        <p:nvSpPr>
          <p:cNvPr id="12" name="">
            <a:extLst xmlns:a="http://schemas.openxmlformats.org/drawingml/2006/main">
              <a:ext uri="{FF2B5EF4-FFF2-40B4-BE49-F238E27FC236}">
                <a16:creationId xmlns:a16="http://schemas.microsoft.com/office/drawing/2014/main" id="{FB3B8D31-7CBF-4F27-AF5C-B7084F8A288A}"/>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481A2F37-47A0-45C4-96CA-588190E364FE}"/>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OMISSION</a:t>
            </a:r>
          </a:p>
        </p:txBody>
      </p:sp>
      <p:sp>
        <p:nvSpPr>
          <p:cNvPr id="14" name="">
            <a:extLst xmlns:a="http://schemas.openxmlformats.org/drawingml/2006/main">
              <a:ext uri="{FF2B5EF4-FFF2-40B4-BE49-F238E27FC236}">
                <a16:creationId xmlns:a16="http://schemas.microsoft.com/office/drawing/2014/main" id="{85E950B9-9094-4427-9E2A-5944E5A66A9F}"/>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Provisional status disappears</a:t>
            </a:r>
          </a:p>
        </p:txBody>
      </p:sp>
      <p:sp>
        <p:nvSpPr>
          <p:cNvPr id="15" name="">
            <a:extLst xmlns:a="http://schemas.openxmlformats.org/drawingml/2006/main">
              <a:ext uri="{FF2B5EF4-FFF2-40B4-BE49-F238E27FC236}">
                <a16:creationId xmlns:a16="http://schemas.microsoft.com/office/drawing/2014/main" id="{CD5A851B-DC78-4E62-A4DF-6C502C4DEF48}"/>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EAC87DFD-485F-4C44-AECA-DCCDF40D227C}"/>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CONSEQUENCE</a:t>
            </a:r>
          </a:p>
        </p:txBody>
      </p:sp>
      <p:sp>
        <p:nvSpPr>
          <p:cNvPr id="17" name="">
            <a:extLst xmlns:a="http://schemas.openxmlformats.org/drawingml/2006/main">
              <a:ext uri="{FF2B5EF4-FFF2-40B4-BE49-F238E27FC236}">
                <a16:creationId xmlns:a16="http://schemas.microsoft.com/office/drawing/2014/main" id="{ED55563B-56F6-4A52-A84E-07539AFED170}"/>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The error enters an executive briefing</a:t>
            </a:r>
          </a:p>
        </p:txBody>
      </p:sp>
      <p:sp>
        <p:nvSpPr>
          <p:cNvPr id="18" name="">
            <a:extLst xmlns:a="http://schemas.openxmlformats.org/drawingml/2006/main">
              <a:ext uri="{FF2B5EF4-FFF2-40B4-BE49-F238E27FC236}">
                <a16:creationId xmlns:a16="http://schemas.microsoft.com/office/drawing/2014/main" id="{2D98EC8B-529A-4589-9D91-FBA1306DB6DD}"/>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The failure combines model behaviour with a missing verification process</a:t>
            </a:r>
          </a:p>
        </p:txBody>
      </p:sp>
    </p:spTree>
    <p:extLst>
      <p:ext uri="{BB962C8B-B14F-4D97-AF65-F5344CB8AC3E}">
        <p14:creationId xmlns:p14="http://schemas.microsoft.com/office/powerpoint/2010/main" val="1046474929"/>
      </p:ext>
    </p:extLst>
  </p:cSld>
</p:sld>
</file>

<file path=ppt/slides/slide5.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E9CE187-8E1A-44D6-BE2E-09F40B71F795}"/>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583161EA-344D-4059-B442-1FD88C6CAED2}"/>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4C3F9968-EE0C-4A60-84C3-CFB07BA6E15E}"/>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LEARNING PATHWAY</a:t>
            </a:r>
          </a:p>
        </p:txBody>
      </p:sp>
      <p:sp>
        <p:nvSpPr>
          <p:cNvPr id="4" name="">
            <a:extLst xmlns:a="http://schemas.openxmlformats.org/drawingml/2006/main">
              <a:ext uri="{FF2B5EF4-FFF2-40B4-BE49-F238E27FC236}">
                <a16:creationId xmlns:a16="http://schemas.microsoft.com/office/drawing/2014/main" id="{38C2A0AD-5AFB-4DC4-AA1F-CFE7F901E2C7}"/>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05</a:t>
            </a:r>
          </a:p>
        </p:txBody>
      </p:sp>
      <p:sp>
        <p:nvSpPr>
          <p:cNvPr id="5" name="">
            <a:extLst xmlns:a="http://schemas.openxmlformats.org/drawingml/2006/main">
              <a:ext uri="{FF2B5EF4-FFF2-40B4-BE49-F238E27FC236}">
                <a16:creationId xmlns:a16="http://schemas.microsoft.com/office/drawing/2014/main" id="{99CDF802-6D3E-4A9A-A609-40D7F669A822}"/>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The Book 4 destination</a:t>
            </a:r>
          </a:p>
        </p:txBody>
      </p:sp>
      <p:sp>
        <p:nvSpPr>
          <p:cNvPr id="6" name="">
            <a:extLst xmlns:a="http://schemas.openxmlformats.org/drawingml/2006/main">
              <a:ext uri="{FF2B5EF4-FFF2-40B4-BE49-F238E27FC236}">
                <a16:creationId xmlns:a16="http://schemas.microsoft.com/office/drawing/2014/main" id="{626E7FC6-8D99-45AC-B052-CEFAD92BE209}"/>
              </a:ext>
            </a:extLst>
          </p:cNvPr>
          <p:cNvSpPr>
            <a:spLocks xmlns:a="http://schemas.openxmlformats.org/drawingml/2006/main" noGrp="1"/>
          </p:cNvSpPr>
          <p:nvPr/>
        </p:nvSpPr>
        <p:spPr>
          <a:xfrm xmlns:a="http://schemas.openxmlformats.org/drawingml/2006/main">
            <a:off x="7143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37C9B269-0F33-43CC-87CA-ED637F6E5ABB}"/>
              </a:ext>
            </a:extLst>
          </p:cNvPr>
          <p:cNvSpPr>
            <a:spLocks xmlns:a="http://schemas.openxmlformats.org/drawingml/2006/main" noGrp="1"/>
          </p:cNvSpPr>
          <p:nvPr/>
        </p:nvSpPr>
        <p:spPr>
          <a:xfrm xmlns:a="http://schemas.openxmlformats.org/drawingml/2006/main">
            <a:off x="8667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61518304-653F-43EE-BCC4-9A730B3C46D8}"/>
              </a:ext>
            </a:extLst>
          </p:cNvPr>
          <p:cNvSpPr>
            <a:spLocks xmlns:a="http://schemas.openxmlformats.org/drawingml/2006/main" noGrp="1"/>
          </p:cNvSpPr>
          <p:nvPr/>
        </p:nvSpPr>
        <p:spPr>
          <a:xfrm xmlns:a="http://schemas.openxmlformats.org/drawingml/2006/main">
            <a:off x="8667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Foundations</a:t>
            </a:r>
          </a:p>
        </p:txBody>
      </p:sp>
      <p:sp>
        <p:nvSpPr>
          <p:cNvPr id="9" name="">
            <a:extLst xmlns:a="http://schemas.openxmlformats.org/drawingml/2006/main">
              <a:ext uri="{FF2B5EF4-FFF2-40B4-BE49-F238E27FC236}">
                <a16:creationId xmlns:a16="http://schemas.microsoft.com/office/drawing/2014/main" id="{DDA088A2-78F3-4D51-BA78-8DC1AF91AC90}"/>
              </a:ext>
            </a:extLst>
          </p:cNvPr>
          <p:cNvSpPr>
            <a:spLocks xmlns:a="http://schemas.openxmlformats.org/drawingml/2006/main" noGrp="1"/>
          </p:cNvSpPr>
          <p:nvPr/>
        </p:nvSpPr>
        <p:spPr>
          <a:xfrm xmlns:a="http://schemas.openxmlformats.org/drawingml/2006/main">
            <a:off x="8667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Tokens, probability and attention</a:t>
            </a:r>
          </a:p>
        </p:txBody>
      </p:sp>
      <p:sp>
        <p:nvSpPr>
          <p:cNvPr id="10" name="">
            <a:extLst xmlns:a="http://schemas.openxmlformats.org/drawingml/2006/main">
              <a:ext uri="{FF2B5EF4-FFF2-40B4-BE49-F238E27FC236}">
                <a16:creationId xmlns:a16="http://schemas.microsoft.com/office/drawing/2014/main" id="{D77686CC-A7E9-49A8-9D19-CD5EC5D5498C}"/>
              </a:ext>
            </a:extLst>
          </p:cNvPr>
          <p:cNvSpPr>
            <a:spLocks xmlns:a="http://schemas.openxmlformats.org/drawingml/2006/main" noGrp="1"/>
          </p:cNvSpPr>
          <p:nvPr/>
        </p:nvSpPr>
        <p:spPr>
          <a:xfrm xmlns:a="http://schemas.openxmlformats.org/drawingml/2006/main">
            <a:off x="34385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1" name="">
            <a:extLst xmlns:a="http://schemas.openxmlformats.org/drawingml/2006/main">
              <a:ext uri="{FF2B5EF4-FFF2-40B4-BE49-F238E27FC236}">
                <a16:creationId xmlns:a16="http://schemas.microsoft.com/office/drawing/2014/main" id="{2C848180-CF33-4010-96E3-B027225BACBE}"/>
              </a:ext>
            </a:extLst>
          </p:cNvPr>
          <p:cNvSpPr>
            <a:spLocks xmlns:a="http://schemas.openxmlformats.org/drawingml/2006/main" noGrp="1"/>
          </p:cNvSpPr>
          <p:nvPr/>
        </p:nvSpPr>
        <p:spPr>
          <a:xfrm xmlns:a="http://schemas.openxmlformats.org/drawingml/2006/main">
            <a:off x="35909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C37182B4-1D6B-42E3-8602-1D87A204AA4D}"/>
              </a:ext>
            </a:extLst>
          </p:cNvPr>
          <p:cNvSpPr>
            <a:spLocks xmlns:a="http://schemas.openxmlformats.org/drawingml/2006/main" noGrp="1"/>
          </p:cNvSpPr>
          <p:nvPr/>
        </p:nvSpPr>
        <p:spPr>
          <a:xfrm xmlns:a="http://schemas.openxmlformats.org/drawingml/2006/main">
            <a:off x="35909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Systems</a:t>
            </a:r>
          </a:p>
        </p:txBody>
      </p:sp>
      <p:sp>
        <p:nvSpPr>
          <p:cNvPr id="13" name="">
            <a:extLst xmlns:a="http://schemas.openxmlformats.org/drawingml/2006/main">
              <a:ext uri="{FF2B5EF4-FFF2-40B4-BE49-F238E27FC236}">
                <a16:creationId xmlns:a16="http://schemas.microsoft.com/office/drawing/2014/main" id="{7EB99CB6-1F02-4715-B766-B368FAE37A89}"/>
              </a:ext>
            </a:extLst>
          </p:cNvPr>
          <p:cNvSpPr>
            <a:spLocks xmlns:a="http://schemas.openxmlformats.org/drawingml/2006/main" noGrp="1"/>
          </p:cNvSpPr>
          <p:nvPr/>
        </p:nvSpPr>
        <p:spPr>
          <a:xfrm xmlns:a="http://schemas.openxmlformats.org/drawingml/2006/main">
            <a:off x="35909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Retrieval, tools and agents</a:t>
            </a:r>
          </a:p>
        </p:txBody>
      </p:sp>
      <p:sp>
        <p:nvSpPr>
          <p:cNvPr id="14" name="">
            <a:extLst xmlns:a="http://schemas.openxmlformats.org/drawingml/2006/main">
              <a:ext uri="{FF2B5EF4-FFF2-40B4-BE49-F238E27FC236}">
                <a16:creationId xmlns:a16="http://schemas.microsoft.com/office/drawing/2014/main" id="{60BE260F-349B-479C-ACA8-9561AFACC431}"/>
              </a:ext>
            </a:extLst>
          </p:cNvPr>
          <p:cNvSpPr>
            <a:spLocks xmlns:a="http://schemas.openxmlformats.org/drawingml/2006/main" noGrp="1"/>
          </p:cNvSpPr>
          <p:nvPr/>
        </p:nvSpPr>
        <p:spPr>
          <a:xfrm xmlns:a="http://schemas.openxmlformats.org/drawingml/2006/main">
            <a:off x="61626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5" name="">
            <a:extLst xmlns:a="http://schemas.openxmlformats.org/drawingml/2006/main">
              <a:ext uri="{FF2B5EF4-FFF2-40B4-BE49-F238E27FC236}">
                <a16:creationId xmlns:a16="http://schemas.microsoft.com/office/drawing/2014/main" id="{B8F6C9E3-F0B3-42F4-B279-40E3421172A6}"/>
              </a:ext>
            </a:extLst>
          </p:cNvPr>
          <p:cNvSpPr>
            <a:spLocks xmlns:a="http://schemas.openxmlformats.org/drawingml/2006/main" noGrp="1"/>
          </p:cNvSpPr>
          <p:nvPr/>
        </p:nvSpPr>
        <p:spPr>
          <a:xfrm xmlns:a="http://schemas.openxmlformats.org/drawingml/2006/main">
            <a:off x="63150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03</a:t>
            </a:r>
          </a:p>
        </p:txBody>
      </p:sp>
      <p:sp>
        <p:nvSpPr>
          <p:cNvPr id="16" name="">
            <a:extLst xmlns:a="http://schemas.openxmlformats.org/drawingml/2006/main">
              <a:ext uri="{FF2B5EF4-FFF2-40B4-BE49-F238E27FC236}">
                <a16:creationId xmlns:a16="http://schemas.microsoft.com/office/drawing/2014/main" id="{E4F9D8B2-C3A7-4900-8311-100C91A48662}"/>
              </a:ext>
            </a:extLst>
          </p:cNvPr>
          <p:cNvSpPr>
            <a:spLocks xmlns:a="http://schemas.openxmlformats.org/drawingml/2006/main" noGrp="1"/>
          </p:cNvSpPr>
          <p:nvPr/>
        </p:nvSpPr>
        <p:spPr>
          <a:xfrm xmlns:a="http://schemas.openxmlformats.org/drawingml/2006/main">
            <a:off x="63150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Adaptation</a:t>
            </a:r>
          </a:p>
        </p:txBody>
      </p:sp>
      <p:sp>
        <p:nvSpPr>
          <p:cNvPr id="17" name="">
            <a:extLst xmlns:a="http://schemas.openxmlformats.org/drawingml/2006/main">
              <a:ext uri="{FF2B5EF4-FFF2-40B4-BE49-F238E27FC236}">
                <a16:creationId xmlns:a16="http://schemas.microsoft.com/office/drawing/2014/main" id="{AA32CDCF-8381-451B-8C29-277CBA377635}"/>
              </a:ext>
            </a:extLst>
          </p:cNvPr>
          <p:cNvSpPr>
            <a:spLocks xmlns:a="http://schemas.openxmlformats.org/drawingml/2006/main" noGrp="1"/>
          </p:cNvSpPr>
          <p:nvPr/>
        </p:nvSpPr>
        <p:spPr>
          <a:xfrm xmlns:a="http://schemas.openxmlformats.org/drawingml/2006/main">
            <a:off x="63150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Fine-tuning and preference methods</a:t>
            </a:r>
          </a:p>
        </p:txBody>
      </p:sp>
      <p:sp>
        <p:nvSpPr>
          <p:cNvPr id="18" name="">
            <a:extLst xmlns:a="http://schemas.openxmlformats.org/drawingml/2006/main">
              <a:ext uri="{FF2B5EF4-FFF2-40B4-BE49-F238E27FC236}">
                <a16:creationId xmlns:a16="http://schemas.microsoft.com/office/drawing/2014/main" id="{885793F5-4F6A-4B0A-8D6D-73357233EEAF}"/>
              </a:ext>
            </a:extLst>
          </p:cNvPr>
          <p:cNvSpPr>
            <a:spLocks xmlns:a="http://schemas.openxmlformats.org/drawingml/2006/main" noGrp="1"/>
          </p:cNvSpPr>
          <p:nvPr/>
        </p:nvSpPr>
        <p:spPr>
          <a:xfrm xmlns:a="http://schemas.openxmlformats.org/drawingml/2006/main">
            <a:off x="88868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F4B740"/>
            </a:solidFill>
          </a:ln>
        </p:spPr>
      </p:sp>
      <p:sp>
        <p:nvSpPr>
          <p:cNvPr id="19" name="">
            <a:extLst xmlns:a="http://schemas.openxmlformats.org/drawingml/2006/main">
              <a:ext uri="{FF2B5EF4-FFF2-40B4-BE49-F238E27FC236}">
                <a16:creationId xmlns:a16="http://schemas.microsoft.com/office/drawing/2014/main" id="{59771328-04A8-4EB1-88B3-C6869DA29643}"/>
              </a:ext>
            </a:extLst>
          </p:cNvPr>
          <p:cNvSpPr>
            <a:spLocks xmlns:a="http://schemas.openxmlformats.org/drawingml/2006/main" noGrp="1"/>
          </p:cNvSpPr>
          <p:nvPr/>
        </p:nvSpPr>
        <p:spPr>
          <a:xfrm xmlns:a="http://schemas.openxmlformats.org/drawingml/2006/main">
            <a:off x="90392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4B740"/>
                </a:solidFill>
                <a:latin typeface="Calibri"/>
                <a:ea typeface="Calibri"/>
                <a:cs typeface="Calibri"/>
              </a:defRPr>
            </a:pPr>
            <a:r>
              <a:rPr sz="1650" b="1">
                <a:solidFill>
                  <a:srgbClr val="F4B740"/>
                </a:solidFill>
                <a:latin typeface="Calibri"/>
                <a:ea typeface="Calibri"/>
                <a:cs typeface="Calibri"/>
              </a:rPr>
              <a:t>04</a:t>
            </a:r>
          </a:p>
        </p:txBody>
      </p:sp>
      <p:sp>
        <p:nvSpPr>
          <p:cNvPr id="20" name="">
            <a:extLst xmlns:a="http://schemas.openxmlformats.org/drawingml/2006/main">
              <a:ext uri="{FF2B5EF4-FFF2-40B4-BE49-F238E27FC236}">
                <a16:creationId xmlns:a16="http://schemas.microsoft.com/office/drawing/2014/main" id="{F9B31ACF-9DB6-498C-B382-21440F4D9ECC}"/>
              </a:ext>
            </a:extLst>
          </p:cNvPr>
          <p:cNvSpPr>
            <a:spLocks xmlns:a="http://schemas.openxmlformats.org/drawingml/2006/main" noGrp="1"/>
          </p:cNvSpPr>
          <p:nvPr/>
        </p:nvSpPr>
        <p:spPr>
          <a:xfrm xmlns:a="http://schemas.openxmlformats.org/drawingml/2006/main">
            <a:off x="90392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Capstone</a:t>
            </a:r>
          </a:p>
        </p:txBody>
      </p:sp>
      <p:sp>
        <p:nvSpPr>
          <p:cNvPr id="21" name="">
            <a:extLst xmlns:a="http://schemas.openxmlformats.org/drawingml/2006/main">
              <a:ext uri="{FF2B5EF4-FFF2-40B4-BE49-F238E27FC236}">
                <a16:creationId xmlns:a16="http://schemas.microsoft.com/office/drawing/2014/main" id="{84095BB7-3ACC-42F3-B0E3-6D0CD5E22D53}"/>
              </a:ext>
            </a:extLst>
          </p:cNvPr>
          <p:cNvSpPr>
            <a:spLocks xmlns:a="http://schemas.openxmlformats.org/drawingml/2006/main" noGrp="1"/>
          </p:cNvSpPr>
          <p:nvPr/>
        </p:nvSpPr>
        <p:spPr>
          <a:xfrm xmlns:a="http://schemas.openxmlformats.org/drawingml/2006/main">
            <a:off x="90392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Build and explain a small GPT</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33051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602932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7534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sp>
        <p:nvSpPr>
          <p:cNvPr id="25" name="">
            <a:extLst xmlns:a="http://schemas.openxmlformats.org/drawingml/2006/main">
              <a:ext uri="{FF2B5EF4-FFF2-40B4-BE49-F238E27FC236}">
                <a16:creationId xmlns:a16="http://schemas.microsoft.com/office/drawing/2014/main" id="{4A061B9F-7643-4553-A53F-8095D8F87CDC}"/>
              </a:ext>
            </a:extLst>
          </p:cNvPr>
          <p:cNvSpPr>
            <a:spLocks xmlns:a="http://schemas.openxmlformats.org/drawingml/2006/main" noGrp="1"/>
          </p:cNvSpPr>
          <p:nvPr/>
        </p:nvSpPr>
        <p:spPr>
          <a:xfrm xmlns:a="http://schemas.openxmlformats.org/drawingml/2006/main">
            <a:off x="66675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4B740"/>
                </a:solidFill>
                <a:latin typeface="Calibri"/>
                <a:ea typeface="Calibri"/>
                <a:cs typeface="Calibri"/>
              </a:defRPr>
            </a:pPr>
            <a:r>
              <a:rPr sz="1350" b="1">
                <a:solidFill>
                  <a:srgbClr val="F4B740"/>
                </a:solidFill>
                <a:latin typeface="Calibri"/>
                <a:ea typeface="Calibri"/>
                <a:cs typeface="Calibri"/>
              </a:rPr>
              <a:t>Thirty lessons create one cumulative technical pathway</a:t>
            </a:r>
          </a:p>
        </p:txBody>
      </p:sp>
    </p:spTree>
    <p:extLst>
      <p:ext uri="{BB962C8B-B14F-4D97-AF65-F5344CB8AC3E}">
        <p14:creationId xmlns:p14="http://schemas.microsoft.com/office/powerpoint/2010/main" val="1804077327"/>
      </p:ext>
    </p:extLst>
  </p:cSld>
</p:sld>
</file>

<file path=ppt/slides/slide6.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161A8E-757B-491E-90C1-A6301D9B66E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526501AF-D69A-483B-A9D4-70A88C645D7A}"/>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023D933D-21E4-492A-9F08-D731122F8F3D}"/>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FOUNDATIONS</a:t>
            </a:r>
          </a:p>
        </p:txBody>
      </p:sp>
      <p:sp>
        <p:nvSpPr>
          <p:cNvPr id="4" name="">
            <a:extLst xmlns:a="http://schemas.openxmlformats.org/drawingml/2006/main">
              <a:ext uri="{FF2B5EF4-FFF2-40B4-BE49-F238E27FC236}">
                <a16:creationId xmlns:a16="http://schemas.microsoft.com/office/drawing/2014/main" id="{7ED8096C-3350-4C35-BC51-2D5D9F919130}"/>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06</a:t>
            </a:r>
          </a:p>
        </p:txBody>
      </p:sp>
      <p:sp>
        <p:nvSpPr>
          <p:cNvPr id="5" name="">
            <a:extLst xmlns:a="http://schemas.openxmlformats.org/drawingml/2006/main">
              <a:ext uri="{FF2B5EF4-FFF2-40B4-BE49-F238E27FC236}">
                <a16:creationId xmlns:a16="http://schemas.microsoft.com/office/drawing/2014/main" id="{F0E27CD0-B3E3-49C6-AB88-9E585C25353F}"/>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Generative and discriminative learning</a:t>
            </a:r>
          </a:p>
        </p:txBody>
      </p:sp>
      <p:sp>
        <p:nvSpPr>
          <p:cNvPr id="6" name="">
            <a:extLst xmlns:a="http://schemas.openxmlformats.org/drawingml/2006/main">
              <a:ext uri="{FF2B5EF4-FFF2-40B4-BE49-F238E27FC236}">
                <a16:creationId xmlns:a16="http://schemas.microsoft.com/office/drawing/2014/main" id="{4226CE39-7D7A-479C-BE8C-7EBE7002E11D}"/>
              </a:ext>
            </a:extLst>
          </p:cNvPr>
          <p:cNvSpPr>
            <a:spLocks xmlns:a="http://schemas.openxmlformats.org/drawingml/2006/main" noGrp="1"/>
          </p:cNvSpPr>
          <p:nvPr/>
        </p:nvSpPr>
        <p:spPr>
          <a:xfrm xmlns:a="http://schemas.openxmlformats.org/drawingml/2006/main">
            <a:off x="514350" y="1428750"/>
            <a:ext cx="548640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32F86FEA-5606-4159-9119-47BD9A7A2A92}"/>
              </a:ext>
            </a:extLst>
          </p:cNvPr>
          <p:cNvSpPr>
            <a:spLocks xmlns:a="http://schemas.openxmlformats.org/drawingml/2006/main" noGrp="1"/>
          </p:cNvSpPr>
          <p:nvPr/>
        </p:nvSpPr>
        <p:spPr>
          <a:xfrm xmlns:a="http://schemas.openxmlformats.org/drawingml/2006/main">
            <a:off x="685800" y="15621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DISCRIMINATIVE</a:t>
            </a:r>
          </a:p>
        </p:txBody>
      </p:sp>
      <p:sp>
        <p:nvSpPr>
          <p:cNvPr id="8" name="">
            <a:extLst xmlns:a="http://schemas.openxmlformats.org/drawingml/2006/main">
              <a:ext uri="{FF2B5EF4-FFF2-40B4-BE49-F238E27FC236}">
                <a16:creationId xmlns:a16="http://schemas.microsoft.com/office/drawing/2014/main" id="{BEE350BE-17C3-407E-AE79-9B2D22AF884A}"/>
              </a:ext>
            </a:extLst>
          </p:cNvPr>
          <p:cNvSpPr>
            <a:spLocks xmlns:a="http://schemas.openxmlformats.org/drawingml/2006/main" noGrp="1"/>
          </p:cNvSpPr>
          <p:nvPr/>
        </p:nvSpPr>
        <p:spPr>
          <a:xfrm xmlns:a="http://schemas.openxmlformats.org/drawingml/2006/main">
            <a:off x="685800" y="1924050"/>
            <a:ext cx="514350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Estimate an outcome or label conditional on observed features</a:t>
            </a:r>
          </a:p>
        </p:txBody>
      </p:sp>
      <p:sp>
        <p:nvSpPr>
          <p:cNvPr id="9" name="">
            <a:extLst xmlns:a="http://schemas.openxmlformats.org/drawingml/2006/main">
              <a:ext uri="{FF2B5EF4-FFF2-40B4-BE49-F238E27FC236}">
                <a16:creationId xmlns:a16="http://schemas.microsoft.com/office/drawing/2014/main" id="{49E3C7F4-A8C8-4193-9E79-0ED7EF3FD2AC}"/>
              </a:ext>
            </a:extLst>
          </p:cNvPr>
          <p:cNvSpPr>
            <a:spLocks xmlns:a="http://schemas.openxmlformats.org/drawingml/2006/main" noGrp="1"/>
          </p:cNvSpPr>
          <p:nvPr/>
        </p:nvSpPr>
        <p:spPr>
          <a:xfrm xmlns:a="http://schemas.openxmlformats.org/drawingml/2006/main">
            <a:off x="6172200" y="1428750"/>
            <a:ext cx="548640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AF4A2494-7B27-4C1C-BD6F-14B13CC324E5}"/>
              </a:ext>
            </a:extLst>
          </p:cNvPr>
          <p:cNvSpPr>
            <a:spLocks xmlns:a="http://schemas.openxmlformats.org/drawingml/2006/main" noGrp="1"/>
          </p:cNvSpPr>
          <p:nvPr/>
        </p:nvSpPr>
        <p:spPr>
          <a:xfrm xmlns:a="http://schemas.openxmlformats.org/drawingml/2006/main">
            <a:off x="6343650" y="15621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GENERATIVE</a:t>
            </a:r>
          </a:p>
        </p:txBody>
      </p:sp>
      <p:sp>
        <p:nvSpPr>
          <p:cNvPr id="11" name="">
            <a:extLst xmlns:a="http://schemas.openxmlformats.org/drawingml/2006/main">
              <a:ext uri="{FF2B5EF4-FFF2-40B4-BE49-F238E27FC236}">
                <a16:creationId xmlns:a16="http://schemas.microsoft.com/office/drawing/2014/main" id="{1A23618C-1A22-446F-8FE5-8D2DD7D243A5}"/>
              </a:ext>
            </a:extLst>
          </p:cNvPr>
          <p:cNvSpPr>
            <a:spLocks xmlns:a="http://schemas.openxmlformats.org/drawingml/2006/main" noGrp="1"/>
          </p:cNvSpPr>
          <p:nvPr/>
        </p:nvSpPr>
        <p:spPr>
          <a:xfrm xmlns:a="http://schemas.openxmlformats.org/drawingml/2006/main">
            <a:off x="6343650" y="1924050"/>
            <a:ext cx="514350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Learn a distribution from which new outputs can be produced</a:t>
            </a:r>
          </a:p>
        </p:txBody>
      </p:sp>
      <p:sp>
        <p:nvSpPr>
          <p:cNvPr id="12" name="">
            <a:extLst xmlns:a="http://schemas.openxmlformats.org/drawingml/2006/main">
              <a:ext uri="{FF2B5EF4-FFF2-40B4-BE49-F238E27FC236}">
                <a16:creationId xmlns:a16="http://schemas.microsoft.com/office/drawing/2014/main" id="{D16BB93C-4424-4C7C-99DE-53D4F432553F}"/>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The modelling objective determines the evidence needed to interpret the output</a:t>
            </a:r>
          </a:p>
        </p:txBody>
      </p:sp>
    </p:spTree>
    <p:extLst>
      <p:ext uri="{BB962C8B-B14F-4D97-AF65-F5344CB8AC3E}">
        <p14:creationId xmlns:p14="http://schemas.microsoft.com/office/powerpoint/2010/main" val="888057794"/>
      </p:ext>
    </p:extLst>
  </p:cSld>
</p:sld>
</file>

<file path=ppt/slides/slide7.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F1A5EA2-401B-4BCD-A957-CC11E2E09C7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FB276381-1347-404E-86C2-DD8B8B403C9F}"/>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73DF0C51-70BE-46E8-B61C-564E0630E911}"/>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FOUNDATIONS</a:t>
            </a:r>
          </a:p>
        </p:txBody>
      </p:sp>
      <p:sp>
        <p:nvSpPr>
          <p:cNvPr id="4" name="">
            <a:extLst xmlns:a="http://schemas.openxmlformats.org/drawingml/2006/main">
              <a:ext uri="{FF2B5EF4-FFF2-40B4-BE49-F238E27FC236}">
                <a16:creationId xmlns:a16="http://schemas.microsoft.com/office/drawing/2014/main" id="{5AFEDBC9-04E5-40BB-9948-4E7A70ACA43E}"/>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07</a:t>
            </a:r>
          </a:p>
        </p:txBody>
      </p:sp>
      <p:sp>
        <p:nvSpPr>
          <p:cNvPr id="5" name="">
            <a:extLst xmlns:a="http://schemas.openxmlformats.org/drawingml/2006/main">
              <a:ext uri="{FF2B5EF4-FFF2-40B4-BE49-F238E27FC236}">
                <a16:creationId xmlns:a16="http://schemas.microsoft.com/office/drawing/2014/main" id="{E3F83EF2-89C0-49FE-8A93-3F20FF1FCC98}"/>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Generative AI output forms</a:t>
            </a:r>
          </a:p>
        </p:txBody>
      </p:sp>
      <p:sp>
        <p:nvSpPr>
          <p:cNvPr id="6" name="">
            <a:extLst xmlns:a="http://schemas.openxmlformats.org/drawingml/2006/main">
              <a:ext uri="{FF2B5EF4-FFF2-40B4-BE49-F238E27FC236}">
                <a16:creationId xmlns:a16="http://schemas.microsoft.com/office/drawing/2014/main" id="{CF41A73E-CA52-4865-ADFF-8881CE26B4C3}"/>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7330258A-3069-4188-8AAF-C708A9C0D7A6}"/>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TEXT</a:t>
            </a:r>
          </a:p>
        </p:txBody>
      </p:sp>
      <p:sp>
        <p:nvSpPr>
          <p:cNvPr id="8" name="">
            <a:extLst xmlns:a="http://schemas.openxmlformats.org/drawingml/2006/main">
              <a:ext uri="{FF2B5EF4-FFF2-40B4-BE49-F238E27FC236}">
                <a16:creationId xmlns:a16="http://schemas.microsoft.com/office/drawing/2014/main" id="{8D5BA70A-2C60-40A3-96B2-E7A48F2E0BCD}"/>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Drafting, summary, translation and extraction</a:t>
            </a:r>
          </a:p>
        </p:txBody>
      </p:sp>
      <p:sp>
        <p:nvSpPr>
          <p:cNvPr id="9" name="">
            <a:extLst xmlns:a="http://schemas.openxmlformats.org/drawingml/2006/main">
              <a:ext uri="{FF2B5EF4-FFF2-40B4-BE49-F238E27FC236}">
                <a16:creationId xmlns:a16="http://schemas.microsoft.com/office/drawing/2014/main" id="{DF5698B1-D04B-4B84-98FC-C45D6C0E1854}"/>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C6C7B4C6-0F47-4E5D-B1C9-6A731A53EB56}"/>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CODE</a:t>
            </a:r>
          </a:p>
        </p:txBody>
      </p:sp>
      <p:sp>
        <p:nvSpPr>
          <p:cNvPr id="11" name="">
            <a:extLst xmlns:a="http://schemas.openxmlformats.org/drawingml/2006/main">
              <a:ext uri="{FF2B5EF4-FFF2-40B4-BE49-F238E27FC236}">
                <a16:creationId xmlns:a16="http://schemas.microsoft.com/office/drawing/2014/main" id="{92EF227B-4985-4C50-9621-E987580385B1}"/>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Completion, transformation, testing and explanation</a:t>
            </a:r>
          </a:p>
        </p:txBody>
      </p:sp>
      <p:sp>
        <p:nvSpPr>
          <p:cNvPr id="12" name="">
            <a:extLst xmlns:a="http://schemas.openxmlformats.org/drawingml/2006/main">
              <a:ext uri="{FF2B5EF4-FFF2-40B4-BE49-F238E27FC236}">
                <a16:creationId xmlns:a16="http://schemas.microsoft.com/office/drawing/2014/main" id="{8446A8BD-9A2F-4BB9-B311-42CC5DAC97B3}"/>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4BDAB34C-E10E-43C5-ABEF-02C4D8E4F52E}"/>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MEDIA</a:t>
            </a:r>
          </a:p>
        </p:txBody>
      </p:sp>
      <p:sp>
        <p:nvSpPr>
          <p:cNvPr id="14" name="">
            <a:extLst xmlns:a="http://schemas.openxmlformats.org/drawingml/2006/main">
              <a:ext uri="{FF2B5EF4-FFF2-40B4-BE49-F238E27FC236}">
                <a16:creationId xmlns:a16="http://schemas.microsoft.com/office/drawing/2014/main" id="{4AF06335-5558-4B1F-9ECE-FE2DE32B3E07}"/>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Images, audio and video</a:t>
            </a:r>
          </a:p>
        </p:txBody>
      </p:sp>
      <p:sp>
        <p:nvSpPr>
          <p:cNvPr id="15" name="">
            <a:extLst xmlns:a="http://schemas.openxmlformats.org/drawingml/2006/main">
              <a:ext uri="{FF2B5EF4-FFF2-40B4-BE49-F238E27FC236}">
                <a16:creationId xmlns:a16="http://schemas.microsoft.com/office/drawing/2014/main" id="{CF33FC7B-B32E-4E4F-86FE-B0004F939AB1}"/>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D3782A28-80B4-4182-B23E-18826A56AE11}"/>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STRUCTURE</a:t>
            </a:r>
          </a:p>
        </p:txBody>
      </p:sp>
      <p:sp>
        <p:nvSpPr>
          <p:cNvPr id="17" name="">
            <a:extLst xmlns:a="http://schemas.openxmlformats.org/drawingml/2006/main">
              <a:ext uri="{FF2B5EF4-FFF2-40B4-BE49-F238E27FC236}">
                <a16:creationId xmlns:a16="http://schemas.microsoft.com/office/drawing/2014/main" id="{992F70E8-A0F0-4AC9-8E5E-962EA9A9FF6C}"/>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Tables, JSON, classifications and workflow actions</a:t>
            </a:r>
          </a:p>
        </p:txBody>
      </p:sp>
      <p:sp>
        <p:nvSpPr>
          <p:cNvPr id="18" name="">
            <a:extLst xmlns:a="http://schemas.openxmlformats.org/drawingml/2006/main">
              <a:ext uri="{FF2B5EF4-FFF2-40B4-BE49-F238E27FC236}">
                <a16:creationId xmlns:a16="http://schemas.microsoft.com/office/drawing/2014/main" id="{A0A1391C-B798-4738-98ED-635B97D0BFEC}"/>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Capability descriptions require task, model and context conditions</a:t>
            </a:r>
          </a:p>
        </p:txBody>
      </p:sp>
    </p:spTree>
    <p:extLst>
      <p:ext uri="{BB962C8B-B14F-4D97-AF65-F5344CB8AC3E}">
        <p14:creationId xmlns:p14="http://schemas.microsoft.com/office/powerpoint/2010/main" val="1547096581"/>
      </p:ext>
    </p:extLst>
  </p:cSld>
</p:sld>
</file>

<file path=ppt/slides/slide8.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3A53A01-25EB-4467-B83B-6E15D6E1BA0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91939FFA-9807-4F18-BE35-D8EDBE986F6F}"/>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14320D17-4880-4D95-9DC5-B1E167C70765}"/>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REPRESENTATION</a:t>
            </a:r>
          </a:p>
        </p:txBody>
      </p:sp>
      <p:sp>
        <p:nvSpPr>
          <p:cNvPr id="4" name="">
            <a:extLst xmlns:a="http://schemas.openxmlformats.org/drawingml/2006/main">
              <a:ext uri="{FF2B5EF4-FFF2-40B4-BE49-F238E27FC236}">
                <a16:creationId xmlns:a16="http://schemas.microsoft.com/office/drawing/2014/main" id="{0852AC6A-4424-43B5-B042-3E9FFFD0E2D4}"/>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08</a:t>
            </a:r>
          </a:p>
        </p:txBody>
      </p:sp>
      <p:sp>
        <p:nvSpPr>
          <p:cNvPr id="5" name="">
            <a:extLst xmlns:a="http://schemas.openxmlformats.org/drawingml/2006/main">
              <a:ext uri="{FF2B5EF4-FFF2-40B4-BE49-F238E27FC236}">
                <a16:creationId xmlns:a16="http://schemas.microsoft.com/office/drawing/2014/main" id="{73621C46-B02E-4120-B6EB-9CF017A81D0D}"/>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From text to model input</a:t>
            </a:r>
          </a:p>
        </p:txBody>
      </p:sp>
      <p:sp>
        <p:nvSpPr>
          <p:cNvPr id="6" name="">
            <a:extLst xmlns:a="http://schemas.openxmlformats.org/drawingml/2006/main">
              <a:ext uri="{FF2B5EF4-FFF2-40B4-BE49-F238E27FC236}">
                <a16:creationId xmlns:a16="http://schemas.microsoft.com/office/drawing/2014/main" id="{8B195414-6FFF-451C-8C39-1BAB90B8DEC6}"/>
              </a:ext>
            </a:extLst>
          </p:cNvPr>
          <p:cNvSpPr>
            <a:spLocks xmlns:a="http://schemas.openxmlformats.org/drawingml/2006/main" noGrp="1"/>
          </p:cNvSpPr>
          <p:nvPr/>
        </p:nvSpPr>
        <p:spPr>
          <a:xfrm xmlns:a="http://schemas.openxmlformats.org/drawingml/2006/main">
            <a:off x="7143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395AC7D6-1DF3-4AC3-85A1-A8E168910202}"/>
              </a:ext>
            </a:extLst>
          </p:cNvPr>
          <p:cNvSpPr>
            <a:spLocks xmlns:a="http://schemas.openxmlformats.org/drawingml/2006/main" noGrp="1"/>
          </p:cNvSpPr>
          <p:nvPr/>
        </p:nvSpPr>
        <p:spPr>
          <a:xfrm xmlns:a="http://schemas.openxmlformats.org/drawingml/2006/main">
            <a:off x="8667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15392818-D519-4551-B304-FBC0EAD60FE8}"/>
              </a:ext>
            </a:extLst>
          </p:cNvPr>
          <p:cNvSpPr>
            <a:spLocks xmlns:a="http://schemas.openxmlformats.org/drawingml/2006/main" noGrp="1"/>
          </p:cNvSpPr>
          <p:nvPr/>
        </p:nvSpPr>
        <p:spPr>
          <a:xfrm xmlns:a="http://schemas.openxmlformats.org/drawingml/2006/main">
            <a:off x="8667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Text</a:t>
            </a:r>
          </a:p>
        </p:txBody>
      </p:sp>
      <p:sp>
        <p:nvSpPr>
          <p:cNvPr id="9" name="">
            <a:extLst xmlns:a="http://schemas.openxmlformats.org/drawingml/2006/main">
              <a:ext uri="{FF2B5EF4-FFF2-40B4-BE49-F238E27FC236}">
                <a16:creationId xmlns:a16="http://schemas.microsoft.com/office/drawing/2014/main" id="{7D7B1F8E-ADAF-416D-9570-AF16241F43AD}"/>
              </a:ext>
            </a:extLst>
          </p:cNvPr>
          <p:cNvSpPr>
            <a:spLocks xmlns:a="http://schemas.openxmlformats.org/drawingml/2006/main" noGrp="1"/>
          </p:cNvSpPr>
          <p:nvPr/>
        </p:nvSpPr>
        <p:spPr>
          <a:xfrm xmlns:a="http://schemas.openxmlformats.org/drawingml/2006/main">
            <a:off x="8667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Human language and symbols</a:t>
            </a:r>
          </a:p>
        </p:txBody>
      </p:sp>
      <p:sp>
        <p:nvSpPr>
          <p:cNvPr id="10" name="">
            <a:extLst xmlns:a="http://schemas.openxmlformats.org/drawingml/2006/main">
              <a:ext uri="{FF2B5EF4-FFF2-40B4-BE49-F238E27FC236}">
                <a16:creationId xmlns:a16="http://schemas.microsoft.com/office/drawing/2014/main" id="{1F7581A3-6F5A-45E3-93AF-AD6124257C7E}"/>
              </a:ext>
            </a:extLst>
          </p:cNvPr>
          <p:cNvSpPr>
            <a:spLocks xmlns:a="http://schemas.openxmlformats.org/drawingml/2006/main" noGrp="1"/>
          </p:cNvSpPr>
          <p:nvPr/>
        </p:nvSpPr>
        <p:spPr>
          <a:xfrm xmlns:a="http://schemas.openxmlformats.org/drawingml/2006/main">
            <a:off x="34385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1" name="">
            <a:extLst xmlns:a="http://schemas.openxmlformats.org/drawingml/2006/main">
              <a:ext uri="{FF2B5EF4-FFF2-40B4-BE49-F238E27FC236}">
                <a16:creationId xmlns:a16="http://schemas.microsoft.com/office/drawing/2014/main" id="{1E47CA51-CB28-4C9D-9EA4-8E07C288ABBC}"/>
              </a:ext>
            </a:extLst>
          </p:cNvPr>
          <p:cNvSpPr>
            <a:spLocks xmlns:a="http://schemas.openxmlformats.org/drawingml/2006/main" noGrp="1"/>
          </p:cNvSpPr>
          <p:nvPr/>
        </p:nvSpPr>
        <p:spPr>
          <a:xfrm xmlns:a="http://schemas.openxmlformats.org/drawingml/2006/main">
            <a:off x="35909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48606126-29AF-4931-BC71-CE80DB3D0D05}"/>
              </a:ext>
            </a:extLst>
          </p:cNvPr>
          <p:cNvSpPr>
            <a:spLocks xmlns:a="http://schemas.openxmlformats.org/drawingml/2006/main" noGrp="1"/>
          </p:cNvSpPr>
          <p:nvPr/>
        </p:nvSpPr>
        <p:spPr>
          <a:xfrm xmlns:a="http://schemas.openxmlformats.org/drawingml/2006/main">
            <a:off x="35909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Tokens</a:t>
            </a:r>
          </a:p>
        </p:txBody>
      </p:sp>
      <p:sp>
        <p:nvSpPr>
          <p:cNvPr id="13" name="">
            <a:extLst xmlns:a="http://schemas.openxmlformats.org/drawingml/2006/main">
              <a:ext uri="{FF2B5EF4-FFF2-40B4-BE49-F238E27FC236}">
                <a16:creationId xmlns:a16="http://schemas.microsoft.com/office/drawing/2014/main" id="{0A7E2B5E-D52D-4817-B0A4-E72501B56BAF}"/>
              </a:ext>
            </a:extLst>
          </p:cNvPr>
          <p:cNvSpPr>
            <a:spLocks xmlns:a="http://schemas.openxmlformats.org/drawingml/2006/main" noGrp="1"/>
          </p:cNvSpPr>
          <p:nvPr/>
        </p:nvSpPr>
        <p:spPr>
          <a:xfrm xmlns:a="http://schemas.openxmlformats.org/drawingml/2006/main">
            <a:off x="35909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Tokenizer-specific units</a:t>
            </a:r>
          </a:p>
        </p:txBody>
      </p:sp>
      <p:sp>
        <p:nvSpPr>
          <p:cNvPr id="14" name="">
            <a:extLst xmlns:a="http://schemas.openxmlformats.org/drawingml/2006/main">
              <a:ext uri="{FF2B5EF4-FFF2-40B4-BE49-F238E27FC236}">
                <a16:creationId xmlns:a16="http://schemas.microsoft.com/office/drawing/2014/main" id="{2DF8434A-589B-45E0-8C4E-38AE919AB6E8}"/>
              </a:ext>
            </a:extLst>
          </p:cNvPr>
          <p:cNvSpPr>
            <a:spLocks xmlns:a="http://schemas.openxmlformats.org/drawingml/2006/main" noGrp="1"/>
          </p:cNvSpPr>
          <p:nvPr/>
        </p:nvSpPr>
        <p:spPr>
          <a:xfrm xmlns:a="http://schemas.openxmlformats.org/drawingml/2006/main">
            <a:off x="61626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5" name="">
            <a:extLst xmlns:a="http://schemas.openxmlformats.org/drawingml/2006/main">
              <a:ext uri="{FF2B5EF4-FFF2-40B4-BE49-F238E27FC236}">
                <a16:creationId xmlns:a16="http://schemas.microsoft.com/office/drawing/2014/main" id="{0A5FBDA6-B103-40EF-9434-7DD024A795CA}"/>
              </a:ext>
            </a:extLst>
          </p:cNvPr>
          <p:cNvSpPr>
            <a:spLocks xmlns:a="http://schemas.openxmlformats.org/drawingml/2006/main" noGrp="1"/>
          </p:cNvSpPr>
          <p:nvPr/>
        </p:nvSpPr>
        <p:spPr>
          <a:xfrm xmlns:a="http://schemas.openxmlformats.org/drawingml/2006/main">
            <a:off x="63150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03</a:t>
            </a:r>
          </a:p>
        </p:txBody>
      </p:sp>
      <p:sp>
        <p:nvSpPr>
          <p:cNvPr id="16" name="">
            <a:extLst xmlns:a="http://schemas.openxmlformats.org/drawingml/2006/main">
              <a:ext uri="{FF2B5EF4-FFF2-40B4-BE49-F238E27FC236}">
                <a16:creationId xmlns:a16="http://schemas.microsoft.com/office/drawing/2014/main" id="{E4DF7EC3-F89A-4B1A-8C91-0D96DD9C1213}"/>
              </a:ext>
            </a:extLst>
          </p:cNvPr>
          <p:cNvSpPr>
            <a:spLocks xmlns:a="http://schemas.openxmlformats.org/drawingml/2006/main" noGrp="1"/>
          </p:cNvSpPr>
          <p:nvPr/>
        </p:nvSpPr>
        <p:spPr>
          <a:xfrm xmlns:a="http://schemas.openxmlformats.org/drawingml/2006/main">
            <a:off x="63150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Identifiers</a:t>
            </a:r>
          </a:p>
        </p:txBody>
      </p:sp>
      <p:sp>
        <p:nvSpPr>
          <p:cNvPr id="17" name="">
            <a:extLst xmlns:a="http://schemas.openxmlformats.org/drawingml/2006/main">
              <a:ext uri="{FF2B5EF4-FFF2-40B4-BE49-F238E27FC236}">
                <a16:creationId xmlns:a16="http://schemas.microsoft.com/office/drawing/2014/main" id="{8FF27FD5-7AA8-467C-8515-CCA254F587D9}"/>
              </a:ext>
            </a:extLst>
          </p:cNvPr>
          <p:cNvSpPr>
            <a:spLocks xmlns:a="http://schemas.openxmlformats.org/drawingml/2006/main" noGrp="1"/>
          </p:cNvSpPr>
          <p:nvPr/>
        </p:nvSpPr>
        <p:spPr>
          <a:xfrm xmlns:a="http://schemas.openxmlformats.org/drawingml/2006/main">
            <a:off x="63150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Vocabulary indices</a:t>
            </a:r>
          </a:p>
        </p:txBody>
      </p:sp>
      <p:sp>
        <p:nvSpPr>
          <p:cNvPr id="18" name="">
            <a:extLst xmlns:a="http://schemas.openxmlformats.org/drawingml/2006/main">
              <a:ext uri="{FF2B5EF4-FFF2-40B4-BE49-F238E27FC236}">
                <a16:creationId xmlns:a16="http://schemas.microsoft.com/office/drawing/2014/main" id="{63E6EEFF-63DD-4324-B8E4-DBF5D76947E9}"/>
              </a:ext>
            </a:extLst>
          </p:cNvPr>
          <p:cNvSpPr>
            <a:spLocks xmlns:a="http://schemas.openxmlformats.org/drawingml/2006/main" noGrp="1"/>
          </p:cNvSpPr>
          <p:nvPr/>
        </p:nvSpPr>
        <p:spPr>
          <a:xfrm xmlns:a="http://schemas.openxmlformats.org/drawingml/2006/main">
            <a:off x="88868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F4B740"/>
            </a:solidFill>
          </a:ln>
        </p:spPr>
      </p:sp>
      <p:sp>
        <p:nvSpPr>
          <p:cNvPr id="19" name="">
            <a:extLst xmlns:a="http://schemas.openxmlformats.org/drawingml/2006/main">
              <a:ext uri="{FF2B5EF4-FFF2-40B4-BE49-F238E27FC236}">
                <a16:creationId xmlns:a16="http://schemas.microsoft.com/office/drawing/2014/main" id="{FEA0DE2E-B884-4F65-A071-76A4C5CD78D5}"/>
              </a:ext>
            </a:extLst>
          </p:cNvPr>
          <p:cNvSpPr>
            <a:spLocks xmlns:a="http://schemas.openxmlformats.org/drawingml/2006/main" noGrp="1"/>
          </p:cNvSpPr>
          <p:nvPr/>
        </p:nvSpPr>
        <p:spPr>
          <a:xfrm xmlns:a="http://schemas.openxmlformats.org/drawingml/2006/main">
            <a:off x="90392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4B740"/>
                </a:solidFill>
                <a:latin typeface="Calibri"/>
                <a:ea typeface="Calibri"/>
                <a:cs typeface="Calibri"/>
              </a:defRPr>
            </a:pPr>
            <a:r>
              <a:rPr sz="1650" b="1">
                <a:solidFill>
                  <a:srgbClr val="F4B740"/>
                </a:solidFill>
                <a:latin typeface="Calibri"/>
                <a:ea typeface="Calibri"/>
                <a:cs typeface="Calibri"/>
              </a:rPr>
              <a:t>04</a:t>
            </a:r>
          </a:p>
        </p:txBody>
      </p:sp>
      <p:sp>
        <p:nvSpPr>
          <p:cNvPr id="20" name="">
            <a:extLst xmlns:a="http://schemas.openxmlformats.org/drawingml/2006/main">
              <a:ext uri="{FF2B5EF4-FFF2-40B4-BE49-F238E27FC236}">
                <a16:creationId xmlns:a16="http://schemas.microsoft.com/office/drawing/2014/main" id="{9B7D0155-6343-4435-8531-29ECA601689F}"/>
              </a:ext>
            </a:extLst>
          </p:cNvPr>
          <p:cNvSpPr>
            <a:spLocks xmlns:a="http://schemas.openxmlformats.org/drawingml/2006/main" noGrp="1"/>
          </p:cNvSpPr>
          <p:nvPr/>
        </p:nvSpPr>
        <p:spPr>
          <a:xfrm xmlns:a="http://schemas.openxmlformats.org/drawingml/2006/main">
            <a:off x="90392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Vectors</a:t>
            </a:r>
          </a:p>
        </p:txBody>
      </p:sp>
      <p:sp>
        <p:nvSpPr>
          <p:cNvPr id="21" name="">
            <a:extLst xmlns:a="http://schemas.openxmlformats.org/drawingml/2006/main">
              <a:ext uri="{FF2B5EF4-FFF2-40B4-BE49-F238E27FC236}">
                <a16:creationId xmlns:a16="http://schemas.microsoft.com/office/drawing/2014/main" id="{42399664-BCAD-44C7-AE5B-A68A2BD84701}"/>
              </a:ext>
            </a:extLst>
          </p:cNvPr>
          <p:cNvSpPr>
            <a:spLocks xmlns:a="http://schemas.openxmlformats.org/drawingml/2006/main" noGrp="1"/>
          </p:cNvSpPr>
          <p:nvPr/>
        </p:nvSpPr>
        <p:spPr>
          <a:xfrm xmlns:a="http://schemas.openxmlformats.org/drawingml/2006/main">
            <a:off x="90392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Learned representations</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33051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602932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7534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sp>
        <p:nvSpPr>
          <p:cNvPr id="25" name="">
            <a:extLst xmlns:a="http://schemas.openxmlformats.org/drawingml/2006/main">
              <a:ext uri="{FF2B5EF4-FFF2-40B4-BE49-F238E27FC236}">
                <a16:creationId xmlns:a16="http://schemas.microsoft.com/office/drawing/2014/main" id="{D2A95F12-4D4B-4A8D-82F1-1BB6B805C9B9}"/>
              </a:ext>
            </a:extLst>
          </p:cNvPr>
          <p:cNvSpPr>
            <a:spLocks xmlns:a="http://schemas.openxmlformats.org/drawingml/2006/main" noGrp="1"/>
          </p:cNvSpPr>
          <p:nvPr/>
        </p:nvSpPr>
        <p:spPr>
          <a:xfrm xmlns:a="http://schemas.openxmlformats.org/drawingml/2006/main">
            <a:off x="66675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4B740"/>
                </a:solidFill>
                <a:latin typeface="Calibri"/>
                <a:ea typeface="Calibri"/>
                <a:cs typeface="Calibri"/>
              </a:defRPr>
            </a:pPr>
            <a:r>
              <a:rPr sz="1350" b="1">
                <a:solidFill>
                  <a:srgbClr val="F4B740"/>
                </a:solidFill>
                <a:latin typeface="Calibri"/>
                <a:ea typeface="Calibri"/>
                <a:cs typeface="Calibri"/>
              </a:rPr>
              <a:t>The tokenizer defines the first measurable information boundary</a:t>
            </a:r>
          </a:p>
        </p:txBody>
      </p:sp>
    </p:spTree>
    <p:extLst>
      <p:ext uri="{BB962C8B-B14F-4D97-AF65-F5344CB8AC3E}">
        <p14:creationId xmlns:p14="http://schemas.microsoft.com/office/powerpoint/2010/main" val="367229946"/>
      </p:ext>
    </p:extLst>
  </p:cSld>
</p:sld>
</file>

<file path=ppt/slides/slide9.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46E6C31-6A8E-42A5-B50E-363457841A7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985001F4-7AE7-490F-85CC-690D64C4889B}"/>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2B683ECC-26F4-40C9-976C-ADF581D428CA}"/>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REPRESENTATION</a:t>
            </a:r>
          </a:p>
        </p:txBody>
      </p:sp>
      <p:sp>
        <p:nvSpPr>
          <p:cNvPr id="4" name="">
            <a:extLst xmlns:a="http://schemas.openxmlformats.org/drawingml/2006/main">
              <a:ext uri="{FF2B5EF4-FFF2-40B4-BE49-F238E27FC236}">
                <a16:creationId xmlns:a16="http://schemas.microsoft.com/office/drawing/2014/main" id="{0FDF1F35-CF50-4D05-B6B8-ACC334BFF545}"/>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09</a:t>
            </a:r>
          </a:p>
        </p:txBody>
      </p:sp>
      <p:sp>
        <p:nvSpPr>
          <p:cNvPr id="5" name="">
            <a:extLst xmlns:a="http://schemas.openxmlformats.org/drawingml/2006/main">
              <a:ext uri="{FF2B5EF4-FFF2-40B4-BE49-F238E27FC236}">
                <a16:creationId xmlns:a16="http://schemas.microsoft.com/office/drawing/2014/main" id="{9BFEFD18-48FD-4140-B750-DED8ECC55DE6}"/>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Tokenizer choices</a:t>
            </a:r>
          </a:p>
        </p:txBody>
      </p:sp>
      <p:sp>
        <p:nvSpPr>
          <p:cNvPr id="6" name="">
            <a:extLst xmlns:a="http://schemas.openxmlformats.org/drawingml/2006/main">
              <a:ext uri="{FF2B5EF4-FFF2-40B4-BE49-F238E27FC236}">
                <a16:creationId xmlns:a16="http://schemas.microsoft.com/office/drawing/2014/main" id="{5D04ABC1-D59A-4FE4-BB14-27D4FB336851}"/>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C1462C16-3051-4260-802C-1533505AA0FA}"/>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WORD</a:t>
            </a:r>
          </a:p>
        </p:txBody>
      </p:sp>
      <p:sp>
        <p:nvSpPr>
          <p:cNvPr id="8" name="">
            <a:extLst xmlns:a="http://schemas.openxmlformats.org/drawingml/2006/main">
              <a:ext uri="{FF2B5EF4-FFF2-40B4-BE49-F238E27FC236}">
                <a16:creationId xmlns:a16="http://schemas.microsoft.com/office/drawing/2014/main" id="{D258645D-79B9-49A0-BC7D-C9A55A76C807}"/>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Intuitive but weak for rare forms</a:t>
            </a:r>
          </a:p>
        </p:txBody>
      </p:sp>
      <p:sp>
        <p:nvSpPr>
          <p:cNvPr id="9" name="">
            <a:extLst xmlns:a="http://schemas.openxmlformats.org/drawingml/2006/main">
              <a:ext uri="{FF2B5EF4-FFF2-40B4-BE49-F238E27FC236}">
                <a16:creationId xmlns:a16="http://schemas.microsoft.com/office/drawing/2014/main" id="{BFE8B401-AAD2-4F1B-B73E-74ED6ACCACF6}"/>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B5336AD7-2341-4488-9FE0-DE3E9DF07897}"/>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CHARACTER</a:t>
            </a:r>
          </a:p>
        </p:txBody>
      </p:sp>
      <p:sp>
        <p:nvSpPr>
          <p:cNvPr id="11" name="">
            <a:extLst xmlns:a="http://schemas.openxmlformats.org/drawingml/2006/main">
              <a:ext uri="{FF2B5EF4-FFF2-40B4-BE49-F238E27FC236}">
                <a16:creationId xmlns:a16="http://schemas.microsoft.com/office/drawing/2014/main" id="{64F33DA9-328B-43EA-8D2C-5D4B635C1632}"/>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Broad coverage with long sequences</a:t>
            </a:r>
          </a:p>
        </p:txBody>
      </p:sp>
      <p:sp>
        <p:nvSpPr>
          <p:cNvPr id="12" name="">
            <a:extLst xmlns:a="http://schemas.openxmlformats.org/drawingml/2006/main">
              <a:ext uri="{FF2B5EF4-FFF2-40B4-BE49-F238E27FC236}">
                <a16:creationId xmlns:a16="http://schemas.microsoft.com/office/drawing/2014/main" id="{F58B33BC-3415-4E01-A8AF-918EF27989B6}"/>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3D166655-336E-4FFE-9935-8256C07C06FE}"/>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SUBWORD</a:t>
            </a:r>
          </a:p>
        </p:txBody>
      </p:sp>
      <p:sp>
        <p:nvSpPr>
          <p:cNvPr id="14" name="">
            <a:extLst xmlns:a="http://schemas.openxmlformats.org/drawingml/2006/main">
              <a:ext uri="{FF2B5EF4-FFF2-40B4-BE49-F238E27FC236}">
                <a16:creationId xmlns:a16="http://schemas.microsoft.com/office/drawing/2014/main" id="{6A80D159-95AA-4B40-B527-4DD8F6471CAC}"/>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Reusable fragments and efficient coverage</a:t>
            </a:r>
          </a:p>
        </p:txBody>
      </p:sp>
      <p:sp>
        <p:nvSpPr>
          <p:cNvPr id="15" name="">
            <a:extLst xmlns:a="http://schemas.openxmlformats.org/drawingml/2006/main">
              <a:ext uri="{FF2B5EF4-FFF2-40B4-BE49-F238E27FC236}">
                <a16:creationId xmlns:a16="http://schemas.microsoft.com/office/drawing/2014/main" id="{D0E0EEC2-9561-4C5D-BD36-E8518C5C8084}"/>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0D13F437-2879-4854-9C32-EBC04522C8C4}"/>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BYTE LEVEL</a:t>
            </a:r>
          </a:p>
        </p:txBody>
      </p:sp>
      <p:sp>
        <p:nvSpPr>
          <p:cNvPr id="17" name="">
            <a:extLst xmlns:a="http://schemas.openxmlformats.org/drawingml/2006/main">
              <a:ext uri="{FF2B5EF4-FFF2-40B4-BE49-F238E27FC236}">
                <a16:creationId xmlns:a16="http://schemas.microsoft.com/office/drawing/2014/main" id="{41973297-5673-435D-9B10-70D209AC5A3A}"/>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Wide coverage with uneven language cost</a:t>
            </a:r>
          </a:p>
        </p:txBody>
      </p:sp>
      <p:sp>
        <p:nvSpPr>
          <p:cNvPr id="18" name="">
            <a:extLst xmlns:a="http://schemas.openxmlformats.org/drawingml/2006/main">
              <a:ext uri="{FF2B5EF4-FFF2-40B4-BE49-F238E27FC236}">
                <a16:creationId xmlns:a16="http://schemas.microsoft.com/office/drawing/2014/main" id="{BEA386EC-AB53-4405-AA31-1F6AE2936396}"/>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Test the languages and documents the institution actually serves</a:t>
            </a:r>
          </a:p>
        </p:txBody>
      </p:sp>
    </p:spTree>
    <p:extLst>
      <p:ext uri="{BB962C8B-B14F-4D97-AF65-F5344CB8AC3E}">
        <p14:creationId xmlns:p14="http://schemas.microsoft.com/office/powerpoint/2010/main" val="89886617"/>
      </p:ext>
    </p:extLst>
  </p:cSld>
</p:sld>
</file>

<file path=ppt/slides/slide10.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2B43E2-8715-41BD-9713-04BE36600DA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CA8D0EA7-1B49-42CE-B1C5-D3DA53535923}"/>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1C905AC3-6766-4ABC-B566-DD6AFE850465}"/>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REPRESENTATION</a:t>
            </a:r>
          </a:p>
        </p:txBody>
      </p:sp>
      <p:sp>
        <p:nvSpPr>
          <p:cNvPr id="4" name="">
            <a:extLst xmlns:a="http://schemas.openxmlformats.org/drawingml/2006/main">
              <a:ext uri="{FF2B5EF4-FFF2-40B4-BE49-F238E27FC236}">
                <a16:creationId xmlns:a16="http://schemas.microsoft.com/office/drawing/2014/main" id="{BF99891E-A491-45B1-8198-B5BF6CE4900A}"/>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10</a:t>
            </a:r>
          </a:p>
        </p:txBody>
      </p:sp>
      <p:sp>
        <p:nvSpPr>
          <p:cNvPr id="5" name="">
            <a:extLst xmlns:a="http://schemas.openxmlformats.org/drawingml/2006/main">
              <a:ext uri="{FF2B5EF4-FFF2-40B4-BE49-F238E27FC236}">
                <a16:creationId xmlns:a16="http://schemas.microsoft.com/office/drawing/2014/main" id="{0A4B72D8-CCD4-4FB1-93A9-25B8AB29E48E}"/>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Embeddings and contextual states</a:t>
            </a:r>
          </a:p>
        </p:txBody>
      </p:sp>
      <p:sp>
        <p:nvSpPr>
          <p:cNvPr id="6" name="">
            <a:extLst xmlns:a="http://schemas.openxmlformats.org/drawingml/2006/main">
              <a:ext uri="{FF2B5EF4-FFF2-40B4-BE49-F238E27FC236}">
                <a16:creationId xmlns:a16="http://schemas.microsoft.com/office/drawing/2014/main" id="{4AC75FD3-A3E3-4CCB-A994-C9640805DCCB}"/>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AEBE943B-C418-48D1-9C3E-22A199200C18}"/>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IDENTIFIER</a:t>
            </a:r>
          </a:p>
        </p:txBody>
      </p:sp>
      <p:sp>
        <p:nvSpPr>
          <p:cNvPr id="8" name="">
            <a:extLst xmlns:a="http://schemas.openxmlformats.org/drawingml/2006/main">
              <a:ext uri="{FF2B5EF4-FFF2-40B4-BE49-F238E27FC236}">
                <a16:creationId xmlns:a16="http://schemas.microsoft.com/office/drawing/2014/main" id="{F70620B0-70EB-4B25-BC21-17A64F4E045D}"/>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Index into a tokenizer vocabulary</a:t>
            </a:r>
          </a:p>
        </p:txBody>
      </p:sp>
      <p:sp>
        <p:nvSpPr>
          <p:cNvPr id="9" name="">
            <a:extLst xmlns:a="http://schemas.openxmlformats.org/drawingml/2006/main">
              <a:ext uri="{FF2B5EF4-FFF2-40B4-BE49-F238E27FC236}">
                <a16:creationId xmlns:a16="http://schemas.microsoft.com/office/drawing/2014/main" id="{C00490DF-06E2-4B2E-8AB2-3A8769F48380}"/>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330425B8-623C-43CB-8FF8-1CB768A97F81}"/>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EMBEDDING</a:t>
            </a:r>
          </a:p>
        </p:txBody>
      </p:sp>
      <p:sp>
        <p:nvSpPr>
          <p:cNvPr id="11" name="">
            <a:extLst xmlns:a="http://schemas.openxmlformats.org/drawingml/2006/main">
              <a:ext uri="{FF2B5EF4-FFF2-40B4-BE49-F238E27FC236}">
                <a16:creationId xmlns:a16="http://schemas.microsoft.com/office/drawing/2014/main" id="{7AB52CCB-B926-4187-95AC-D2C823607C1D}"/>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Learned vector associated with a token</a:t>
            </a:r>
          </a:p>
        </p:txBody>
      </p:sp>
      <p:sp>
        <p:nvSpPr>
          <p:cNvPr id="12" name="">
            <a:extLst xmlns:a="http://schemas.openxmlformats.org/drawingml/2006/main">
              <a:ext uri="{FF2B5EF4-FFF2-40B4-BE49-F238E27FC236}">
                <a16:creationId xmlns:a16="http://schemas.microsoft.com/office/drawing/2014/main" id="{95118BA5-A6AC-4C27-A9C8-FE654CAE3BD6}"/>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958201DE-E10B-4D9B-8899-C1C87B2DE1A5}"/>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POSITION</a:t>
            </a:r>
          </a:p>
        </p:txBody>
      </p:sp>
      <p:sp>
        <p:nvSpPr>
          <p:cNvPr id="14" name="">
            <a:extLst xmlns:a="http://schemas.openxmlformats.org/drawingml/2006/main">
              <a:ext uri="{FF2B5EF4-FFF2-40B4-BE49-F238E27FC236}">
                <a16:creationId xmlns:a16="http://schemas.microsoft.com/office/drawing/2014/main" id="{B595884D-2D76-467D-98EC-CCCAB350CBB9}"/>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Information about sequence order</a:t>
            </a:r>
          </a:p>
        </p:txBody>
      </p:sp>
      <p:sp>
        <p:nvSpPr>
          <p:cNvPr id="15" name="">
            <a:extLst xmlns:a="http://schemas.openxmlformats.org/drawingml/2006/main">
              <a:ext uri="{FF2B5EF4-FFF2-40B4-BE49-F238E27FC236}">
                <a16:creationId xmlns:a16="http://schemas.microsoft.com/office/drawing/2014/main" id="{B8E53804-64C0-4932-99A4-6720791C7978}"/>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D5C64C92-4C13-4084-AF56-B14832A09C6E}"/>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CONTEXTUAL STATE</a:t>
            </a:r>
          </a:p>
        </p:txBody>
      </p:sp>
      <p:sp>
        <p:nvSpPr>
          <p:cNvPr id="17" name="">
            <a:extLst xmlns:a="http://schemas.openxmlformats.org/drawingml/2006/main">
              <a:ext uri="{FF2B5EF4-FFF2-40B4-BE49-F238E27FC236}">
                <a16:creationId xmlns:a16="http://schemas.microsoft.com/office/drawing/2014/main" id="{D508EDA8-82B5-4EBD-80E8-B929516A898C}"/>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Representation after attention and transformation</a:t>
            </a:r>
          </a:p>
        </p:txBody>
      </p:sp>
      <p:sp>
        <p:nvSpPr>
          <p:cNvPr id="18" name="">
            <a:extLst xmlns:a="http://schemas.openxmlformats.org/drawingml/2006/main">
              <a:ext uri="{FF2B5EF4-FFF2-40B4-BE49-F238E27FC236}">
                <a16:creationId xmlns:a16="http://schemas.microsoft.com/office/drawing/2014/main" id="{59EFBEE8-E075-4E6A-B62E-7CF9D2DB4F2D}"/>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Vector similarity captures patterns but does not establish factual truth</a:t>
            </a:r>
          </a:p>
        </p:txBody>
      </p:sp>
    </p:spTree>
    <p:extLst>
      <p:ext uri="{BB962C8B-B14F-4D97-AF65-F5344CB8AC3E}">
        <p14:creationId xmlns:p14="http://schemas.microsoft.com/office/powerpoint/2010/main" val="1504129681"/>
      </p:ext>
    </p:extLst>
  </p:cSld>
</p:sld>
</file>

<file path=ppt/slides/slide11.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B7CCF0-BACE-455C-BC0F-CCFD28C0D93D}"/>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AB390605-D6C4-4178-85C1-00FC6DC0A3FE}"/>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D8663D5D-9D13-4BAB-8C16-3780C05D6173}"/>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GENERATION MECHANICS</a:t>
            </a:r>
          </a:p>
        </p:txBody>
      </p:sp>
      <p:sp>
        <p:nvSpPr>
          <p:cNvPr id="4" name="">
            <a:extLst xmlns:a="http://schemas.openxmlformats.org/drawingml/2006/main">
              <a:ext uri="{FF2B5EF4-FFF2-40B4-BE49-F238E27FC236}">
                <a16:creationId xmlns:a16="http://schemas.microsoft.com/office/drawing/2014/main" id="{57804BB8-0787-4920-AD67-BF16DC910F53}"/>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11</a:t>
            </a:r>
          </a:p>
        </p:txBody>
      </p:sp>
      <p:sp>
        <p:nvSpPr>
          <p:cNvPr id="5" name="">
            <a:extLst xmlns:a="http://schemas.openxmlformats.org/drawingml/2006/main">
              <a:ext uri="{FF2B5EF4-FFF2-40B4-BE49-F238E27FC236}">
                <a16:creationId xmlns:a16="http://schemas.microsoft.com/office/drawing/2014/main" id="{7DD51091-3253-49FE-A100-ABC6A6978E0F}"/>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The context window</a:t>
            </a:r>
          </a:p>
        </p:txBody>
      </p:sp>
      <p:sp>
        <p:nvSpPr>
          <p:cNvPr id="6" name="">
            <a:extLst xmlns:a="http://schemas.openxmlformats.org/drawingml/2006/main">
              <a:ext uri="{FF2B5EF4-FFF2-40B4-BE49-F238E27FC236}">
                <a16:creationId xmlns:a16="http://schemas.microsoft.com/office/drawing/2014/main" id="{160E3CE5-7B34-4086-8DEE-5BF4B95DA0C3}"/>
              </a:ext>
            </a:extLst>
          </p:cNvPr>
          <p:cNvSpPr>
            <a:spLocks xmlns:a="http://schemas.openxmlformats.org/drawingml/2006/main" noGrp="1"/>
          </p:cNvSpPr>
          <p:nvPr/>
        </p:nvSpPr>
        <p:spPr>
          <a:xfrm xmlns:a="http://schemas.openxmlformats.org/drawingml/2006/main">
            <a:off x="523875" y="1428750"/>
            <a:ext cx="4953000" cy="3143250"/>
          </a:xfrm>
          <a:prstGeom xmlns:a="http://schemas.openxmlformats.org/drawingml/2006/main" prst="rect">
            <a:avLst/>
          </a:prstGeom>
          <a:solidFill xmlns:a="http://schemas.openxmlformats.org/drawingml/2006/main">
            <a:srgbClr val="F3E9D1"/>
          </a:solidFill>
          <a:ln xmlns:a="http://schemas.openxmlformats.org/drawingml/2006/main" w="9525">
            <a:solidFill>
              <a:srgbClr val="F4B740"/>
            </a:solidFill>
          </a:ln>
        </p:spPr>
      </p:sp>
      <p:sp>
        <p:nvSpPr>
          <p:cNvPr id="7" name="">
            <a:extLst xmlns:a="http://schemas.openxmlformats.org/drawingml/2006/main">
              <a:ext uri="{FF2B5EF4-FFF2-40B4-BE49-F238E27FC236}">
                <a16:creationId xmlns:a16="http://schemas.microsoft.com/office/drawing/2014/main" id="{44F6251A-61B6-4C28-AF5A-A55DB043C047}"/>
              </a:ext>
            </a:extLst>
          </p:cNvPr>
          <p:cNvSpPr>
            <a:spLocks xmlns:a="http://schemas.openxmlformats.org/drawingml/2006/main" noGrp="1"/>
          </p:cNvSpPr>
          <p:nvPr/>
        </p:nvSpPr>
        <p:spPr>
          <a:xfrm xmlns:a="http://schemas.openxmlformats.org/drawingml/2006/main">
            <a:off x="809625" y="2143125"/>
            <a:ext cx="4381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2212D"/>
                </a:solidFill>
                <a:latin typeface="Calibri"/>
                <a:ea typeface="Calibri"/>
                <a:cs typeface="Calibri"/>
              </a:defRPr>
            </a:pPr>
            <a:r>
              <a:rPr sz="2250" b="1">
                <a:solidFill>
                  <a:srgbClr val="12212D"/>
                </a:solidFill>
                <a:latin typeface="Calibri"/>
                <a:ea typeface="Calibri"/>
                <a:cs typeface="Calibri"/>
              </a:rPr>
              <a:t>n instructions + n history + n sources + n input + n output ≤ C</a:t>
            </a:r>
          </a:p>
        </p:txBody>
      </p:sp>
      <p:sp>
        <p:nvSpPr>
          <p:cNvPr id="8" name="">
            <a:extLst xmlns:a="http://schemas.openxmlformats.org/drawingml/2006/main">
              <a:ext uri="{FF2B5EF4-FFF2-40B4-BE49-F238E27FC236}">
                <a16:creationId xmlns:a16="http://schemas.microsoft.com/office/drawing/2014/main" id="{9B40F4BD-D94E-48CB-A748-5C855165CAF5}"/>
              </a:ext>
            </a:extLst>
          </p:cNvPr>
          <p:cNvSpPr>
            <a:spLocks xmlns:a="http://schemas.openxmlformats.org/drawingml/2006/main" noGrp="1"/>
          </p:cNvSpPr>
          <p:nvPr/>
        </p:nvSpPr>
        <p:spPr>
          <a:xfrm xmlns:a="http://schemas.openxmlformats.org/drawingml/2006/main">
            <a:off x="5810250" y="1428750"/>
            <a:ext cx="5857875" cy="314325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9" name="">
            <a:extLst xmlns:a="http://schemas.openxmlformats.org/drawingml/2006/main">
              <a:ext uri="{FF2B5EF4-FFF2-40B4-BE49-F238E27FC236}">
                <a16:creationId xmlns:a16="http://schemas.microsoft.com/office/drawing/2014/main" id="{936771CE-C10A-49C6-AC64-C19C75C610B1}"/>
              </a:ext>
            </a:extLst>
          </p:cNvPr>
          <p:cNvSpPr>
            <a:spLocks xmlns:a="http://schemas.openxmlformats.org/drawingml/2006/main" noGrp="1"/>
          </p:cNvSpPr>
          <p:nvPr/>
        </p:nvSpPr>
        <p:spPr>
          <a:xfrm xmlns:a="http://schemas.openxmlformats.org/drawingml/2006/main">
            <a:off x="6048375" y="16668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A FINITE TOKEN BUDGET</a:t>
            </a:r>
          </a:p>
        </p:txBody>
      </p:sp>
      <p:sp>
        <p:nvSpPr>
          <p:cNvPr id="10" name="">
            <a:extLst xmlns:a="http://schemas.openxmlformats.org/drawingml/2006/main">
              <a:ext uri="{FF2B5EF4-FFF2-40B4-BE49-F238E27FC236}">
                <a16:creationId xmlns:a16="http://schemas.microsoft.com/office/drawing/2014/main" id="{C201C417-9DFF-4E58-BE31-CEB6037CBD4E}"/>
              </a:ext>
            </a:extLst>
          </p:cNvPr>
          <p:cNvSpPr>
            <a:spLocks xmlns:a="http://schemas.openxmlformats.org/drawingml/2006/main" noGrp="1"/>
          </p:cNvSpPr>
          <p:nvPr/>
        </p:nvSpPr>
        <p:spPr>
          <a:xfrm xmlns:a="http://schemas.openxmlformats.org/drawingml/2006/main">
            <a:off x="6048375" y="2190750"/>
            <a:ext cx="5381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5FAFC"/>
                </a:solidFill>
                <a:latin typeface="Calibri"/>
                <a:ea typeface="Calibri"/>
                <a:cs typeface="Calibri"/>
              </a:defRPr>
            </a:pPr>
            <a:r>
              <a:rPr sz="1575" b="0">
                <a:solidFill>
                  <a:srgbClr val="F5FAFC"/>
                </a:solidFill>
                <a:latin typeface="Calibri"/>
                <a:ea typeface="Calibri"/>
                <a:cs typeface="Calibri"/>
              </a:rPr>
              <a:t>The application decides which evidence enters, which evidence is removed and how much space remains for the answer.</a:t>
            </a:r>
          </a:p>
        </p:txBody>
      </p:sp>
      <p:sp>
        <p:nvSpPr>
          <p:cNvPr id="11" name="">
            <a:extLst xmlns:a="http://schemas.openxmlformats.org/drawingml/2006/main">
              <a:ext uri="{FF2B5EF4-FFF2-40B4-BE49-F238E27FC236}">
                <a16:creationId xmlns:a16="http://schemas.microsoft.com/office/drawing/2014/main" id="{B2734417-E156-49FB-B032-7E1E8FF75D01}"/>
              </a:ext>
            </a:extLst>
          </p:cNvPr>
          <p:cNvSpPr>
            <a:spLocks xmlns:a="http://schemas.openxmlformats.org/drawingml/2006/main" noGrp="1"/>
          </p:cNvSpPr>
          <p:nvPr/>
        </p:nvSpPr>
        <p:spPr>
          <a:xfrm xmlns:a="http://schemas.openxmlformats.org/drawingml/2006/main">
            <a:off x="666750" y="5286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4B740"/>
                </a:solidFill>
                <a:latin typeface="Calibri"/>
                <a:ea typeface="Calibri"/>
                <a:cs typeface="Calibri"/>
              </a:defRPr>
            </a:pPr>
            <a:r>
              <a:rPr sz="1275" b="1">
                <a:solidFill>
                  <a:srgbClr val="F4B740"/>
                </a:solidFill>
                <a:latin typeface="Calibri"/>
                <a:ea typeface="Calibri"/>
                <a:cs typeface="Calibri"/>
              </a:rPr>
              <a:t>Truncation changes the information available to the model</a:t>
            </a:r>
          </a:p>
        </p:txBody>
      </p:sp>
    </p:spTree>
    <p:extLst>
      <p:ext uri="{BB962C8B-B14F-4D97-AF65-F5344CB8AC3E}">
        <p14:creationId xmlns:p14="http://schemas.microsoft.com/office/powerpoint/2010/main" val="925295063"/>
      </p:ext>
    </p:extLst>
  </p:cSld>
</p:sld>
</file>

<file path=ppt/slides/slide12.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73C282-9EE3-4AD4-89E5-CDADCA8CD3D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C5080B5C-3CFA-4A61-87B6-55F06ED7F3BB}"/>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3902462B-9C59-4265-8BFD-772631433628}"/>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GENERATION MECHANICS</a:t>
            </a:r>
          </a:p>
        </p:txBody>
      </p:sp>
      <p:sp>
        <p:nvSpPr>
          <p:cNvPr id="4" name="">
            <a:extLst xmlns:a="http://schemas.openxmlformats.org/drawingml/2006/main">
              <a:ext uri="{FF2B5EF4-FFF2-40B4-BE49-F238E27FC236}">
                <a16:creationId xmlns:a16="http://schemas.microsoft.com/office/drawing/2014/main" id="{DC69C409-23CF-4F10-BD5A-D4C9CCEF2686}"/>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12</a:t>
            </a:r>
          </a:p>
        </p:txBody>
      </p:sp>
      <p:sp>
        <p:nvSpPr>
          <p:cNvPr id="5" name="">
            <a:extLst xmlns:a="http://schemas.openxmlformats.org/drawingml/2006/main">
              <a:ext uri="{FF2B5EF4-FFF2-40B4-BE49-F238E27FC236}">
                <a16:creationId xmlns:a16="http://schemas.microsoft.com/office/drawing/2014/main" id="{B6202051-FE2F-40EE-A94F-4018E579FEB4}"/>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Autoregressive factorization</a:t>
            </a:r>
          </a:p>
        </p:txBody>
      </p:sp>
      <p:sp>
        <p:nvSpPr>
          <p:cNvPr id="6" name="">
            <a:extLst xmlns:a="http://schemas.openxmlformats.org/drawingml/2006/main">
              <a:ext uri="{FF2B5EF4-FFF2-40B4-BE49-F238E27FC236}">
                <a16:creationId xmlns:a16="http://schemas.microsoft.com/office/drawing/2014/main" id="{44F8803B-CF8D-4330-ACDE-30439BA6DED9}"/>
              </a:ext>
            </a:extLst>
          </p:cNvPr>
          <p:cNvSpPr>
            <a:spLocks xmlns:a="http://schemas.openxmlformats.org/drawingml/2006/main" noGrp="1"/>
          </p:cNvSpPr>
          <p:nvPr/>
        </p:nvSpPr>
        <p:spPr>
          <a:xfrm xmlns:a="http://schemas.openxmlformats.org/drawingml/2006/main">
            <a:off x="523875" y="1428750"/>
            <a:ext cx="4953000" cy="3143250"/>
          </a:xfrm>
          <a:prstGeom xmlns:a="http://schemas.openxmlformats.org/drawingml/2006/main" prst="rect">
            <a:avLst/>
          </a:prstGeom>
          <a:solidFill xmlns:a="http://schemas.openxmlformats.org/drawingml/2006/main">
            <a:srgbClr val="F3E9D1"/>
          </a:solidFill>
          <a:ln xmlns:a="http://schemas.openxmlformats.org/drawingml/2006/main" w="9525">
            <a:solidFill>
              <a:srgbClr val="F4B740"/>
            </a:solidFill>
          </a:ln>
        </p:spPr>
      </p:sp>
      <p:sp>
        <p:nvSpPr>
          <p:cNvPr id="7" name="">
            <a:extLst xmlns:a="http://schemas.openxmlformats.org/drawingml/2006/main">
              <a:ext uri="{FF2B5EF4-FFF2-40B4-BE49-F238E27FC236}">
                <a16:creationId xmlns:a16="http://schemas.microsoft.com/office/drawing/2014/main" id="{09D8343A-4AE6-4393-9CA8-CEC3FB744DE8}"/>
              </a:ext>
            </a:extLst>
          </p:cNvPr>
          <p:cNvSpPr>
            <a:spLocks xmlns:a="http://schemas.openxmlformats.org/drawingml/2006/main" noGrp="1"/>
          </p:cNvSpPr>
          <p:nvPr/>
        </p:nvSpPr>
        <p:spPr>
          <a:xfrm xmlns:a="http://schemas.openxmlformats.org/drawingml/2006/main">
            <a:off x="809625" y="2143125"/>
            <a:ext cx="4381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2212D"/>
                </a:solidFill>
                <a:latin typeface="Calibri"/>
                <a:ea typeface="Calibri"/>
                <a:cs typeface="Calibri"/>
              </a:defRPr>
            </a:pPr>
            <a:r>
              <a:rPr sz="2250" b="1">
                <a:solidFill>
                  <a:srgbClr val="12212D"/>
                </a:solidFill>
                <a:latin typeface="Calibri"/>
                <a:ea typeface="Calibri"/>
                <a:cs typeface="Calibri"/>
              </a:rPr>
              <a:t>p(x₁,…,xT) = ∏ p(xt | x₁,…,xt−1)</a:t>
            </a:r>
          </a:p>
        </p:txBody>
      </p:sp>
      <p:sp>
        <p:nvSpPr>
          <p:cNvPr id="8" name="">
            <a:extLst xmlns:a="http://schemas.openxmlformats.org/drawingml/2006/main">
              <a:ext uri="{FF2B5EF4-FFF2-40B4-BE49-F238E27FC236}">
                <a16:creationId xmlns:a16="http://schemas.microsoft.com/office/drawing/2014/main" id="{944A05B6-9A5E-46FB-8F0A-18433929E81D}"/>
              </a:ext>
            </a:extLst>
          </p:cNvPr>
          <p:cNvSpPr>
            <a:spLocks xmlns:a="http://schemas.openxmlformats.org/drawingml/2006/main" noGrp="1"/>
          </p:cNvSpPr>
          <p:nvPr/>
        </p:nvSpPr>
        <p:spPr>
          <a:xfrm xmlns:a="http://schemas.openxmlformats.org/drawingml/2006/main">
            <a:off x="5810250" y="1428750"/>
            <a:ext cx="5857875" cy="314325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9" name="">
            <a:extLst xmlns:a="http://schemas.openxmlformats.org/drawingml/2006/main">
              <a:ext uri="{FF2B5EF4-FFF2-40B4-BE49-F238E27FC236}">
                <a16:creationId xmlns:a16="http://schemas.microsoft.com/office/drawing/2014/main" id="{0ABE29BF-F1BE-43A1-83B0-47A17E101D97}"/>
              </a:ext>
            </a:extLst>
          </p:cNvPr>
          <p:cNvSpPr>
            <a:spLocks xmlns:a="http://schemas.openxmlformats.org/drawingml/2006/main" noGrp="1"/>
          </p:cNvSpPr>
          <p:nvPr/>
        </p:nvSpPr>
        <p:spPr>
          <a:xfrm xmlns:a="http://schemas.openxmlformats.org/drawingml/2006/main">
            <a:off x="6048375" y="16668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REPEATED CONDITIONAL PREDICTION</a:t>
            </a:r>
          </a:p>
        </p:txBody>
      </p:sp>
      <p:sp>
        <p:nvSpPr>
          <p:cNvPr id="10" name="">
            <a:extLst xmlns:a="http://schemas.openxmlformats.org/drawingml/2006/main">
              <a:ext uri="{FF2B5EF4-FFF2-40B4-BE49-F238E27FC236}">
                <a16:creationId xmlns:a16="http://schemas.microsoft.com/office/drawing/2014/main" id="{A8C1A336-C90A-4E9E-9779-D9B1CAFCFE5F}"/>
              </a:ext>
            </a:extLst>
          </p:cNvPr>
          <p:cNvSpPr>
            <a:spLocks xmlns:a="http://schemas.openxmlformats.org/drawingml/2006/main" noGrp="1"/>
          </p:cNvSpPr>
          <p:nvPr/>
        </p:nvSpPr>
        <p:spPr>
          <a:xfrm xmlns:a="http://schemas.openxmlformats.org/drawingml/2006/main">
            <a:off x="6048375" y="2190750"/>
            <a:ext cx="5381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5FAFC"/>
                </a:solidFill>
                <a:latin typeface="Calibri"/>
                <a:ea typeface="Calibri"/>
                <a:cs typeface="Calibri"/>
              </a:defRPr>
            </a:pPr>
            <a:r>
              <a:rPr sz="1575" b="0">
                <a:solidFill>
                  <a:srgbClr val="F5FAFC"/>
                </a:solidFill>
                <a:latin typeface="Calibri"/>
                <a:ea typeface="Calibri"/>
                <a:cs typeface="Calibri"/>
              </a:rPr>
              <a:t>At each step, the model assigns probabilities to possible next tokens, selects one and extends the retained context.</a:t>
            </a:r>
          </a:p>
        </p:txBody>
      </p:sp>
      <p:sp>
        <p:nvSpPr>
          <p:cNvPr id="11" name="">
            <a:extLst xmlns:a="http://schemas.openxmlformats.org/drawingml/2006/main">
              <a:ext uri="{FF2B5EF4-FFF2-40B4-BE49-F238E27FC236}">
                <a16:creationId xmlns:a16="http://schemas.microsoft.com/office/drawing/2014/main" id="{FE491219-976D-4B3B-8F58-530077A76126}"/>
              </a:ext>
            </a:extLst>
          </p:cNvPr>
          <p:cNvSpPr>
            <a:spLocks xmlns:a="http://schemas.openxmlformats.org/drawingml/2006/main" noGrp="1"/>
          </p:cNvSpPr>
          <p:nvPr/>
        </p:nvSpPr>
        <p:spPr>
          <a:xfrm xmlns:a="http://schemas.openxmlformats.org/drawingml/2006/main">
            <a:off x="666750" y="5286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4B740"/>
                </a:solidFill>
                <a:latin typeface="Calibri"/>
                <a:ea typeface="Calibri"/>
                <a:cs typeface="Calibri"/>
              </a:defRPr>
            </a:pPr>
            <a:r>
              <a:rPr sz="1275" b="1">
                <a:solidFill>
                  <a:srgbClr val="F4B740"/>
                </a:solidFill>
                <a:latin typeface="Calibri"/>
                <a:ea typeface="Calibri"/>
                <a:cs typeface="Calibri"/>
              </a:rPr>
              <a:t>High probability measures compatibility with model and context, not truth</a:t>
            </a:r>
          </a:p>
        </p:txBody>
      </p:sp>
    </p:spTree>
    <p:extLst>
      <p:ext uri="{BB962C8B-B14F-4D97-AF65-F5344CB8AC3E}">
        <p14:creationId xmlns:p14="http://schemas.microsoft.com/office/powerpoint/2010/main" val="1843348997"/>
      </p:ext>
    </p:extLst>
  </p:cSld>
</p:sld>
</file>

<file path=ppt/slides/slide13.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08EFFB8-CC11-4007-807C-EB6D698DBB02}"/>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8E6993EE-455F-4BF9-A2EF-009E7C452AF7}"/>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C9E5DE10-A1FF-40F9-AF84-C325A8B522E4}"/>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GENERATION MECHANICS</a:t>
            </a:r>
          </a:p>
        </p:txBody>
      </p:sp>
      <p:sp>
        <p:nvSpPr>
          <p:cNvPr id="4" name="">
            <a:extLst xmlns:a="http://schemas.openxmlformats.org/drawingml/2006/main">
              <a:ext uri="{FF2B5EF4-FFF2-40B4-BE49-F238E27FC236}">
                <a16:creationId xmlns:a16="http://schemas.microsoft.com/office/drawing/2014/main" id="{AA405926-562F-4688-87AD-B7FEA1DFD516}"/>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13</a:t>
            </a:r>
          </a:p>
        </p:txBody>
      </p:sp>
      <p:sp>
        <p:nvSpPr>
          <p:cNvPr id="5" name="">
            <a:extLst xmlns:a="http://schemas.openxmlformats.org/drawingml/2006/main">
              <a:ext uri="{FF2B5EF4-FFF2-40B4-BE49-F238E27FC236}">
                <a16:creationId xmlns:a16="http://schemas.microsoft.com/office/drawing/2014/main" id="{6768D70E-DB3A-4D59-AB31-C2AB0C30B2A4}"/>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How a paragraph emerges</a:t>
            </a:r>
          </a:p>
        </p:txBody>
      </p:sp>
      <p:sp>
        <p:nvSpPr>
          <p:cNvPr id="6" name="">
            <a:extLst xmlns:a="http://schemas.openxmlformats.org/drawingml/2006/main">
              <a:ext uri="{FF2B5EF4-FFF2-40B4-BE49-F238E27FC236}">
                <a16:creationId xmlns:a16="http://schemas.microsoft.com/office/drawing/2014/main" id="{0A4AE430-CC4C-4CBB-9BE4-78EC62EE8811}"/>
              </a:ext>
            </a:extLst>
          </p:cNvPr>
          <p:cNvSpPr>
            <a:spLocks xmlns:a="http://schemas.openxmlformats.org/drawingml/2006/main" noGrp="1"/>
          </p:cNvSpPr>
          <p:nvPr/>
        </p:nvSpPr>
        <p:spPr>
          <a:xfrm xmlns:a="http://schemas.openxmlformats.org/drawingml/2006/main">
            <a:off x="7143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9477C997-B61C-4B57-8F57-861627CC4328}"/>
              </a:ext>
            </a:extLst>
          </p:cNvPr>
          <p:cNvSpPr>
            <a:spLocks xmlns:a="http://schemas.openxmlformats.org/drawingml/2006/main" noGrp="1"/>
          </p:cNvSpPr>
          <p:nvPr/>
        </p:nvSpPr>
        <p:spPr>
          <a:xfrm xmlns:a="http://schemas.openxmlformats.org/drawingml/2006/main">
            <a:off x="8667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DFBE9B06-7DBF-4DB9-B1D3-40A063730C11}"/>
              </a:ext>
            </a:extLst>
          </p:cNvPr>
          <p:cNvSpPr>
            <a:spLocks xmlns:a="http://schemas.openxmlformats.org/drawingml/2006/main" noGrp="1"/>
          </p:cNvSpPr>
          <p:nvPr/>
        </p:nvSpPr>
        <p:spPr>
          <a:xfrm xmlns:a="http://schemas.openxmlformats.org/drawingml/2006/main">
            <a:off x="8667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Context</a:t>
            </a:r>
          </a:p>
        </p:txBody>
      </p:sp>
      <p:sp>
        <p:nvSpPr>
          <p:cNvPr id="9" name="">
            <a:extLst xmlns:a="http://schemas.openxmlformats.org/drawingml/2006/main">
              <a:ext uri="{FF2B5EF4-FFF2-40B4-BE49-F238E27FC236}">
                <a16:creationId xmlns:a16="http://schemas.microsoft.com/office/drawing/2014/main" id="{4B1CC280-2107-49B2-89EF-89B0C83E162B}"/>
              </a:ext>
            </a:extLst>
          </p:cNvPr>
          <p:cNvSpPr>
            <a:spLocks xmlns:a="http://schemas.openxmlformats.org/drawingml/2006/main" noGrp="1"/>
          </p:cNvSpPr>
          <p:nvPr/>
        </p:nvSpPr>
        <p:spPr>
          <a:xfrm xmlns:a="http://schemas.openxmlformats.org/drawingml/2006/main">
            <a:off x="8667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Retained tokens</a:t>
            </a:r>
          </a:p>
        </p:txBody>
      </p:sp>
      <p:sp>
        <p:nvSpPr>
          <p:cNvPr id="10" name="">
            <a:extLst xmlns:a="http://schemas.openxmlformats.org/drawingml/2006/main">
              <a:ext uri="{FF2B5EF4-FFF2-40B4-BE49-F238E27FC236}">
                <a16:creationId xmlns:a16="http://schemas.microsoft.com/office/drawing/2014/main" id="{A579B431-42F9-4CF2-98BB-E10533F90DD3}"/>
              </a:ext>
            </a:extLst>
          </p:cNvPr>
          <p:cNvSpPr>
            <a:spLocks xmlns:a="http://schemas.openxmlformats.org/drawingml/2006/main" noGrp="1"/>
          </p:cNvSpPr>
          <p:nvPr/>
        </p:nvSpPr>
        <p:spPr>
          <a:xfrm xmlns:a="http://schemas.openxmlformats.org/drawingml/2006/main">
            <a:off x="34385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1" name="">
            <a:extLst xmlns:a="http://schemas.openxmlformats.org/drawingml/2006/main">
              <a:ext uri="{FF2B5EF4-FFF2-40B4-BE49-F238E27FC236}">
                <a16:creationId xmlns:a16="http://schemas.microsoft.com/office/drawing/2014/main" id="{CB1FCEA4-DC82-4D0A-A97E-A967F2C6247D}"/>
              </a:ext>
            </a:extLst>
          </p:cNvPr>
          <p:cNvSpPr>
            <a:spLocks xmlns:a="http://schemas.openxmlformats.org/drawingml/2006/main" noGrp="1"/>
          </p:cNvSpPr>
          <p:nvPr/>
        </p:nvSpPr>
        <p:spPr>
          <a:xfrm xmlns:a="http://schemas.openxmlformats.org/drawingml/2006/main">
            <a:off x="35909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1F3848D7-B911-47E7-835A-E3A11B682EB4}"/>
              </a:ext>
            </a:extLst>
          </p:cNvPr>
          <p:cNvSpPr>
            <a:spLocks xmlns:a="http://schemas.openxmlformats.org/drawingml/2006/main" noGrp="1"/>
          </p:cNvSpPr>
          <p:nvPr/>
        </p:nvSpPr>
        <p:spPr>
          <a:xfrm xmlns:a="http://schemas.openxmlformats.org/drawingml/2006/main">
            <a:off x="35909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Distribution</a:t>
            </a:r>
          </a:p>
        </p:txBody>
      </p:sp>
      <p:sp>
        <p:nvSpPr>
          <p:cNvPr id="13" name="">
            <a:extLst xmlns:a="http://schemas.openxmlformats.org/drawingml/2006/main">
              <a:ext uri="{FF2B5EF4-FFF2-40B4-BE49-F238E27FC236}">
                <a16:creationId xmlns:a16="http://schemas.microsoft.com/office/drawing/2014/main" id="{41DC43FB-CC36-434E-B15C-4CA4AA28B553}"/>
              </a:ext>
            </a:extLst>
          </p:cNvPr>
          <p:cNvSpPr>
            <a:spLocks xmlns:a="http://schemas.openxmlformats.org/drawingml/2006/main" noGrp="1"/>
          </p:cNvSpPr>
          <p:nvPr/>
        </p:nvSpPr>
        <p:spPr>
          <a:xfrm xmlns:a="http://schemas.openxmlformats.org/drawingml/2006/main">
            <a:off x="35909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Next-token probabilities</a:t>
            </a:r>
          </a:p>
        </p:txBody>
      </p:sp>
      <p:sp>
        <p:nvSpPr>
          <p:cNvPr id="14" name="">
            <a:extLst xmlns:a="http://schemas.openxmlformats.org/drawingml/2006/main">
              <a:ext uri="{FF2B5EF4-FFF2-40B4-BE49-F238E27FC236}">
                <a16:creationId xmlns:a16="http://schemas.microsoft.com/office/drawing/2014/main" id="{2CD9C14D-AF10-4CCA-91BF-ED78C94C8EDD}"/>
              </a:ext>
            </a:extLst>
          </p:cNvPr>
          <p:cNvSpPr>
            <a:spLocks xmlns:a="http://schemas.openxmlformats.org/drawingml/2006/main" noGrp="1"/>
          </p:cNvSpPr>
          <p:nvPr/>
        </p:nvSpPr>
        <p:spPr>
          <a:xfrm xmlns:a="http://schemas.openxmlformats.org/drawingml/2006/main">
            <a:off x="61626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5" name="">
            <a:extLst xmlns:a="http://schemas.openxmlformats.org/drawingml/2006/main">
              <a:ext uri="{FF2B5EF4-FFF2-40B4-BE49-F238E27FC236}">
                <a16:creationId xmlns:a16="http://schemas.microsoft.com/office/drawing/2014/main" id="{ABEE1032-C659-40A8-A95C-7066F99C117C}"/>
              </a:ext>
            </a:extLst>
          </p:cNvPr>
          <p:cNvSpPr>
            <a:spLocks xmlns:a="http://schemas.openxmlformats.org/drawingml/2006/main" noGrp="1"/>
          </p:cNvSpPr>
          <p:nvPr/>
        </p:nvSpPr>
        <p:spPr>
          <a:xfrm xmlns:a="http://schemas.openxmlformats.org/drawingml/2006/main">
            <a:off x="63150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03</a:t>
            </a:r>
          </a:p>
        </p:txBody>
      </p:sp>
      <p:sp>
        <p:nvSpPr>
          <p:cNvPr id="16" name="">
            <a:extLst xmlns:a="http://schemas.openxmlformats.org/drawingml/2006/main">
              <a:ext uri="{FF2B5EF4-FFF2-40B4-BE49-F238E27FC236}">
                <a16:creationId xmlns:a16="http://schemas.microsoft.com/office/drawing/2014/main" id="{9CFAC31A-1114-4F07-9E61-03C6B2A231D2}"/>
              </a:ext>
            </a:extLst>
          </p:cNvPr>
          <p:cNvSpPr>
            <a:spLocks xmlns:a="http://schemas.openxmlformats.org/drawingml/2006/main" noGrp="1"/>
          </p:cNvSpPr>
          <p:nvPr/>
        </p:nvSpPr>
        <p:spPr>
          <a:xfrm xmlns:a="http://schemas.openxmlformats.org/drawingml/2006/main">
            <a:off x="63150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Selection</a:t>
            </a:r>
          </a:p>
        </p:txBody>
      </p:sp>
      <p:sp>
        <p:nvSpPr>
          <p:cNvPr id="17" name="">
            <a:extLst xmlns:a="http://schemas.openxmlformats.org/drawingml/2006/main">
              <a:ext uri="{FF2B5EF4-FFF2-40B4-BE49-F238E27FC236}">
                <a16:creationId xmlns:a16="http://schemas.microsoft.com/office/drawing/2014/main" id="{047F741E-BABC-4A4E-AEEE-5D91A33944D5}"/>
              </a:ext>
            </a:extLst>
          </p:cNvPr>
          <p:cNvSpPr>
            <a:spLocks xmlns:a="http://schemas.openxmlformats.org/drawingml/2006/main" noGrp="1"/>
          </p:cNvSpPr>
          <p:nvPr/>
        </p:nvSpPr>
        <p:spPr>
          <a:xfrm xmlns:a="http://schemas.openxmlformats.org/drawingml/2006/main">
            <a:off x="63150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Decoding policy</a:t>
            </a:r>
          </a:p>
        </p:txBody>
      </p:sp>
      <p:sp>
        <p:nvSpPr>
          <p:cNvPr id="18" name="">
            <a:extLst xmlns:a="http://schemas.openxmlformats.org/drawingml/2006/main">
              <a:ext uri="{FF2B5EF4-FFF2-40B4-BE49-F238E27FC236}">
                <a16:creationId xmlns:a16="http://schemas.microsoft.com/office/drawing/2014/main" id="{24B7EDEB-DD47-4BB6-AB47-6F78375F7820}"/>
              </a:ext>
            </a:extLst>
          </p:cNvPr>
          <p:cNvSpPr>
            <a:spLocks xmlns:a="http://schemas.openxmlformats.org/drawingml/2006/main" noGrp="1"/>
          </p:cNvSpPr>
          <p:nvPr/>
        </p:nvSpPr>
        <p:spPr>
          <a:xfrm xmlns:a="http://schemas.openxmlformats.org/drawingml/2006/main">
            <a:off x="88868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F4B740"/>
            </a:solidFill>
          </a:ln>
        </p:spPr>
      </p:sp>
      <p:sp>
        <p:nvSpPr>
          <p:cNvPr id="19" name="">
            <a:extLst xmlns:a="http://schemas.openxmlformats.org/drawingml/2006/main">
              <a:ext uri="{FF2B5EF4-FFF2-40B4-BE49-F238E27FC236}">
                <a16:creationId xmlns:a16="http://schemas.microsoft.com/office/drawing/2014/main" id="{0FDA4486-CB7F-42CA-ADC2-022C92367839}"/>
              </a:ext>
            </a:extLst>
          </p:cNvPr>
          <p:cNvSpPr>
            <a:spLocks xmlns:a="http://schemas.openxmlformats.org/drawingml/2006/main" noGrp="1"/>
          </p:cNvSpPr>
          <p:nvPr/>
        </p:nvSpPr>
        <p:spPr>
          <a:xfrm xmlns:a="http://schemas.openxmlformats.org/drawingml/2006/main">
            <a:off x="90392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4B740"/>
                </a:solidFill>
                <a:latin typeface="Calibri"/>
                <a:ea typeface="Calibri"/>
                <a:cs typeface="Calibri"/>
              </a:defRPr>
            </a:pPr>
            <a:r>
              <a:rPr sz="1650" b="1">
                <a:solidFill>
                  <a:srgbClr val="F4B740"/>
                </a:solidFill>
                <a:latin typeface="Calibri"/>
                <a:ea typeface="Calibri"/>
                <a:cs typeface="Calibri"/>
              </a:rPr>
              <a:t>04</a:t>
            </a:r>
          </a:p>
        </p:txBody>
      </p:sp>
      <p:sp>
        <p:nvSpPr>
          <p:cNvPr id="20" name="">
            <a:extLst xmlns:a="http://schemas.openxmlformats.org/drawingml/2006/main">
              <a:ext uri="{FF2B5EF4-FFF2-40B4-BE49-F238E27FC236}">
                <a16:creationId xmlns:a16="http://schemas.microsoft.com/office/drawing/2014/main" id="{D607DA89-28A9-408D-A8C0-6A526D42BB97}"/>
              </a:ext>
            </a:extLst>
          </p:cNvPr>
          <p:cNvSpPr>
            <a:spLocks xmlns:a="http://schemas.openxmlformats.org/drawingml/2006/main" noGrp="1"/>
          </p:cNvSpPr>
          <p:nvPr/>
        </p:nvSpPr>
        <p:spPr>
          <a:xfrm xmlns:a="http://schemas.openxmlformats.org/drawingml/2006/main">
            <a:off x="90392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Repeat</a:t>
            </a:r>
          </a:p>
        </p:txBody>
      </p:sp>
      <p:sp>
        <p:nvSpPr>
          <p:cNvPr id="21" name="">
            <a:extLst xmlns:a="http://schemas.openxmlformats.org/drawingml/2006/main">
              <a:ext uri="{FF2B5EF4-FFF2-40B4-BE49-F238E27FC236}">
                <a16:creationId xmlns:a16="http://schemas.microsoft.com/office/drawing/2014/main" id="{C5914D03-98A3-4521-A3F8-D06114DE1024}"/>
              </a:ext>
            </a:extLst>
          </p:cNvPr>
          <p:cNvSpPr>
            <a:spLocks xmlns:a="http://schemas.openxmlformats.org/drawingml/2006/main" noGrp="1"/>
          </p:cNvSpPr>
          <p:nvPr/>
        </p:nvSpPr>
        <p:spPr>
          <a:xfrm xmlns:a="http://schemas.openxmlformats.org/drawingml/2006/main">
            <a:off x="90392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Append and calculate again</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33051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602932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7534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sp>
        <p:nvSpPr>
          <p:cNvPr id="25" name="">
            <a:extLst xmlns:a="http://schemas.openxmlformats.org/drawingml/2006/main">
              <a:ext uri="{FF2B5EF4-FFF2-40B4-BE49-F238E27FC236}">
                <a16:creationId xmlns:a16="http://schemas.microsoft.com/office/drawing/2014/main" id="{CFE2285C-AE69-4F01-BE14-84CDC32CB355}"/>
              </a:ext>
            </a:extLst>
          </p:cNvPr>
          <p:cNvSpPr>
            <a:spLocks xmlns:a="http://schemas.openxmlformats.org/drawingml/2006/main" noGrp="1"/>
          </p:cNvSpPr>
          <p:nvPr/>
        </p:nvSpPr>
        <p:spPr>
          <a:xfrm xmlns:a="http://schemas.openxmlformats.org/drawingml/2006/main">
            <a:off x="66675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4B740"/>
                </a:solidFill>
                <a:latin typeface="Calibri"/>
                <a:ea typeface="Calibri"/>
                <a:cs typeface="Calibri"/>
              </a:defRPr>
            </a:pPr>
            <a:r>
              <a:rPr sz="1350" b="1">
                <a:solidFill>
                  <a:srgbClr val="F4B740"/>
                </a:solidFill>
                <a:latin typeface="Calibri"/>
                <a:ea typeface="Calibri"/>
                <a:cs typeface="Calibri"/>
              </a:rPr>
              <a:t>Complex prose emerges from many local conditional steps</a:t>
            </a:r>
          </a:p>
        </p:txBody>
      </p:sp>
    </p:spTree>
    <p:extLst>
      <p:ext uri="{BB962C8B-B14F-4D97-AF65-F5344CB8AC3E}">
        <p14:creationId xmlns:p14="http://schemas.microsoft.com/office/powerpoint/2010/main" val="1811414881"/>
      </p:ext>
    </p:extLst>
  </p:cSld>
</p:sld>
</file>

<file path=ppt/slides/slide14.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E25545E-3BD7-49B2-8C45-3EE948C5ED48}"/>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396BA7BD-3199-4ACB-B24C-A8A8312D582C}"/>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288E0BC7-25A2-4364-97CC-9630EBA2B5FE}"/>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MODEL LIFECYCLE</a:t>
            </a:r>
          </a:p>
        </p:txBody>
      </p:sp>
      <p:sp>
        <p:nvSpPr>
          <p:cNvPr id="4" name="">
            <a:extLst xmlns:a="http://schemas.openxmlformats.org/drawingml/2006/main">
              <a:ext uri="{FF2B5EF4-FFF2-40B4-BE49-F238E27FC236}">
                <a16:creationId xmlns:a16="http://schemas.microsoft.com/office/drawing/2014/main" id="{4C4B9603-F333-41BD-A3E2-941845348BBF}"/>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14</a:t>
            </a:r>
          </a:p>
        </p:txBody>
      </p:sp>
      <p:sp>
        <p:nvSpPr>
          <p:cNvPr id="5" name="">
            <a:extLst xmlns:a="http://schemas.openxmlformats.org/drawingml/2006/main">
              <a:ext uri="{FF2B5EF4-FFF2-40B4-BE49-F238E27FC236}">
                <a16:creationId xmlns:a16="http://schemas.microsoft.com/office/drawing/2014/main" id="{02E65581-B40D-44A2-9E1E-0E971815BFF4}"/>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Pretraining and parameters</a:t>
            </a:r>
          </a:p>
        </p:txBody>
      </p:sp>
      <p:sp>
        <p:nvSpPr>
          <p:cNvPr id="6" name="">
            <a:extLst xmlns:a="http://schemas.openxmlformats.org/drawingml/2006/main">
              <a:ext uri="{FF2B5EF4-FFF2-40B4-BE49-F238E27FC236}">
                <a16:creationId xmlns:a16="http://schemas.microsoft.com/office/drawing/2014/main" id="{0CFC1BDA-7192-4396-9FC7-0743ED87937A}"/>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AE1C7C7A-E12B-4183-83A9-BA03ACE3C2D1}"/>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DATA</a:t>
            </a:r>
          </a:p>
        </p:txBody>
      </p:sp>
      <p:sp>
        <p:nvSpPr>
          <p:cNvPr id="8" name="">
            <a:extLst xmlns:a="http://schemas.openxmlformats.org/drawingml/2006/main">
              <a:ext uri="{FF2B5EF4-FFF2-40B4-BE49-F238E27FC236}">
                <a16:creationId xmlns:a16="http://schemas.microsoft.com/office/drawing/2014/main" id="{B2E54537-0D9E-4B27-8586-61666E61432C}"/>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Examples, filtering, rights and exclusions</a:t>
            </a:r>
          </a:p>
        </p:txBody>
      </p:sp>
      <p:sp>
        <p:nvSpPr>
          <p:cNvPr id="9" name="">
            <a:extLst xmlns:a="http://schemas.openxmlformats.org/drawingml/2006/main">
              <a:ext uri="{FF2B5EF4-FFF2-40B4-BE49-F238E27FC236}">
                <a16:creationId xmlns:a16="http://schemas.microsoft.com/office/drawing/2014/main" id="{CFF34A5F-A263-4542-9FF7-64F6939CA599}"/>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6D9BA252-14EC-4D08-80F1-6A7BF5BEBE3D}"/>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OBJECTIVE</a:t>
            </a:r>
          </a:p>
        </p:txBody>
      </p:sp>
      <p:sp>
        <p:nvSpPr>
          <p:cNvPr id="11" name="">
            <a:extLst xmlns:a="http://schemas.openxmlformats.org/drawingml/2006/main">
              <a:ext uri="{FF2B5EF4-FFF2-40B4-BE49-F238E27FC236}">
                <a16:creationId xmlns:a16="http://schemas.microsoft.com/office/drawing/2014/main" id="{C37E5322-F78C-4311-8CDD-0E530588306D}"/>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Predictive loss over sequences</a:t>
            </a:r>
          </a:p>
        </p:txBody>
      </p:sp>
      <p:sp>
        <p:nvSpPr>
          <p:cNvPr id="12" name="">
            <a:extLst xmlns:a="http://schemas.openxmlformats.org/drawingml/2006/main">
              <a:ext uri="{FF2B5EF4-FFF2-40B4-BE49-F238E27FC236}">
                <a16:creationId xmlns:a16="http://schemas.microsoft.com/office/drawing/2014/main" id="{42E6EA97-1AEB-4BAF-89ED-68B99012E68D}"/>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DB617D3D-2002-4533-A973-CCB85939EEA8}"/>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PARAMETERS</a:t>
            </a:r>
          </a:p>
        </p:txBody>
      </p:sp>
      <p:sp>
        <p:nvSpPr>
          <p:cNvPr id="14" name="">
            <a:extLst xmlns:a="http://schemas.openxmlformats.org/drawingml/2006/main">
              <a:ext uri="{FF2B5EF4-FFF2-40B4-BE49-F238E27FC236}">
                <a16:creationId xmlns:a16="http://schemas.microsoft.com/office/drawing/2014/main" id="{51286E76-421B-454B-8914-FB0A7B3E6A39}"/>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Learned statistical structure</a:t>
            </a:r>
          </a:p>
        </p:txBody>
      </p:sp>
      <p:sp>
        <p:nvSpPr>
          <p:cNvPr id="15" name="">
            <a:extLst xmlns:a="http://schemas.openxmlformats.org/drawingml/2006/main">
              <a:ext uri="{FF2B5EF4-FFF2-40B4-BE49-F238E27FC236}">
                <a16:creationId xmlns:a16="http://schemas.microsoft.com/office/drawing/2014/main" id="{1CA92F2E-1506-4307-827D-559E6F8DCB3B}"/>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1B1FFB1F-0D46-4F7F-AB26-8EB5D018F0C5}"/>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BOUNDARY</a:t>
            </a:r>
          </a:p>
        </p:txBody>
      </p:sp>
      <p:sp>
        <p:nvSpPr>
          <p:cNvPr id="17" name="">
            <a:extLst xmlns:a="http://schemas.openxmlformats.org/drawingml/2006/main">
              <a:ext uri="{FF2B5EF4-FFF2-40B4-BE49-F238E27FC236}">
                <a16:creationId xmlns:a16="http://schemas.microsoft.com/office/drawing/2014/main" id="{5878505E-8AA9-4753-B172-D0A6C47E5639}"/>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No transparent catalogue of source documents</a:t>
            </a:r>
          </a:p>
        </p:txBody>
      </p:sp>
      <p:sp>
        <p:nvSpPr>
          <p:cNvPr id="18" name="">
            <a:extLst xmlns:a="http://schemas.openxmlformats.org/drawingml/2006/main">
              <a:ext uri="{FF2B5EF4-FFF2-40B4-BE49-F238E27FC236}">
                <a16:creationId xmlns:a16="http://schemas.microsoft.com/office/drawing/2014/main" id="{D9B1A59E-FC2F-47E6-82F4-81B35ECA3E74}"/>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Training exposure does not provide current claim-level provenance</a:t>
            </a:r>
          </a:p>
        </p:txBody>
      </p:sp>
    </p:spTree>
    <p:extLst>
      <p:ext uri="{BB962C8B-B14F-4D97-AF65-F5344CB8AC3E}">
        <p14:creationId xmlns:p14="http://schemas.microsoft.com/office/powerpoint/2010/main" val="1752189147"/>
      </p:ext>
    </p:extLst>
  </p:cSld>
</p:sld>
</file>

<file path=ppt/slides/slide15.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71504A8-A307-4A1A-80B0-646B5958DBB2}"/>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A8B386DB-417E-45B3-A0FC-942C8F36DA24}"/>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2F2EA7AC-15F6-40E8-9D97-E24903281DF4}"/>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MODEL LIFECYCLE</a:t>
            </a:r>
          </a:p>
        </p:txBody>
      </p:sp>
      <p:sp>
        <p:nvSpPr>
          <p:cNvPr id="4" name="">
            <a:extLst xmlns:a="http://schemas.openxmlformats.org/drawingml/2006/main">
              <a:ext uri="{FF2B5EF4-FFF2-40B4-BE49-F238E27FC236}">
                <a16:creationId xmlns:a16="http://schemas.microsoft.com/office/drawing/2014/main" id="{254ADB50-BE82-4963-B9C6-BD0FE9ACE0E3}"/>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15</a:t>
            </a:r>
          </a:p>
        </p:txBody>
      </p:sp>
      <p:sp>
        <p:nvSpPr>
          <p:cNvPr id="5" name="">
            <a:extLst xmlns:a="http://schemas.openxmlformats.org/drawingml/2006/main">
              <a:ext uri="{FF2B5EF4-FFF2-40B4-BE49-F238E27FC236}">
                <a16:creationId xmlns:a16="http://schemas.microsoft.com/office/drawing/2014/main" id="{DDC61138-2135-4D80-A09F-19EFCCD0DEE7}"/>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Instruction tuning and adaptation</a:t>
            </a:r>
          </a:p>
        </p:txBody>
      </p:sp>
      <p:sp>
        <p:nvSpPr>
          <p:cNvPr id="6" name="">
            <a:extLst xmlns:a="http://schemas.openxmlformats.org/drawingml/2006/main">
              <a:ext uri="{FF2B5EF4-FFF2-40B4-BE49-F238E27FC236}">
                <a16:creationId xmlns:a16="http://schemas.microsoft.com/office/drawing/2014/main" id="{52A54BC6-5684-4674-868F-88DB56252FA6}"/>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5C33DA39-DDE3-42DB-A4B8-4B004C2DBD71}"/>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PROMPTING</a:t>
            </a:r>
          </a:p>
        </p:txBody>
      </p:sp>
      <p:sp>
        <p:nvSpPr>
          <p:cNvPr id="8" name="">
            <a:extLst xmlns:a="http://schemas.openxmlformats.org/drawingml/2006/main">
              <a:ext uri="{FF2B5EF4-FFF2-40B4-BE49-F238E27FC236}">
                <a16:creationId xmlns:a16="http://schemas.microsoft.com/office/drawing/2014/main" id="{D5A24BE8-D9D5-4EEE-9945-C654B1C054DB}"/>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Changes current instructions and context</a:t>
            </a:r>
          </a:p>
        </p:txBody>
      </p:sp>
      <p:sp>
        <p:nvSpPr>
          <p:cNvPr id="9" name="">
            <a:extLst xmlns:a="http://schemas.openxmlformats.org/drawingml/2006/main">
              <a:ext uri="{FF2B5EF4-FFF2-40B4-BE49-F238E27FC236}">
                <a16:creationId xmlns:a16="http://schemas.microsoft.com/office/drawing/2014/main" id="{08624E29-FA81-43A9-9159-F101E67C32C9}"/>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DB4300CF-1648-489E-BBC9-701CAE5A880F}"/>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RETRIEVAL</a:t>
            </a:r>
          </a:p>
        </p:txBody>
      </p:sp>
      <p:sp>
        <p:nvSpPr>
          <p:cNvPr id="11" name="">
            <a:extLst xmlns:a="http://schemas.openxmlformats.org/drawingml/2006/main">
              <a:ext uri="{FF2B5EF4-FFF2-40B4-BE49-F238E27FC236}">
                <a16:creationId xmlns:a16="http://schemas.microsoft.com/office/drawing/2014/main" id="{4A4E6D72-33EC-4759-896D-DD40CB177D2E}"/>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Adds external evidence at inference</a:t>
            </a:r>
          </a:p>
        </p:txBody>
      </p:sp>
      <p:sp>
        <p:nvSpPr>
          <p:cNvPr id="12" name="">
            <a:extLst xmlns:a="http://schemas.openxmlformats.org/drawingml/2006/main">
              <a:ext uri="{FF2B5EF4-FFF2-40B4-BE49-F238E27FC236}">
                <a16:creationId xmlns:a16="http://schemas.microsoft.com/office/drawing/2014/main" id="{8EC80A2C-A99C-4653-A59D-4F6E9BB663FC}"/>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152D5459-0DBA-4632-B18A-BDF5352B5E13}"/>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FINE-TUNING</a:t>
            </a:r>
          </a:p>
        </p:txBody>
      </p:sp>
      <p:sp>
        <p:nvSpPr>
          <p:cNvPr id="14" name="">
            <a:extLst xmlns:a="http://schemas.openxmlformats.org/drawingml/2006/main">
              <a:ext uri="{FF2B5EF4-FFF2-40B4-BE49-F238E27FC236}">
                <a16:creationId xmlns:a16="http://schemas.microsoft.com/office/drawing/2014/main" id="{C239F7B1-F4FF-4C7C-9079-1BD5AAAC91AA}"/>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Updates model parameters</a:t>
            </a:r>
          </a:p>
        </p:txBody>
      </p:sp>
      <p:sp>
        <p:nvSpPr>
          <p:cNvPr id="15" name="">
            <a:extLst xmlns:a="http://schemas.openxmlformats.org/drawingml/2006/main">
              <a:ext uri="{FF2B5EF4-FFF2-40B4-BE49-F238E27FC236}">
                <a16:creationId xmlns:a16="http://schemas.microsoft.com/office/drawing/2014/main" id="{7952FDE7-875B-46D1-98DF-E6B179D47C0D}"/>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CCCC0024-D0D6-4602-BB25-1F7B1CE2A58C}"/>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PREFERENCE METHODS</a:t>
            </a:r>
          </a:p>
        </p:txBody>
      </p:sp>
      <p:sp>
        <p:nvSpPr>
          <p:cNvPr id="17" name="">
            <a:extLst xmlns:a="http://schemas.openxmlformats.org/drawingml/2006/main">
              <a:ext uri="{FF2B5EF4-FFF2-40B4-BE49-F238E27FC236}">
                <a16:creationId xmlns:a16="http://schemas.microsoft.com/office/drawing/2014/main" id="{974B1A00-3D3B-42F4-A148-C1B9C868E88A}"/>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Shape behaviour using comparative signals</a:t>
            </a:r>
          </a:p>
        </p:txBody>
      </p:sp>
      <p:sp>
        <p:nvSpPr>
          <p:cNvPr id="18" name="">
            <a:extLst xmlns:a="http://schemas.openxmlformats.org/drawingml/2006/main">
              <a:ext uri="{FF2B5EF4-FFF2-40B4-BE49-F238E27FC236}">
                <a16:creationId xmlns:a16="http://schemas.microsoft.com/office/drawing/2014/main" id="{AD692621-BD42-47AD-B9FD-1462EDD81A98}"/>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Each method changes a different part of the system</a:t>
            </a:r>
          </a:p>
        </p:txBody>
      </p:sp>
    </p:spTree>
    <p:extLst>
      <p:ext uri="{BB962C8B-B14F-4D97-AF65-F5344CB8AC3E}">
        <p14:creationId xmlns:p14="http://schemas.microsoft.com/office/powerpoint/2010/main" val="1639440835"/>
      </p:ext>
    </p:extLst>
  </p:cSld>
</p:sld>
</file>

<file path=ppt/slides/slide16.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AD0BB7-DE2D-40F3-9AD3-D1B00A45CE7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43B02AFB-5BC6-4ABF-A0D5-1A930D51C097}"/>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41BEE8A9-8A0C-4CBB-AC2C-CB9CA27D6EB3}"/>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GENERATION MECHANICS</a:t>
            </a:r>
          </a:p>
        </p:txBody>
      </p:sp>
      <p:sp>
        <p:nvSpPr>
          <p:cNvPr id="4" name="">
            <a:extLst xmlns:a="http://schemas.openxmlformats.org/drawingml/2006/main">
              <a:ext uri="{FF2B5EF4-FFF2-40B4-BE49-F238E27FC236}">
                <a16:creationId xmlns:a16="http://schemas.microsoft.com/office/drawing/2014/main" id="{5F836C70-939A-4C7D-AEAD-8A804B001CB6}"/>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16</a:t>
            </a:r>
          </a:p>
        </p:txBody>
      </p:sp>
      <p:sp>
        <p:nvSpPr>
          <p:cNvPr id="5" name="">
            <a:extLst xmlns:a="http://schemas.openxmlformats.org/drawingml/2006/main">
              <a:ext uri="{FF2B5EF4-FFF2-40B4-BE49-F238E27FC236}">
                <a16:creationId xmlns:a16="http://schemas.microsoft.com/office/drawing/2014/main" id="{F9E2AE09-B0CE-41FE-BAC4-B67AFB4CEC36}"/>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Scaled dot-product attention</a:t>
            </a:r>
          </a:p>
        </p:txBody>
      </p:sp>
      <p:sp>
        <p:nvSpPr>
          <p:cNvPr id="6" name="">
            <a:extLst xmlns:a="http://schemas.openxmlformats.org/drawingml/2006/main">
              <a:ext uri="{FF2B5EF4-FFF2-40B4-BE49-F238E27FC236}">
                <a16:creationId xmlns:a16="http://schemas.microsoft.com/office/drawing/2014/main" id="{564C6495-DEF5-467B-BE3B-D24C28034E3A}"/>
              </a:ext>
            </a:extLst>
          </p:cNvPr>
          <p:cNvSpPr>
            <a:spLocks xmlns:a="http://schemas.openxmlformats.org/drawingml/2006/main" noGrp="1"/>
          </p:cNvSpPr>
          <p:nvPr/>
        </p:nvSpPr>
        <p:spPr>
          <a:xfrm xmlns:a="http://schemas.openxmlformats.org/drawingml/2006/main">
            <a:off x="523875" y="1428750"/>
            <a:ext cx="4953000" cy="3143250"/>
          </a:xfrm>
          <a:prstGeom xmlns:a="http://schemas.openxmlformats.org/drawingml/2006/main" prst="rect">
            <a:avLst/>
          </a:prstGeom>
          <a:solidFill xmlns:a="http://schemas.openxmlformats.org/drawingml/2006/main">
            <a:srgbClr val="F3E9D1"/>
          </a:solidFill>
          <a:ln xmlns:a="http://schemas.openxmlformats.org/drawingml/2006/main" w="9525">
            <a:solidFill>
              <a:srgbClr val="F4B740"/>
            </a:solidFill>
          </a:ln>
        </p:spPr>
      </p:sp>
      <p:sp>
        <p:nvSpPr>
          <p:cNvPr id="7" name="">
            <a:extLst xmlns:a="http://schemas.openxmlformats.org/drawingml/2006/main">
              <a:ext uri="{FF2B5EF4-FFF2-40B4-BE49-F238E27FC236}">
                <a16:creationId xmlns:a16="http://schemas.microsoft.com/office/drawing/2014/main" id="{D73262E4-D8F8-4F41-841D-8ADA8F66F068}"/>
              </a:ext>
            </a:extLst>
          </p:cNvPr>
          <p:cNvSpPr>
            <a:spLocks xmlns:a="http://schemas.openxmlformats.org/drawingml/2006/main" noGrp="1"/>
          </p:cNvSpPr>
          <p:nvPr/>
        </p:nvSpPr>
        <p:spPr>
          <a:xfrm xmlns:a="http://schemas.openxmlformats.org/drawingml/2006/main">
            <a:off x="809625" y="2143125"/>
            <a:ext cx="4381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2212D"/>
                </a:solidFill>
                <a:latin typeface="Calibri"/>
                <a:ea typeface="Calibri"/>
                <a:cs typeface="Calibri"/>
              </a:defRPr>
            </a:pPr>
            <a:r>
              <a:rPr sz="2250" b="1">
                <a:solidFill>
                  <a:srgbClr val="12212D"/>
                </a:solidFill>
                <a:latin typeface="Calibri"/>
                <a:ea typeface="Calibri"/>
                <a:cs typeface="Calibri"/>
              </a:rPr>
              <a:t>Attention(Q,K,V) = softmax(QKᵀ / √dk)V</a:t>
            </a:r>
          </a:p>
        </p:txBody>
      </p:sp>
      <p:sp>
        <p:nvSpPr>
          <p:cNvPr id="8" name="">
            <a:extLst xmlns:a="http://schemas.openxmlformats.org/drawingml/2006/main">
              <a:ext uri="{FF2B5EF4-FFF2-40B4-BE49-F238E27FC236}">
                <a16:creationId xmlns:a16="http://schemas.microsoft.com/office/drawing/2014/main" id="{E9D4B9A4-587C-47EB-8EE5-B851C0868A6A}"/>
              </a:ext>
            </a:extLst>
          </p:cNvPr>
          <p:cNvSpPr>
            <a:spLocks xmlns:a="http://schemas.openxmlformats.org/drawingml/2006/main" noGrp="1"/>
          </p:cNvSpPr>
          <p:nvPr/>
        </p:nvSpPr>
        <p:spPr>
          <a:xfrm xmlns:a="http://schemas.openxmlformats.org/drawingml/2006/main">
            <a:off x="5810250" y="1428750"/>
            <a:ext cx="5857875" cy="314325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9" name="">
            <a:extLst xmlns:a="http://schemas.openxmlformats.org/drawingml/2006/main">
              <a:ext uri="{FF2B5EF4-FFF2-40B4-BE49-F238E27FC236}">
                <a16:creationId xmlns:a16="http://schemas.microsoft.com/office/drawing/2014/main" id="{94920EE3-6E54-4FE7-AD15-254B04E10D23}"/>
              </a:ext>
            </a:extLst>
          </p:cNvPr>
          <p:cNvSpPr>
            <a:spLocks xmlns:a="http://schemas.openxmlformats.org/drawingml/2006/main" noGrp="1"/>
          </p:cNvSpPr>
          <p:nvPr/>
        </p:nvSpPr>
        <p:spPr>
          <a:xfrm xmlns:a="http://schemas.openxmlformats.org/drawingml/2006/main">
            <a:off x="6048375" y="16668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CONTEXTUAL COMBINATION</a:t>
            </a:r>
          </a:p>
        </p:txBody>
      </p:sp>
      <p:sp>
        <p:nvSpPr>
          <p:cNvPr id="10" name="">
            <a:extLst xmlns:a="http://schemas.openxmlformats.org/drawingml/2006/main">
              <a:ext uri="{FF2B5EF4-FFF2-40B4-BE49-F238E27FC236}">
                <a16:creationId xmlns:a16="http://schemas.microsoft.com/office/drawing/2014/main" id="{0DD7C7E2-919D-48B4-9E15-B0D9B8C57437}"/>
              </a:ext>
            </a:extLst>
          </p:cNvPr>
          <p:cNvSpPr>
            <a:spLocks xmlns:a="http://schemas.openxmlformats.org/drawingml/2006/main" noGrp="1"/>
          </p:cNvSpPr>
          <p:nvPr/>
        </p:nvSpPr>
        <p:spPr>
          <a:xfrm xmlns:a="http://schemas.openxmlformats.org/drawingml/2006/main">
            <a:off x="6048375" y="2190750"/>
            <a:ext cx="5381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5FAFC"/>
                </a:solidFill>
                <a:latin typeface="Calibri"/>
                <a:ea typeface="Calibri"/>
                <a:cs typeface="Calibri"/>
              </a:defRPr>
            </a:pPr>
            <a:r>
              <a:rPr sz="1575" b="0">
                <a:solidFill>
                  <a:srgbClr val="F5FAFC"/>
                </a:solidFill>
                <a:latin typeface="Calibri"/>
                <a:ea typeface="Calibri"/>
                <a:cs typeface="Calibri"/>
              </a:rPr>
              <a:t>Queries match keys. The resulting weights combine value vectors across retained token positions.</a:t>
            </a:r>
          </a:p>
        </p:txBody>
      </p:sp>
      <p:sp>
        <p:nvSpPr>
          <p:cNvPr id="11" name="">
            <a:extLst xmlns:a="http://schemas.openxmlformats.org/drawingml/2006/main">
              <a:ext uri="{FF2B5EF4-FFF2-40B4-BE49-F238E27FC236}">
                <a16:creationId xmlns:a16="http://schemas.microsoft.com/office/drawing/2014/main" id="{84DA03BB-1434-4944-B118-6CEA00987774}"/>
              </a:ext>
            </a:extLst>
          </p:cNvPr>
          <p:cNvSpPr>
            <a:spLocks xmlns:a="http://schemas.openxmlformats.org/drawingml/2006/main" noGrp="1"/>
          </p:cNvSpPr>
          <p:nvPr/>
        </p:nvSpPr>
        <p:spPr>
          <a:xfrm xmlns:a="http://schemas.openxmlformats.org/drawingml/2006/main">
            <a:off x="666750" y="5286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4B740"/>
                </a:solidFill>
                <a:latin typeface="Calibri"/>
                <a:ea typeface="Calibri"/>
                <a:cs typeface="Calibri"/>
              </a:defRPr>
            </a:pPr>
            <a:r>
              <a:rPr sz="1275" b="1">
                <a:solidFill>
                  <a:srgbClr val="F4B740"/>
                </a:solidFill>
                <a:latin typeface="Calibri"/>
                <a:ea typeface="Calibri"/>
                <a:cs typeface="Calibri"/>
              </a:rPr>
              <a:t>Attention supports contextual representation but does not provide factual citations</a:t>
            </a:r>
          </a:p>
        </p:txBody>
      </p:sp>
    </p:spTree>
    <p:extLst>
      <p:ext uri="{BB962C8B-B14F-4D97-AF65-F5344CB8AC3E}">
        <p14:creationId xmlns:p14="http://schemas.microsoft.com/office/powerpoint/2010/main" val="297753372"/>
      </p:ext>
    </p:extLst>
  </p:cSld>
</p:sld>
</file>

<file path=ppt/slides/slide17.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EE8191-B495-4AC2-87C4-402AC9A8D480}"/>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11733704-983E-42BF-9BEC-16494E92D53E}"/>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233EBA5F-83C9-4E79-A4C4-8886981532C7}"/>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TRANSFORMERS</a:t>
            </a:r>
          </a:p>
        </p:txBody>
      </p:sp>
      <p:sp>
        <p:nvSpPr>
          <p:cNvPr id="4" name="">
            <a:extLst xmlns:a="http://schemas.openxmlformats.org/drawingml/2006/main">
              <a:ext uri="{FF2B5EF4-FFF2-40B4-BE49-F238E27FC236}">
                <a16:creationId xmlns:a16="http://schemas.microsoft.com/office/drawing/2014/main" id="{89A69E90-A49D-49AA-9B37-7330F6390A34}"/>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17</a:t>
            </a:r>
          </a:p>
        </p:txBody>
      </p:sp>
      <p:sp>
        <p:nvSpPr>
          <p:cNvPr id="5" name="">
            <a:extLst xmlns:a="http://schemas.openxmlformats.org/drawingml/2006/main">
              <a:ext uri="{FF2B5EF4-FFF2-40B4-BE49-F238E27FC236}">
                <a16:creationId xmlns:a16="http://schemas.microsoft.com/office/drawing/2014/main" id="{FF0AE50B-F446-4569-94C4-3686A27EDF79}"/>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Attention interpretation boundary</a:t>
            </a:r>
          </a:p>
        </p:txBody>
      </p:sp>
      <p:sp>
        <p:nvSpPr>
          <p:cNvPr id="6" name="">
            <a:extLst xmlns:a="http://schemas.openxmlformats.org/drawingml/2006/main">
              <a:ext uri="{FF2B5EF4-FFF2-40B4-BE49-F238E27FC236}">
                <a16:creationId xmlns:a16="http://schemas.microsoft.com/office/drawing/2014/main" id="{B59064E7-6A94-4F14-AB83-450170DF87E2}"/>
              </a:ext>
            </a:extLst>
          </p:cNvPr>
          <p:cNvSpPr>
            <a:spLocks xmlns:a="http://schemas.openxmlformats.org/drawingml/2006/main" noGrp="1"/>
          </p:cNvSpPr>
          <p:nvPr/>
        </p:nvSpPr>
        <p:spPr>
          <a:xfrm xmlns:a="http://schemas.openxmlformats.org/drawingml/2006/main">
            <a:off x="5143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3D34B533-B962-4F53-9529-EA775715E1C0}"/>
              </a:ext>
            </a:extLst>
          </p:cNvPr>
          <p:cNvSpPr>
            <a:spLocks xmlns:a="http://schemas.openxmlformats.org/drawingml/2006/main" noGrp="1"/>
          </p:cNvSpPr>
          <p:nvPr/>
        </p:nvSpPr>
        <p:spPr>
          <a:xfrm xmlns:a="http://schemas.openxmlformats.org/drawingml/2006/main">
            <a:off x="6858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VALID</a:t>
            </a:r>
          </a:p>
        </p:txBody>
      </p:sp>
      <p:sp>
        <p:nvSpPr>
          <p:cNvPr id="8" name="">
            <a:extLst xmlns:a="http://schemas.openxmlformats.org/drawingml/2006/main">
              <a:ext uri="{FF2B5EF4-FFF2-40B4-BE49-F238E27FC236}">
                <a16:creationId xmlns:a16="http://schemas.microsoft.com/office/drawing/2014/main" id="{25DBFA2F-D380-4BB3-8051-55397D7106AB}"/>
              </a:ext>
            </a:extLst>
          </p:cNvPr>
          <p:cNvSpPr>
            <a:spLocks xmlns:a="http://schemas.openxmlformats.org/drawingml/2006/main" noGrp="1"/>
          </p:cNvSpPr>
          <p:nvPr/>
        </p:nvSpPr>
        <p:spPr>
          <a:xfrm xmlns:a="http://schemas.openxmlformats.org/drawingml/2006/main">
            <a:off x="6858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 defined layer assigned measurable weights across positions</a:t>
            </a:r>
          </a:p>
        </p:txBody>
      </p:sp>
      <p:sp>
        <p:nvSpPr>
          <p:cNvPr id="9" name="">
            <a:extLst xmlns:a="http://schemas.openxmlformats.org/drawingml/2006/main">
              <a:ext uri="{FF2B5EF4-FFF2-40B4-BE49-F238E27FC236}">
                <a16:creationId xmlns:a16="http://schemas.microsoft.com/office/drawing/2014/main" id="{FEBEFD3C-FCA6-4F76-BA0B-C193A4A4AD4C}"/>
              </a:ext>
            </a:extLst>
          </p:cNvPr>
          <p:cNvSpPr>
            <a:spLocks xmlns:a="http://schemas.openxmlformats.org/drawingml/2006/main" noGrp="1"/>
          </p:cNvSpPr>
          <p:nvPr/>
        </p:nvSpPr>
        <p:spPr>
          <a:xfrm xmlns:a="http://schemas.openxmlformats.org/drawingml/2006/main">
            <a:off x="42862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589A4BD4-B728-4766-BEC9-B90DD9B443FE}"/>
              </a:ext>
            </a:extLst>
          </p:cNvPr>
          <p:cNvSpPr>
            <a:spLocks xmlns:a="http://schemas.openxmlformats.org/drawingml/2006/main" noGrp="1"/>
          </p:cNvSpPr>
          <p:nvPr/>
        </p:nvSpPr>
        <p:spPr>
          <a:xfrm xmlns:a="http://schemas.openxmlformats.org/drawingml/2006/main">
            <a:off x="44577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INVALID</a:t>
            </a:r>
          </a:p>
        </p:txBody>
      </p:sp>
      <p:sp>
        <p:nvSpPr>
          <p:cNvPr id="11" name="">
            <a:extLst xmlns:a="http://schemas.openxmlformats.org/drawingml/2006/main">
              <a:ext uri="{FF2B5EF4-FFF2-40B4-BE49-F238E27FC236}">
                <a16:creationId xmlns:a16="http://schemas.microsoft.com/office/drawing/2014/main" id="{7A35B4B2-E465-4684-86AD-8879EB1208AF}"/>
              </a:ext>
            </a:extLst>
          </p:cNvPr>
          <p:cNvSpPr>
            <a:spLocks xmlns:a="http://schemas.openxmlformats.org/drawingml/2006/main" noGrp="1"/>
          </p:cNvSpPr>
          <p:nvPr/>
        </p:nvSpPr>
        <p:spPr>
          <a:xfrm xmlns:a="http://schemas.openxmlformats.org/drawingml/2006/main">
            <a:off x="44577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The weights prove the complete reason for the final answer</a:t>
            </a:r>
          </a:p>
        </p:txBody>
      </p:sp>
      <p:sp>
        <p:nvSpPr>
          <p:cNvPr id="12" name="">
            <a:extLst xmlns:a="http://schemas.openxmlformats.org/drawingml/2006/main">
              <a:ext uri="{FF2B5EF4-FFF2-40B4-BE49-F238E27FC236}">
                <a16:creationId xmlns:a16="http://schemas.microsoft.com/office/drawing/2014/main" id="{C8022353-E5EC-4A60-8756-9685224A5621}"/>
              </a:ext>
            </a:extLst>
          </p:cNvPr>
          <p:cNvSpPr>
            <a:spLocks xmlns:a="http://schemas.openxmlformats.org/drawingml/2006/main" noGrp="1"/>
          </p:cNvSpPr>
          <p:nvPr/>
        </p:nvSpPr>
        <p:spPr>
          <a:xfrm xmlns:a="http://schemas.openxmlformats.org/drawingml/2006/main">
            <a:off x="80581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2FDEAFA7-934F-41C3-8005-1A2A9E7BE614}"/>
              </a:ext>
            </a:extLst>
          </p:cNvPr>
          <p:cNvSpPr>
            <a:spLocks xmlns:a="http://schemas.openxmlformats.org/drawingml/2006/main" noGrp="1"/>
          </p:cNvSpPr>
          <p:nvPr/>
        </p:nvSpPr>
        <p:spPr>
          <a:xfrm xmlns:a="http://schemas.openxmlformats.org/drawingml/2006/main">
            <a:off x="82296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EVIDENCE</a:t>
            </a:r>
          </a:p>
        </p:txBody>
      </p:sp>
      <p:sp>
        <p:nvSpPr>
          <p:cNvPr id="14" name="">
            <a:extLst xmlns:a="http://schemas.openxmlformats.org/drawingml/2006/main">
              <a:ext uri="{FF2B5EF4-FFF2-40B4-BE49-F238E27FC236}">
                <a16:creationId xmlns:a16="http://schemas.microsoft.com/office/drawing/2014/main" id="{66B2398F-46A7-4A26-B935-3D6A7961050F}"/>
              </a:ext>
            </a:extLst>
          </p:cNvPr>
          <p:cNvSpPr>
            <a:spLocks xmlns:a="http://schemas.openxmlformats.org/drawingml/2006/main" noGrp="1"/>
          </p:cNvSpPr>
          <p:nvPr/>
        </p:nvSpPr>
        <p:spPr>
          <a:xfrm xmlns:a="http://schemas.openxmlformats.org/drawingml/2006/main">
            <a:off x="82296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Controlled interventions, evaluation and external verification</a:t>
            </a:r>
          </a:p>
        </p:txBody>
      </p:sp>
      <p:sp>
        <p:nvSpPr>
          <p:cNvPr id="15" name="">
            <a:extLst xmlns:a="http://schemas.openxmlformats.org/drawingml/2006/main">
              <a:ext uri="{FF2B5EF4-FFF2-40B4-BE49-F238E27FC236}">
                <a16:creationId xmlns:a16="http://schemas.microsoft.com/office/drawing/2014/main" id="{9D4E4B12-7F8C-4D3C-9FAF-6C315D9D8E5F}"/>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Internal measurements and institutional explanations answer different questions</a:t>
            </a:r>
          </a:p>
        </p:txBody>
      </p:sp>
    </p:spTree>
    <p:extLst>
      <p:ext uri="{BB962C8B-B14F-4D97-AF65-F5344CB8AC3E}">
        <p14:creationId xmlns:p14="http://schemas.microsoft.com/office/powerpoint/2010/main" val="824892928"/>
      </p:ext>
    </p:extLst>
  </p:cSld>
</p:sld>
</file>

<file path=ppt/slides/slide18.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9EF63A-6EA5-456B-8EE3-E7427A56F7C6}"/>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176070AF-E488-42C1-A37B-BBFC20AFB8E1}"/>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BAB03BC4-194C-4984-9B9E-B099032177BF}"/>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INFERENCE</a:t>
            </a:r>
          </a:p>
        </p:txBody>
      </p:sp>
      <p:sp>
        <p:nvSpPr>
          <p:cNvPr id="4" name="">
            <a:extLst xmlns:a="http://schemas.openxmlformats.org/drawingml/2006/main">
              <a:ext uri="{FF2B5EF4-FFF2-40B4-BE49-F238E27FC236}">
                <a16:creationId xmlns:a16="http://schemas.microsoft.com/office/drawing/2014/main" id="{BA226985-C896-4C3D-A6CF-9225B5B82313}"/>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18</a:t>
            </a:r>
          </a:p>
        </p:txBody>
      </p:sp>
      <p:sp>
        <p:nvSpPr>
          <p:cNvPr id="5" name="">
            <a:extLst xmlns:a="http://schemas.openxmlformats.org/drawingml/2006/main">
              <a:ext uri="{FF2B5EF4-FFF2-40B4-BE49-F238E27FC236}">
                <a16:creationId xmlns:a16="http://schemas.microsoft.com/office/drawing/2014/main" id="{535AE5CF-E58B-4C39-9BA2-EDB573A574EE}"/>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Prompt assembly</a:t>
            </a:r>
          </a:p>
        </p:txBody>
      </p:sp>
      <p:sp>
        <p:nvSpPr>
          <p:cNvPr id="6" name="">
            <a:extLst xmlns:a="http://schemas.openxmlformats.org/drawingml/2006/main">
              <a:ext uri="{FF2B5EF4-FFF2-40B4-BE49-F238E27FC236}">
                <a16:creationId xmlns:a16="http://schemas.microsoft.com/office/drawing/2014/main" id="{3B8A8F2C-FEA3-4123-82AB-1B3A98063DA9}"/>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AEC53FA0-C0B5-450B-8F26-94EF6C37A6CA}"/>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SYSTEM POLICY</a:t>
            </a:r>
          </a:p>
        </p:txBody>
      </p:sp>
      <p:sp>
        <p:nvSpPr>
          <p:cNvPr id="8" name="">
            <a:extLst xmlns:a="http://schemas.openxmlformats.org/drawingml/2006/main">
              <a:ext uri="{FF2B5EF4-FFF2-40B4-BE49-F238E27FC236}">
                <a16:creationId xmlns:a16="http://schemas.microsoft.com/office/drawing/2014/main" id="{B68C2C54-AD62-466D-ABF1-CE8F7C9F53BF}"/>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Highest-authority application rules</a:t>
            </a:r>
          </a:p>
        </p:txBody>
      </p:sp>
      <p:sp>
        <p:nvSpPr>
          <p:cNvPr id="9" name="">
            <a:extLst xmlns:a="http://schemas.openxmlformats.org/drawingml/2006/main">
              <a:ext uri="{FF2B5EF4-FFF2-40B4-BE49-F238E27FC236}">
                <a16:creationId xmlns:a16="http://schemas.microsoft.com/office/drawing/2014/main" id="{6C77B893-87E5-4333-8C6F-09265984ACB2}"/>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61570E85-DC62-4843-B08E-15718CDBA137}"/>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HISTORY</a:t>
            </a:r>
          </a:p>
        </p:txBody>
      </p:sp>
      <p:sp>
        <p:nvSpPr>
          <p:cNvPr id="11" name="">
            <a:extLst xmlns:a="http://schemas.openxmlformats.org/drawingml/2006/main">
              <a:ext uri="{FF2B5EF4-FFF2-40B4-BE49-F238E27FC236}">
                <a16:creationId xmlns:a16="http://schemas.microsoft.com/office/drawing/2014/main" id="{5FE25ACA-FAA0-4690-8382-49338D233191}"/>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Retained prior interaction</a:t>
            </a:r>
          </a:p>
        </p:txBody>
      </p:sp>
      <p:sp>
        <p:nvSpPr>
          <p:cNvPr id="12" name="">
            <a:extLst xmlns:a="http://schemas.openxmlformats.org/drawingml/2006/main">
              <a:ext uri="{FF2B5EF4-FFF2-40B4-BE49-F238E27FC236}">
                <a16:creationId xmlns:a16="http://schemas.microsoft.com/office/drawing/2014/main" id="{3523B0F1-4807-4B4F-8CA1-A5B4D5CEFA1D}"/>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6122787A-9D30-4BB2-9EEA-837C3E3258A5}"/>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EVIDENCE</a:t>
            </a:r>
          </a:p>
        </p:txBody>
      </p:sp>
      <p:sp>
        <p:nvSpPr>
          <p:cNvPr id="14" name="">
            <a:extLst xmlns:a="http://schemas.openxmlformats.org/drawingml/2006/main">
              <a:ext uri="{FF2B5EF4-FFF2-40B4-BE49-F238E27FC236}">
                <a16:creationId xmlns:a16="http://schemas.microsoft.com/office/drawing/2014/main" id="{626DFC46-C586-4CEC-AB21-B1CAB14114AD}"/>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Retrieved authorized passages</a:t>
            </a:r>
          </a:p>
        </p:txBody>
      </p:sp>
      <p:sp>
        <p:nvSpPr>
          <p:cNvPr id="15" name="">
            <a:extLst xmlns:a="http://schemas.openxmlformats.org/drawingml/2006/main">
              <a:ext uri="{FF2B5EF4-FFF2-40B4-BE49-F238E27FC236}">
                <a16:creationId xmlns:a16="http://schemas.microsoft.com/office/drawing/2014/main" id="{A9027DAC-A08B-47AF-8658-80F218F641A6}"/>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82A781B7-DF85-49F7-A704-A06D61D54085}"/>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USER REQUEST</a:t>
            </a:r>
          </a:p>
        </p:txBody>
      </p:sp>
      <p:sp>
        <p:nvSpPr>
          <p:cNvPr id="17" name="">
            <a:extLst xmlns:a="http://schemas.openxmlformats.org/drawingml/2006/main">
              <a:ext uri="{FF2B5EF4-FFF2-40B4-BE49-F238E27FC236}">
                <a16:creationId xmlns:a16="http://schemas.microsoft.com/office/drawing/2014/main" id="{B8633DE4-A593-49A1-AB88-49A001DA3613}"/>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Current task and required output</a:t>
            </a:r>
          </a:p>
        </p:txBody>
      </p:sp>
      <p:sp>
        <p:nvSpPr>
          <p:cNvPr id="18" name="">
            <a:extLst xmlns:a="http://schemas.openxmlformats.org/drawingml/2006/main">
              <a:ext uri="{FF2B5EF4-FFF2-40B4-BE49-F238E27FC236}">
                <a16:creationId xmlns:a16="http://schemas.microsoft.com/office/drawing/2014/main" id="{44AA1261-14FF-44AC-9D44-D83FE3803331}"/>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Prompt quality helps, while access control and verification remain separate safeguards</a:t>
            </a:r>
          </a:p>
        </p:txBody>
      </p:sp>
    </p:spTree>
    <p:extLst>
      <p:ext uri="{BB962C8B-B14F-4D97-AF65-F5344CB8AC3E}">
        <p14:creationId xmlns:p14="http://schemas.microsoft.com/office/powerpoint/2010/main" val="1866013342"/>
      </p:ext>
    </p:extLst>
  </p:cSld>
</p:sld>
</file>

<file path=ppt/slides/slide19.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A7CAA4-6B9A-4538-89D6-B2328E85B837}"/>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E0132314-EA0D-4D88-90D0-C5D4D15DFBB8}"/>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B7B4F59E-35F1-4372-8007-8D0569D204CD}"/>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INFERENCE</a:t>
            </a:r>
          </a:p>
        </p:txBody>
      </p:sp>
      <p:sp>
        <p:nvSpPr>
          <p:cNvPr id="4" name="">
            <a:extLst xmlns:a="http://schemas.openxmlformats.org/drawingml/2006/main">
              <a:ext uri="{FF2B5EF4-FFF2-40B4-BE49-F238E27FC236}">
                <a16:creationId xmlns:a16="http://schemas.microsoft.com/office/drawing/2014/main" id="{94075B52-D100-4CC6-91E4-D50CAB26AEC2}"/>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19</a:t>
            </a:r>
          </a:p>
        </p:txBody>
      </p:sp>
      <p:sp>
        <p:nvSpPr>
          <p:cNvPr id="5" name="">
            <a:extLst xmlns:a="http://schemas.openxmlformats.org/drawingml/2006/main">
              <a:ext uri="{FF2B5EF4-FFF2-40B4-BE49-F238E27FC236}">
                <a16:creationId xmlns:a16="http://schemas.microsoft.com/office/drawing/2014/main" id="{4B488DFB-64E4-410C-836E-7A2F57BEC4AE}"/>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Decoding policies</a:t>
            </a:r>
          </a:p>
        </p:txBody>
      </p:sp>
      <p:sp>
        <p:nvSpPr>
          <p:cNvPr id="6" name="">
            <a:extLst xmlns:a="http://schemas.openxmlformats.org/drawingml/2006/main">
              <a:ext uri="{FF2B5EF4-FFF2-40B4-BE49-F238E27FC236}">
                <a16:creationId xmlns:a16="http://schemas.microsoft.com/office/drawing/2014/main" id="{77696686-8E3B-4027-BEF5-4C907E7073C0}"/>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5BD0914E-2307-43A5-B2E8-743E749238B6}"/>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GREEDY</a:t>
            </a:r>
          </a:p>
        </p:txBody>
      </p:sp>
      <p:sp>
        <p:nvSpPr>
          <p:cNvPr id="8" name="">
            <a:extLst xmlns:a="http://schemas.openxmlformats.org/drawingml/2006/main">
              <a:ext uri="{FF2B5EF4-FFF2-40B4-BE49-F238E27FC236}">
                <a16:creationId xmlns:a16="http://schemas.microsoft.com/office/drawing/2014/main" id="{37FF3BAD-1567-45E3-A109-DCB4E948B0EC}"/>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Select the highest-probability token</a:t>
            </a:r>
          </a:p>
        </p:txBody>
      </p:sp>
      <p:sp>
        <p:nvSpPr>
          <p:cNvPr id="9" name="">
            <a:extLst xmlns:a="http://schemas.openxmlformats.org/drawingml/2006/main">
              <a:ext uri="{FF2B5EF4-FFF2-40B4-BE49-F238E27FC236}">
                <a16:creationId xmlns:a16="http://schemas.microsoft.com/office/drawing/2014/main" id="{6FDF9558-1A94-464B-8B5C-A3116118E6F0}"/>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0C1CA4DA-679B-4B14-9984-85D3232F33B8}"/>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TEMPERATURE</a:t>
            </a:r>
          </a:p>
        </p:txBody>
      </p:sp>
      <p:sp>
        <p:nvSpPr>
          <p:cNvPr id="11" name="">
            <a:extLst xmlns:a="http://schemas.openxmlformats.org/drawingml/2006/main">
              <a:ext uri="{FF2B5EF4-FFF2-40B4-BE49-F238E27FC236}">
                <a16:creationId xmlns:a16="http://schemas.microsoft.com/office/drawing/2014/main" id="{C9B9F383-6C7B-4513-9F62-9125A05E47F8}"/>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Sharpen or flatten the distribution</a:t>
            </a:r>
          </a:p>
        </p:txBody>
      </p:sp>
      <p:sp>
        <p:nvSpPr>
          <p:cNvPr id="12" name="">
            <a:extLst xmlns:a="http://schemas.openxmlformats.org/drawingml/2006/main">
              <a:ext uri="{FF2B5EF4-FFF2-40B4-BE49-F238E27FC236}">
                <a16:creationId xmlns:a16="http://schemas.microsoft.com/office/drawing/2014/main" id="{605C2371-1520-4D94-BFEA-5678B55644D6}"/>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16F4B85A-A377-40DB-BF74-F980FD9EBCB1}"/>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TOP K</a:t>
            </a:r>
          </a:p>
        </p:txBody>
      </p:sp>
      <p:sp>
        <p:nvSpPr>
          <p:cNvPr id="14" name="">
            <a:extLst xmlns:a="http://schemas.openxmlformats.org/drawingml/2006/main">
              <a:ext uri="{FF2B5EF4-FFF2-40B4-BE49-F238E27FC236}">
                <a16:creationId xmlns:a16="http://schemas.microsoft.com/office/drawing/2014/main" id="{5647F032-5F30-4C77-81D6-BEA986975445}"/>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Restrict sampling to k candidates</a:t>
            </a:r>
          </a:p>
        </p:txBody>
      </p:sp>
      <p:sp>
        <p:nvSpPr>
          <p:cNvPr id="15" name="">
            <a:extLst xmlns:a="http://schemas.openxmlformats.org/drawingml/2006/main">
              <a:ext uri="{FF2B5EF4-FFF2-40B4-BE49-F238E27FC236}">
                <a16:creationId xmlns:a16="http://schemas.microsoft.com/office/drawing/2014/main" id="{D943D037-6844-4911-BCB4-5F0DC1E2532E}"/>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61B1E5E1-4F60-49BD-819B-DEDB8B68E7B8}"/>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TOP P</a:t>
            </a:r>
          </a:p>
        </p:txBody>
      </p:sp>
      <p:sp>
        <p:nvSpPr>
          <p:cNvPr id="17" name="">
            <a:extLst xmlns:a="http://schemas.openxmlformats.org/drawingml/2006/main">
              <a:ext uri="{FF2B5EF4-FFF2-40B4-BE49-F238E27FC236}">
                <a16:creationId xmlns:a16="http://schemas.microsoft.com/office/drawing/2014/main" id="{000C5068-C222-4196-868C-E322C88D0432}"/>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Restrict sampling by cumulative probability</a:t>
            </a:r>
          </a:p>
        </p:txBody>
      </p:sp>
      <p:sp>
        <p:nvSpPr>
          <p:cNvPr id="18" name="">
            <a:extLst xmlns:a="http://schemas.openxmlformats.org/drawingml/2006/main">
              <a:ext uri="{FF2B5EF4-FFF2-40B4-BE49-F238E27FC236}">
                <a16:creationId xmlns:a16="http://schemas.microsoft.com/office/drawing/2014/main" id="{C782148E-7849-4E55-BCBB-4EA417842F27}"/>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Record decoding settings when outputs are material</a:t>
            </a:r>
          </a:p>
        </p:txBody>
      </p:sp>
    </p:spTree>
    <p:extLst>
      <p:ext uri="{BB962C8B-B14F-4D97-AF65-F5344CB8AC3E}">
        <p14:creationId xmlns:p14="http://schemas.microsoft.com/office/powerpoint/2010/main" val="1807711850"/>
      </p:ext>
    </p:extLst>
  </p:cSld>
</p:sld>
</file>

<file path=ppt/slides/slide20.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51B3A1-E731-4CAA-A6D1-710D5B6B0966}"/>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8BABFF71-055C-411C-99DE-76B3B29168DE}"/>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AA2E065A-2181-4A6B-AD6C-9D61C59A17B3}"/>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GENERATION MECHANICS</a:t>
            </a:r>
          </a:p>
        </p:txBody>
      </p:sp>
      <p:sp>
        <p:nvSpPr>
          <p:cNvPr id="4" name="">
            <a:extLst xmlns:a="http://schemas.openxmlformats.org/drawingml/2006/main">
              <a:ext uri="{FF2B5EF4-FFF2-40B4-BE49-F238E27FC236}">
                <a16:creationId xmlns:a16="http://schemas.microsoft.com/office/drawing/2014/main" id="{ECAE0209-0708-417A-BB03-F69895D0C1AD}"/>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20</a:t>
            </a:r>
          </a:p>
        </p:txBody>
      </p:sp>
      <p:sp>
        <p:nvSpPr>
          <p:cNvPr id="5" name="">
            <a:extLst xmlns:a="http://schemas.openxmlformats.org/drawingml/2006/main">
              <a:ext uri="{FF2B5EF4-FFF2-40B4-BE49-F238E27FC236}">
                <a16:creationId xmlns:a16="http://schemas.microsoft.com/office/drawing/2014/main" id="{C0ED2624-62A6-4072-875C-B3983A85D157}"/>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Temperature reshapes probability</a:t>
            </a:r>
          </a:p>
        </p:txBody>
      </p:sp>
      <p:sp>
        <p:nvSpPr>
          <p:cNvPr id="6" name="">
            <a:extLst xmlns:a="http://schemas.openxmlformats.org/drawingml/2006/main">
              <a:ext uri="{FF2B5EF4-FFF2-40B4-BE49-F238E27FC236}">
                <a16:creationId xmlns:a16="http://schemas.microsoft.com/office/drawing/2014/main" id="{1F164053-BE63-485A-9FCC-B710A092FE3C}"/>
              </a:ext>
            </a:extLst>
          </p:cNvPr>
          <p:cNvSpPr>
            <a:spLocks xmlns:a="http://schemas.openxmlformats.org/drawingml/2006/main" noGrp="1"/>
          </p:cNvSpPr>
          <p:nvPr/>
        </p:nvSpPr>
        <p:spPr>
          <a:xfrm xmlns:a="http://schemas.openxmlformats.org/drawingml/2006/main">
            <a:off x="523875" y="1428750"/>
            <a:ext cx="4953000" cy="3143250"/>
          </a:xfrm>
          <a:prstGeom xmlns:a="http://schemas.openxmlformats.org/drawingml/2006/main" prst="rect">
            <a:avLst/>
          </a:prstGeom>
          <a:solidFill xmlns:a="http://schemas.openxmlformats.org/drawingml/2006/main">
            <a:srgbClr val="F3E9D1"/>
          </a:solidFill>
          <a:ln xmlns:a="http://schemas.openxmlformats.org/drawingml/2006/main" w="9525">
            <a:solidFill>
              <a:srgbClr val="F4B740"/>
            </a:solidFill>
          </a:ln>
        </p:spPr>
      </p:sp>
      <p:sp>
        <p:nvSpPr>
          <p:cNvPr id="7" name="">
            <a:extLst xmlns:a="http://schemas.openxmlformats.org/drawingml/2006/main">
              <a:ext uri="{FF2B5EF4-FFF2-40B4-BE49-F238E27FC236}">
                <a16:creationId xmlns:a16="http://schemas.microsoft.com/office/drawing/2014/main" id="{BCEBDB43-5EB1-4F76-A8BD-9B0BADAEEAE2}"/>
              </a:ext>
            </a:extLst>
          </p:cNvPr>
          <p:cNvSpPr>
            <a:spLocks xmlns:a="http://schemas.openxmlformats.org/drawingml/2006/main" noGrp="1"/>
          </p:cNvSpPr>
          <p:nvPr/>
        </p:nvSpPr>
        <p:spPr>
          <a:xfrm xmlns:a="http://schemas.openxmlformats.org/drawingml/2006/main">
            <a:off x="809625" y="2143125"/>
            <a:ext cx="4381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2212D"/>
                </a:solidFill>
                <a:latin typeface="Calibri"/>
                <a:ea typeface="Calibri"/>
                <a:cs typeface="Calibri"/>
              </a:defRPr>
            </a:pPr>
            <a:r>
              <a:rPr sz="2250" b="1">
                <a:solidFill>
                  <a:srgbClr val="12212D"/>
                </a:solidFill>
                <a:latin typeface="Calibri"/>
                <a:ea typeface="Calibri"/>
                <a:cs typeface="Calibri"/>
              </a:rPr>
              <a:t>PT(i) = exp(zi/T) / Σ exp(zj/T)</a:t>
            </a:r>
          </a:p>
        </p:txBody>
      </p:sp>
      <p:sp>
        <p:nvSpPr>
          <p:cNvPr id="8" name="">
            <a:extLst xmlns:a="http://schemas.openxmlformats.org/drawingml/2006/main">
              <a:ext uri="{FF2B5EF4-FFF2-40B4-BE49-F238E27FC236}">
                <a16:creationId xmlns:a16="http://schemas.microsoft.com/office/drawing/2014/main" id="{9C041D0A-ED2D-4826-BA41-1B5B0964C37A}"/>
              </a:ext>
            </a:extLst>
          </p:cNvPr>
          <p:cNvSpPr>
            <a:spLocks xmlns:a="http://schemas.openxmlformats.org/drawingml/2006/main" noGrp="1"/>
          </p:cNvSpPr>
          <p:nvPr/>
        </p:nvSpPr>
        <p:spPr>
          <a:xfrm xmlns:a="http://schemas.openxmlformats.org/drawingml/2006/main">
            <a:off x="5810250" y="1428750"/>
            <a:ext cx="5857875" cy="314325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9" name="">
            <a:extLst xmlns:a="http://schemas.openxmlformats.org/drawingml/2006/main">
              <a:ext uri="{FF2B5EF4-FFF2-40B4-BE49-F238E27FC236}">
                <a16:creationId xmlns:a16="http://schemas.microsoft.com/office/drawing/2014/main" id="{32A32252-C154-4C94-95B3-686404861EE9}"/>
              </a:ext>
            </a:extLst>
          </p:cNvPr>
          <p:cNvSpPr>
            <a:spLocks xmlns:a="http://schemas.openxmlformats.org/drawingml/2006/main" noGrp="1"/>
          </p:cNvSpPr>
          <p:nvPr/>
        </p:nvSpPr>
        <p:spPr>
          <a:xfrm xmlns:a="http://schemas.openxmlformats.org/drawingml/2006/main">
            <a:off x="6048375" y="16668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VARIABILITY CONTROL</a:t>
            </a:r>
          </a:p>
        </p:txBody>
      </p:sp>
      <p:sp>
        <p:nvSpPr>
          <p:cNvPr id="10" name="">
            <a:extLst xmlns:a="http://schemas.openxmlformats.org/drawingml/2006/main">
              <a:ext uri="{FF2B5EF4-FFF2-40B4-BE49-F238E27FC236}">
                <a16:creationId xmlns:a16="http://schemas.microsoft.com/office/drawing/2014/main" id="{15FBA7A4-2C2E-45BF-B4DD-4603607F6B2B}"/>
              </a:ext>
            </a:extLst>
          </p:cNvPr>
          <p:cNvSpPr>
            <a:spLocks xmlns:a="http://schemas.openxmlformats.org/drawingml/2006/main" noGrp="1"/>
          </p:cNvSpPr>
          <p:nvPr/>
        </p:nvSpPr>
        <p:spPr>
          <a:xfrm xmlns:a="http://schemas.openxmlformats.org/drawingml/2006/main">
            <a:off x="6048375" y="2190750"/>
            <a:ext cx="5381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5FAFC"/>
                </a:solidFill>
                <a:latin typeface="Calibri"/>
                <a:ea typeface="Calibri"/>
                <a:cs typeface="Calibri"/>
              </a:defRPr>
            </a:pPr>
            <a:r>
              <a:rPr sz="1575" b="0">
                <a:solidFill>
                  <a:srgbClr val="F5FAFC"/>
                </a:solidFill>
                <a:latin typeface="Calibri"/>
                <a:ea typeface="Calibri"/>
                <a:cs typeface="Calibri"/>
              </a:rPr>
              <a:t>Lower temperature concentrates probability mass. Higher temperature increases the relative weight of less likely candidates.</a:t>
            </a:r>
          </a:p>
        </p:txBody>
      </p:sp>
      <p:sp>
        <p:nvSpPr>
          <p:cNvPr id="11" name="">
            <a:extLst xmlns:a="http://schemas.openxmlformats.org/drawingml/2006/main">
              <a:ext uri="{FF2B5EF4-FFF2-40B4-BE49-F238E27FC236}">
                <a16:creationId xmlns:a16="http://schemas.microsoft.com/office/drawing/2014/main" id="{43B7F6C1-D7F6-4471-A443-09A380BEC39D}"/>
              </a:ext>
            </a:extLst>
          </p:cNvPr>
          <p:cNvSpPr>
            <a:spLocks xmlns:a="http://schemas.openxmlformats.org/drawingml/2006/main" noGrp="1"/>
          </p:cNvSpPr>
          <p:nvPr/>
        </p:nvSpPr>
        <p:spPr>
          <a:xfrm xmlns:a="http://schemas.openxmlformats.org/drawingml/2006/main">
            <a:off x="666750" y="5286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4B740"/>
                </a:solidFill>
                <a:latin typeface="Calibri"/>
                <a:ea typeface="Calibri"/>
                <a:cs typeface="Calibri"/>
              </a:defRPr>
            </a:pPr>
            <a:r>
              <a:rPr sz="1275" b="1">
                <a:solidFill>
                  <a:srgbClr val="F4B740"/>
                </a:solidFill>
                <a:latin typeface="Calibri"/>
                <a:ea typeface="Calibri"/>
                <a:cs typeface="Calibri"/>
              </a:rPr>
              <a:t>Temperature changes diversity but cannot create factual authority</a:t>
            </a:r>
          </a:p>
        </p:txBody>
      </p:sp>
    </p:spTree>
    <p:extLst>
      <p:ext uri="{BB962C8B-B14F-4D97-AF65-F5344CB8AC3E}">
        <p14:creationId xmlns:p14="http://schemas.microsoft.com/office/powerpoint/2010/main" val="513898548"/>
      </p:ext>
    </p:extLst>
  </p:cSld>
</p:sld>
</file>

<file path=ppt/slides/slide21.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37F2D5-BE68-4A3B-8F11-7499698F4388}"/>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B1F175D7-BFA4-445C-91D2-F2DCC01B2C7A}"/>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CCE10411-5DEB-41D0-A6BE-A64B02BA1D4D}"/>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CAPABILITY</a:t>
            </a:r>
          </a:p>
        </p:txBody>
      </p:sp>
      <p:sp>
        <p:nvSpPr>
          <p:cNvPr id="4" name="">
            <a:extLst xmlns:a="http://schemas.openxmlformats.org/drawingml/2006/main">
              <a:ext uri="{FF2B5EF4-FFF2-40B4-BE49-F238E27FC236}">
                <a16:creationId xmlns:a16="http://schemas.microsoft.com/office/drawing/2014/main" id="{FC7B126D-43CA-419C-B7B6-365656BE99CF}"/>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21</a:t>
            </a:r>
          </a:p>
        </p:txBody>
      </p:sp>
      <p:sp>
        <p:nvSpPr>
          <p:cNvPr id="5" name="">
            <a:extLst xmlns:a="http://schemas.openxmlformats.org/drawingml/2006/main">
              <a:ext uri="{FF2B5EF4-FFF2-40B4-BE49-F238E27FC236}">
                <a16:creationId xmlns:a16="http://schemas.microsoft.com/office/drawing/2014/main" id="{37B3A960-FD51-4C01-82AA-68AAF1755ADD}"/>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Capability remains conditional</a:t>
            </a:r>
          </a:p>
        </p:txBody>
      </p:sp>
      <p:sp>
        <p:nvSpPr>
          <p:cNvPr id="6" name="">
            <a:extLst xmlns:a="http://schemas.openxmlformats.org/drawingml/2006/main">
              <a:ext uri="{FF2B5EF4-FFF2-40B4-BE49-F238E27FC236}">
                <a16:creationId xmlns:a16="http://schemas.microsoft.com/office/drawing/2014/main" id="{AD222F0C-5CB6-4071-B188-B9736AEF88BB}"/>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FBB1CB6E-22D0-4F1B-B200-DC4CEEAC2365}"/>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TASK</a:t>
            </a:r>
          </a:p>
        </p:txBody>
      </p:sp>
      <p:sp>
        <p:nvSpPr>
          <p:cNvPr id="8" name="">
            <a:extLst xmlns:a="http://schemas.openxmlformats.org/drawingml/2006/main">
              <a:ext uri="{FF2B5EF4-FFF2-40B4-BE49-F238E27FC236}">
                <a16:creationId xmlns:a16="http://schemas.microsoft.com/office/drawing/2014/main" id="{A3383E49-C48C-49CF-BA2E-CB87B4B6F272}"/>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Clear output and evaluation requirement</a:t>
            </a:r>
          </a:p>
        </p:txBody>
      </p:sp>
      <p:sp>
        <p:nvSpPr>
          <p:cNvPr id="9" name="">
            <a:extLst xmlns:a="http://schemas.openxmlformats.org/drawingml/2006/main">
              <a:ext uri="{FF2B5EF4-FFF2-40B4-BE49-F238E27FC236}">
                <a16:creationId xmlns:a16="http://schemas.microsoft.com/office/drawing/2014/main" id="{B6866B4D-7624-4B66-8640-C4D2D54CB199}"/>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2B6746CB-5F42-4768-93F0-869940ACAA76}"/>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LANGUAGE</a:t>
            </a:r>
          </a:p>
        </p:txBody>
      </p:sp>
      <p:sp>
        <p:nvSpPr>
          <p:cNvPr id="11" name="">
            <a:extLst xmlns:a="http://schemas.openxmlformats.org/drawingml/2006/main">
              <a:ext uri="{FF2B5EF4-FFF2-40B4-BE49-F238E27FC236}">
                <a16:creationId xmlns:a16="http://schemas.microsoft.com/office/drawing/2014/main" id="{D599F863-2173-41C0-B967-2909C4130BC0}"/>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Measured performance for served users</a:t>
            </a:r>
          </a:p>
        </p:txBody>
      </p:sp>
      <p:sp>
        <p:nvSpPr>
          <p:cNvPr id="12" name="">
            <a:extLst xmlns:a="http://schemas.openxmlformats.org/drawingml/2006/main">
              <a:ext uri="{FF2B5EF4-FFF2-40B4-BE49-F238E27FC236}">
                <a16:creationId xmlns:a16="http://schemas.microsoft.com/office/drawing/2014/main" id="{F8F771B7-644C-41DE-9ADA-212F49C97908}"/>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3E102E42-022B-4324-8A70-BC54192F6102}"/>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CONTEXT</a:t>
            </a:r>
          </a:p>
        </p:txBody>
      </p:sp>
      <p:sp>
        <p:nvSpPr>
          <p:cNvPr id="14" name="">
            <a:extLst xmlns:a="http://schemas.openxmlformats.org/drawingml/2006/main">
              <a:ext uri="{FF2B5EF4-FFF2-40B4-BE49-F238E27FC236}">
                <a16:creationId xmlns:a16="http://schemas.microsoft.com/office/drawing/2014/main" id="{1C3BE30C-1C48-4EF3-BC82-665F1B3AC950}"/>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Authorized and relevant evidence</a:t>
            </a:r>
          </a:p>
        </p:txBody>
      </p:sp>
      <p:sp>
        <p:nvSpPr>
          <p:cNvPr id="15" name="">
            <a:extLst xmlns:a="http://schemas.openxmlformats.org/drawingml/2006/main">
              <a:ext uri="{FF2B5EF4-FFF2-40B4-BE49-F238E27FC236}">
                <a16:creationId xmlns:a16="http://schemas.microsoft.com/office/drawing/2014/main" id="{32A72D13-E211-48C6-AF77-516DC8933B57}"/>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A79FA9FA-4C45-403C-9C38-85E0AFE67C57}"/>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VERSION</a:t>
            </a:r>
          </a:p>
        </p:txBody>
      </p:sp>
      <p:sp>
        <p:nvSpPr>
          <p:cNvPr id="17" name="">
            <a:extLst xmlns:a="http://schemas.openxmlformats.org/drawingml/2006/main">
              <a:ext uri="{FF2B5EF4-FFF2-40B4-BE49-F238E27FC236}">
                <a16:creationId xmlns:a16="http://schemas.microsoft.com/office/drawing/2014/main" id="{7F64B1AA-4BB9-47F5-BE0F-0EDC2F0722DA}"/>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Exact model and application configuration</a:t>
            </a:r>
          </a:p>
        </p:txBody>
      </p:sp>
      <p:sp>
        <p:nvSpPr>
          <p:cNvPr id="18" name="">
            <a:extLst xmlns:a="http://schemas.openxmlformats.org/drawingml/2006/main">
              <a:ext uri="{FF2B5EF4-FFF2-40B4-BE49-F238E27FC236}">
                <a16:creationId xmlns:a16="http://schemas.microsoft.com/office/drawing/2014/main" id="{B6BFCBB4-1172-4FCC-A22C-2459A78FFE4E}"/>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A benchmark score cannot authorize every workflow</a:t>
            </a:r>
          </a:p>
        </p:txBody>
      </p:sp>
    </p:spTree>
    <p:extLst>
      <p:ext uri="{BB962C8B-B14F-4D97-AF65-F5344CB8AC3E}">
        <p14:creationId xmlns:p14="http://schemas.microsoft.com/office/powerpoint/2010/main" val="1444441413"/>
      </p:ext>
    </p:extLst>
  </p:cSld>
</p:sld>
</file>

<file path=ppt/slides/slide22.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3EBBCD-011D-416C-987B-F68D21BCFD0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BA9418B0-C767-4099-AC66-5015578FB9B0}"/>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D4000755-543C-4517-85B6-1F6EF41183FD}"/>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LIMITATIONS</a:t>
            </a:r>
          </a:p>
        </p:txBody>
      </p:sp>
      <p:sp>
        <p:nvSpPr>
          <p:cNvPr id="4" name="">
            <a:extLst xmlns:a="http://schemas.openxmlformats.org/drawingml/2006/main">
              <a:ext uri="{FF2B5EF4-FFF2-40B4-BE49-F238E27FC236}">
                <a16:creationId xmlns:a16="http://schemas.microsoft.com/office/drawing/2014/main" id="{E53547A0-86DE-4C41-B578-B43BDBF47F5D}"/>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22</a:t>
            </a:r>
          </a:p>
        </p:txBody>
      </p:sp>
      <p:sp>
        <p:nvSpPr>
          <p:cNvPr id="5" name="">
            <a:extLst xmlns:a="http://schemas.openxmlformats.org/drawingml/2006/main">
              <a:ext uri="{FF2B5EF4-FFF2-40B4-BE49-F238E27FC236}">
                <a16:creationId xmlns:a16="http://schemas.microsoft.com/office/drawing/2014/main" id="{EAA83155-9747-4AF4-A175-5B6D668BDBFB}"/>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Confabulation patterns</a:t>
            </a:r>
          </a:p>
        </p:txBody>
      </p:sp>
      <p:sp>
        <p:nvSpPr>
          <p:cNvPr id="6" name="">
            <a:extLst xmlns:a="http://schemas.openxmlformats.org/drawingml/2006/main">
              <a:ext uri="{FF2B5EF4-FFF2-40B4-BE49-F238E27FC236}">
                <a16:creationId xmlns:a16="http://schemas.microsoft.com/office/drawing/2014/main" id="{AAE60FAB-3A39-4AAF-B32B-901F215D0371}"/>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E78277C4-BCA1-4D22-A2B7-5CEB784EC5E1}"/>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CITATION</a:t>
            </a:r>
          </a:p>
        </p:txBody>
      </p:sp>
      <p:sp>
        <p:nvSpPr>
          <p:cNvPr id="8" name="">
            <a:extLst xmlns:a="http://schemas.openxmlformats.org/drawingml/2006/main">
              <a:ext uri="{FF2B5EF4-FFF2-40B4-BE49-F238E27FC236}">
                <a16:creationId xmlns:a16="http://schemas.microsoft.com/office/drawing/2014/main" id="{F4F232EB-DFFA-4867-AFD2-4AC8EAB4050F}"/>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Reference does not exist or fails to support the claim</a:t>
            </a:r>
          </a:p>
        </p:txBody>
      </p:sp>
      <p:sp>
        <p:nvSpPr>
          <p:cNvPr id="9" name="">
            <a:extLst xmlns:a="http://schemas.openxmlformats.org/drawingml/2006/main">
              <a:ext uri="{FF2B5EF4-FFF2-40B4-BE49-F238E27FC236}">
                <a16:creationId xmlns:a16="http://schemas.microsoft.com/office/drawing/2014/main" id="{CBDC19E4-A901-44E2-A4C7-A868BB90CF73}"/>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FF1C643C-6ABC-4E40-88CB-24EF94E7F787}"/>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NUMBER</a:t>
            </a:r>
          </a:p>
        </p:txBody>
      </p:sp>
      <p:sp>
        <p:nvSpPr>
          <p:cNvPr id="11" name="">
            <a:extLst xmlns:a="http://schemas.openxmlformats.org/drawingml/2006/main">
              <a:ext uri="{FF2B5EF4-FFF2-40B4-BE49-F238E27FC236}">
                <a16:creationId xmlns:a16="http://schemas.microsoft.com/office/drawing/2014/main" id="{6D4599C3-0446-4283-98F4-648BF2C7F8B3}"/>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Value, unit, period or status changes</a:t>
            </a:r>
          </a:p>
        </p:txBody>
      </p:sp>
      <p:sp>
        <p:nvSpPr>
          <p:cNvPr id="12" name="">
            <a:extLst xmlns:a="http://schemas.openxmlformats.org/drawingml/2006/main">
              <a:ext uri="{FF2B5EF4-FFF2-40B4-BE49-F238E27FC236}">
                <a16:creationId xmlns:a16="http://schemas.microsoft.com/office/drawing/2014/main" id="{1A055911-6001-439F-9954-3860F2532185}"/>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438952BE-5EC4-4042-892A-CD4C8982524D}"/>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COMPLETION</a:t>
            </a:r>
          </a:p>
        </p:txBody>
      </p:sp>
      <p:sp>
        <p:nvSpPr>
          <p:cNvPr id="14" name="">
            <a:extLst xmlns:a="http://schemas.openxmlformats.org/drawingml/2006/main">
              <a:ext uri="{FF2B5EF4-FFF2-40B4-BE49-F238E27FC236}">
                <a16:creationId xmlns:a16="http://schemas.microsoft.com/office/drawing/2014/main" id="{E5143A16-A073-47A9-A7B7-7F5FD8A04A6F}"/>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Missing evidence receives a plausible detail</a:t>
            </a:r>
          </a:p>
        </p:txBody>
      </p:sp>
      <p:sp>
        <p:nvSpPr>
          <p:cNvPr id="15" name="">
            <a:extLst xmlns:a="http://schemas.openxmlformats.org/drawingml/2006/main">
              <a:ext uri="{FF2B5EF4-FFF2-40B4-BE49-F238E27FC236}">
                <a16:creationId xmlns:a16="http://schemas.microsoft.com/office/drawing/2014/main" id="{0EC527D0-A09E-4F8C-A805-45071ED500C0}"/>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F95DB35D-8A8F-4045-B6E4-226E3F9B506B}"/>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OVERCLAIM</a:t>
            </a:r>
          </a:p>
        </p:txBody>
      </p:sp>
      <p:sp>
        <p:nvSpPr>
          <p:cNvPr id="17" name="">
            <a:extLst xmlns:a="http://schemas.openxmlformats.org/drawingml/2006/main">
              <a:ext uri="{FF2B5EF4-FFF2-40B4-BE49-F238E27FC236}">
                <a16:creationId xmlns:a16="http://schemas.microsoft.com/office/drawing/2014/main" id="{432C8DB9-C33A-4400-8FF1-5D662BBACEB0}"/>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Uncertainty disappears from the summary</a:t>
            </a:r>
          </a:p>
        </p:txBody>
      </p:sp>
      <p:sp>
        <p:nvSpPr>
          <p:cNvPr id="18" name="">
            <a:extLst xmlns:a="http://schemas.openxmlformats.org/drawingml/2006/main">
              <a:ext uri="{FF2B5EF4-FFF2-40B4-BE49-F238E27FC236}">
                <a16:creationId xmlns:a16="http://schemas.microsoft.com/office/drawing/2014/main" id="{81EC6E6B-D454-4A33-A571-AAD2E3B78D66}"/>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Claim-level verification detects failures hidden by fluent prose</a:t>
            </a:r>
          </a:p>
        </p:txBody>
      </p:sp>
    </p:spTree>
    <p:extLst>
      <p:ext uri="{BB962C8B-B14F-4D97-AF65-F5344CB8AC3E}">
        <p14:creationId xmlns:p14="http://schemas.microsoft.com/office/powerpoint/2010/main" val="1860926795"/>
      </p:ext>
    </p:extLst>
  </p:cSld>
</p:sld>
</file>

<file path=ppt/slides/slide23.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92363AC-AA8E-4B39-BBC4-DAD0D88B255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3795362D-2905-47F0-8A1D-1814F93F9C8B}"/>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084E21A2-0E45-4CDE-9D89-45B06DCE37B4}"/>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LIMITATIONS</a:t>
            </a:r>
          </a:p>
        </p:txBody>
      </p:sp>
      <p:sp>
        <p:nvSpPr>
          <p:cNvPr id="4" name="">
            <a:extLst xmlns:a="http://schemas.openxmlformats.org/drawingml/2006/main">
              <a:ext uri="{FF2B5EF4-FFF2-40B4-BE49-F238E27FC236}">
                <a16:creationId xmlns:a16="http://schemas.microsoft.com/office/drawing/2014/main" id="{C2471C4C-77B5-46BE-AD8D-CC5404E3F2B6}"/>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23</a:t>
            </a:r>
          </a:p>
        </p:txBody>
      </p:sp>
      <p:sp>
        <p:nvSpPr>
          <p:cNvPr id="5" name="">
            <a:extLst xmlns:a="http://schemas.openxmlformats.org/drawingml/2006/main">
              <a:ext uri="{FF2B5EF4-FFF2-40B4-BE49-F238E27FC236}">
                <a16:creationId xmlns:a16="http://schemas.microsoft.com/office/drawing/2014/main" id="{AB00241D-308F-4861-BDFA-560B03B612E0}"/>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Output agreement and reasoning</a:t>
            </a:r>
          </a:p>
        </p:txBody>
      </p:sp>
      <p:sp>
        <p:nvSpPr>
          <p:cNvPr id="6" name="">
            <a:extLst xmlns:a="http://schemas.openxmlformats.org/drawingml/2006/main">
              <a:ext uri="{FF2B5EF4-FFF2-40B4-BE49-F238E27FC236}">
                <a16:creationId xmlns:a16="http://schemas.microsoft.com/office/drawing/2014/main" id="{C199C204-66B3-42F8-B14D-B9708281151C}"/>
              </a:ext>
            </a:extLst>
          </p:cNvPr>
          <p:cNvSpPr>
            <a:spLocks xmlns:a="http://schemas.openxmlformats.org/drawingml/2006/main" noGrp="1"/>
          </p:cNvSpPr>
          <p:nvPr/>
        </p:nvSpPr>
        <p:spPr>
          <a:xfrm xmlns:a="http://schemas.openxmlformats.org/drawingml/2006/main">
            <a:off x="5143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3FBECB42-B9C8-41DC-959F-6343956EED55}"/>
              </a:ext>
            </a:extLst>
          </p:cNvPr>
          <p:cNvSpPr>
            <a:spLocks xmlns:a="http://schemas.openxmlformats.org/drawingml/2006/main" noGrp="1"/>
          </p:cNvSpPr>
          <p:nvPr/>
        </p:nvSpPr>
        <p:spPr>
          <a:xfrm xmlns:a="http://schemas.openxmlformats.org/drawingml/2006/main">
            <a:off x="6858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CORRECT ANSWER</a:t>
            </a:r>
          </a:p>
        </p:txBody>
      </p:sp>
      <p:sp>
        <p:nvSpPr>
          <p:cNvPr id="8" name="">
            <a:extLst xmlns:a="http://schemas.openxmlformats.org/drawingml/2006/main">
              <a:ext uri="{FF2B5EF4-FFF2-40B4-BE49-F238E27FC236}">
                <a16:creationId xmlns:a16="http://schemas.microsoft.com/office/drawing/2014/main" id="{129DE567-FBFB-40CA-8208-01B3F4B5EB2C}"/>
              </a:ext>
            </a:extLst>
          </p:cNvPr>
          <p:cNvSpPr>
            <a:spLocks xmlns:a="http://schemas.openxmlformats.org/drawingml/2006/main" noGrp="1"/>
          </p:cNvSpPr>
          <p:nvPr/>
        </p:nvSpPr>
        <p:spPr>
          <a:xfrm xmlns:a="http://schemas.openxmlformats.org/drawingml/2006/main">
            <a:off x="6858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Agreement on one observed case</a:t>
            </a:r>
          </a:p>
        </p:txBody>
      </p:sp>
      <p:sp>
        <p:nvSpPr>
          <p:cNvPr id="9" name="">
            <a:extLst xmlns:a="http://schemas.openxmlformats.org/drawingml/2006/main">
              <a:ext uri="{FF2B5EF4-FFF2-40B4-BE49-F238E27FC236}">
                <a16:creationId xmlns:a16="http://schemas.microsoft.com/office/drawing/2014/main" id="{0882B2B7-33BD-4287-B77D-56E6CB4FAD78}"/>
              </a:ext>
            </a:extLst>
          </p:cNvPr>
          <p:cNvSpPr>
            <a:spLocks xmlns:a="http://schemas.openxmlformats.org/drawingml/2006/main" noGrp="1"/>
          </p:cNvSpPr>
          <p:nvPr/>
        </p:nvSpPr>
        <p:spPr>
          <a:xfrm xmlns:a="http://schemas.openxmlformats.org/drawingml/2006/main">
            <a:off x="42862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27B0F4F6-7866-4FDC-AF66-2F63A9360156}"/>
              </a:ext>
            </a:extLst>
          </p:cNvPr>
          <p:cNvSpPr>
            <a:spLocks xmlns:a="http://schemas.openxmlformats.org/drawingml/2006/main" noGrp="1"/>
          </p:cNvSpPr>
          <p:nvPr/>
        </p:nvSpPr>
        <p:spPr>
          <a:xfrm xmlns:a="http://schemas.openxmlformats.org/drawingml/2006/main">
            <a:off x="44577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MISSING EVIDENCE</a:t>
            </a:r>
          </a:p>
        </p:txBody>
      </p:sp>
      <p:sp>
        <p:nvSpPr>
          <p:cNvPr id="11" name="">
            <a:extLst xmlns:a="http://schemas.openxmlformats.org/drawingml/2006/main">
              <a:ext uri="{FF2B5EF4-FFF2-40B4-BE49-F238E27FC236}">
                <a16:creationId xmlns:a16="http://schemas.microsoft.com/office/drawing/2014/main" id="{C3B88212-65D7-4FF4-ACC9-1032E7737266}"/>
              </a:ext>
            </a:extLst>
          </p:cNvPr>
          <p:cNvSpPr>
            <a:spLocks xmlns:a="http://schemas.openxmlformats.org/drawingml/2006/main" noGrp="1"/>
          </p:cNvSpPr>
          <p:nvPr/>
        </p:nvSpPr>
        <p:spPr>
          <a:xfrm xmlns:a="http://schemas.openxmlformats.org/drawingml/2006/main">
            <a:off x="44577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Internal route, stability and next-case behaviour</a:t>
            </a:r>
          </a:p>
        </p:txBody>
      </p:sp>
      <p:sp>
        <p:nvSpPr>
          <p:cNvPr id="12" name="">
            <a:extLst xmlns:a="http://schemas.openxmlformats.org/drawingml/2006/main">
              <a:ext uri="{FF2B5EF4-FFF2-40B4-BE49-F238E27FC236}">
                <a16:creationId xmlns:a16="http://schemas.microsoft.com/office/drawing/2014/main" id="{B0AFB00F-5190-4149-A7BC-6B012EE9F602}"/>
              </a:ext>
            </a:extLst>
          </p:cNvPr>
          <p:cNvSpPr>
            <a:spLocks xmlns:a="http://schemas.openxmlformats.org/drawingml/2006/main" noGrp="1"/>
          </p:cNvSpPr>
          <p:nvPr/>
        </p:nvSpPr>
        <p:spPr>
          <a:xfrm xmlns:a="http://schemas.openxmlformats.org/drawingml/2006/main">
            <a:off x="8058150" y="1428750"/>
            <a:ext cx="36004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DAB22441-4641-4E6C-8816-59E377ADECF8}"/>
              </a:ext>
            </a:extLst>
          </p:cNvPr>
          <p:cNvSpPr>
            <a:spLocks xmlns:a="http://schemas.openxmlformats.org/drawingml/2006/main" noGrp="1"/>
          </p:cNvSpPr>
          <p:nvPr/>
        </p:nvSpPr>
        <p:spPr>
          <a:xfrm xmlns:a="http://schemas.openxmlformats.org/drawingml/2006/main">
            <a:off x="8229600" y="156210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BETTER TEST</a:t>
            </a:r>
          </a:p>
        </p:txBody>
      </p:sp>
      <p:sp>
        <p:nvSpPr>
          <p:cNvPr id="14" name="">
            <a:extLst xmlns:a="http://schemas.openxmlformats.org/drawingml/2006/main">
              <a:ext uri="{FF2B5EF4-FFF2-40B4-BE49-F238E27FC236}">
                <a16:creationId xmlns:a16="http://schemas.microsoft.com/office/drawing/2014/main" id="{F7F338D0-7C37-43FE-9E6C-0768E4C92E0A}"/>
              </a:ext>
            </a:extLst>
          </p:cNvPr>
          <p:cNvSpPr>
            <a:spLocks xmlns:a="http://schemas.openxmlformats.org/drawingml/2006/main" noGrp="1"/>
          </p:cNvSpPr>
          <p:nvPr/>
        </p:nvSpPr>
        <p:spPr>
          <a:xfrm xmlns:a="http://schemas.openxmlformats.org/drawingml/2006/main">
            <a:off x="8229600" y="1924050"/>
            <a:ext cx="32575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Counterexamples, perturbations and process checks</a:t>
            </a:r>
          </a:p>
        </p:txBody>
      </p:sp>
      <p:sp>
        <p:nvSpPr>
          <p:cNvPr id="15" name="">
            <a:extLst xmlns:a="http://schemas.openxmlformats.org/drawingml/2006/main">
              <a:ext uri="{FF2B5EF4-FFF2-40B4-BE49-F238E27FC236}">
                <a16:creationId xmlns:a16="http://schemas.microsoft.com/office/drawing/2014/main" id="{F62CD796-64A7-4FFD-A629-CD0CC62612D1}"/>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A correct answer provides evidence about output, not a complete reasoning proof</a:t>
            </a:r>
          </a:p>
        </p:txBody>
      </p:sp>
    </p:spTree>
    <p:extLst>
      <p:ext uri="{BB962C8B-B14F-4D97-AF65-F5344CB8AC3E}">
        <p14:creationId xmlns:p14="http://schemas.microsoft.com/office/powerpoint/2010/main" val="969122817"/>
      </p:ext>
    </p:extLst>
  </p:cSld>
</p:sld>
</file>

<file path=ppt/slides/slide24.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425A685-37A6-40C8-8414-FC9E23AFCE47}"/>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5D8A43A7-4AE7-4ECA-8D6E-F6D4A30621F7}"/>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541798C9-F202-40E0-9735-D6129E1CA5D0}"/>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GROUNDING</a:t>
            </a:r>
          </a:p>
        </p:txBody>
      </p:sp>
      <p:sp>
        <p:nvSpPr>
          <p:cNvPr id="4" name="">
            <a:extLst xmlns:a="http://schemas.openxmlformats.org/drawingml/2006/main">
              <a:ext uri="{FF2B5EF4-FFF2-40B4-BE49-F238E27FC236}">
                <a16:creationId xmlns:a16="http://schemas.microsoft.com/office/drawing/2014/main" id="{927D4659-4B65-49AD-A4BF-259A87033A4D}"/>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EBA8EF97-85AA-4E36-BFBC-C106A5A23009}"/>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Retrieval-augmented generation</a:t>
            </a:r>
          </a:p>
        </p:txBody>
      </p:sp>
      <p:sp>
        <p:nvSpPr>
          <p:cNvPr id="6" name="">
            <a:extLst xmlns:a="http://schemas.openxmlformats.org/drawingml/2006/main">
              <a:ext uri="{FF2B5EF4-FFF2-40B4-BE49-F238E27FC236}">
                <a16:creationId xmlns:a16="http://schemas.microsoft.com/office/drawing/2014/main" id="{90D52ACC-219E-4CD8-8115-30EEC49F8EEA}"/>
              </a:ext>
            </a:extLst>
          </p:cNvPr>
          <p:cNvSpPr>
            <a:spLocks xmlns:a="http://schemas.openxmlformats.org/drawingml/2006/main" noGrp="1"/>
          </p:cNvSpPr>
          <p:nvPr/>
        </p:nvSpPr>
        <p:spPr>
          <a:xfrm xmlns:a="http://schemas.openxmlformats.org/drawingml/2006/main">
            <a:off x="7143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237744E9-2069-4D7D-A72D-40EBA09E65E1}"/>
              </a:ext>
            </a:extLst>
          </p:cNvPr>
          <p:cNvSpPr>
            <a:spLocks xmlns:a="http://schemas.openxmlformats.org/drawingml/2006/main" noGrp="1"/>
          </p:cNvSpPr>
          <p:nvPr/>
        </p:nvSpPr>
        <p:spPr>
          <a:xfrm xmlns:a="http://schemas.openxmlformats.org/drawingml/2006/main">
            <a:off x="8667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D033CE30-A05F-4EB1-8499-3AF2B9FA30A4}"/>
              </a:ext>
            </a:extLst>
          </p:cNvPr>
          <p:cNvSpPr>
            <a:spLocks xmlns:a="http://schemas.openxmlformats.org/drawingml/2006/main" noGrp="1"/>
          </p:cNvSpPr>
          <p:nvPr/>
        </p:nvSpPr>
        <p:spPr>
          <a:xfrm xmlns:a="http://schemas.openxmlformats.org/drawingml/2006/main">
            <a:off x="8667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Index</a:t>
            </a:r>
          </a:p>
        </p:txBody>
      </p:sp>
      <p:sp>
        <p:nvSpPr>
          <p:cNvPr id="9" name="">
            <a:extLst xmlns:a="http://schemas.openxmlformats.org/drawingml/2006/main">
              <a:ext uri="{FF2B5EF4-FFF2-40B4-BE49-F238E27FC236}">
                <a16:creationId xmlns:a16="http://schemas.microsoft.com/office/drawing/2014/main" id="{88F25C06-801A-490A-9057-A8DCF2B46722}"/>
              </a:ext>
            </a:extLst>
          </p:cNvPr>
          <p:cNvSpPr>
            <a:spLocks xmlns:a="http://schemas.openxmlformats.org/drawingml/2006/main" noGrp="1"/>
          </p:cNvSpPr>
          <p:nvPr/>
        </p:nvSpPr>
        <p:spPr>
          <a:xfrm xmlns:a="http://schemas.openxmlformats.org/drawingml/2006/main">
            <a:off x="8667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Organize eligible sources</a:t>
            </a:r>
          </a:p>
        </p:txBody>
      </p:sp>
      <p:sp>
        <p:nvSpPr>
          <p:cNvPr id="10" name="">
            <a:extLst xmlns:a="http://schemas.openxmlformats.org/drawingml/2006/main">
              <a:ext uri="{FF2B5EF4-FFF2-40B4-BE49-F238E27FC236}">
                <a16:creationId xmlns:a16="http://schemas.microsoft.com/office/drawing/2014/main" id="{FE29820B-FA65-4AF0-A790-19478F93EB00}"/>
              </a:ext>
            </a:extLst>
          </p:cNvPr>
          <p:cNvSpPr>
            <a:spLocks xmlns:a="http://schemas.openxmlformats.org/drawingml/2006/main" noGrp="1"/>
          </p:cNvSpPr>
          <p:nvPr/>
        </p:nvSpPr>
        <p:spPr>
          <a:xfrm xmlns:a="http://schemas.openxmlformats.org/drawingml/2006/main">
            <a:off x="34385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1" name="">
            <a:extLst xmlns:a="http://schemas.openxmlformats.org/drawingml/2006/main">
              <a:ext uri="{FF2B5EF4-FFF2-40B4-BE49-F238E27FC236}">
                <a16:creationId xmlns:a16="http://schemas.microsoft.com/office/drawing/2014/main" id="{58D8F71F-6E7C-4C95-91C5-3E7C154D80D9}"/>
              </a:ext>
            </a:extLst>
          </p:cNvPr>
          <p:cNvSpPr>
            <a:spLocks xmlns:a="http://schemas.openxmlformats.org/drawingml/2006/main" noGrp="1"/>
          </p:cNvSpPr>
          <p:nvPr/>
        </p:nvSpPr>
        <p:spPr>
          <a:xfrm xmlns:a="http://schemas.openxmlformats.org/drawingml/2006/main">
            <a:off x="35909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AEBF1B80-5A7D-4E54-958F-081714CD23B0}"/>
              </a:ext>
            </a:extLst>
          </p:cNvPr>
          <p:cNvSpPr>
            <a:spLocks xmlns:a="http://schemas.openxmlformats.org/drawingml/2006/main" noGrp="1"/>
          </p:cNvSpPr>
          <p:nvPr/>
        </p:nvSpPr>
        <p:spPr>
          <a:xfrm xmlns:a="http://schemas.openxmlformats.org/drawingml/2006/main">
            <a:off x="35909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Retrieve</a:t>
            </a:r>
          </a:p>
        </p:txBody>
      </p:sp>
      <p:sp>
        <p:nvSpPr>
          <p:cNvPr id="13" name="">
            <a:extLst xmlns:a="http://schemas.openxmlformats.org/drawingml/2006/main">
              <a:ext uri="{FF2B5EF4-FFF2-40B4-BE49-F238E27FC236}">
                <a16:creationId xmlns:a16="http://schemas.microsoft.com/office/drawing/2014/main" id="{81E24A87-71F1-4CBF-929E-4C6AE8051891}"/>
              </a:ext>
            </a:extLst>
          </p:cNvPr>
          <p:cNvSpPr>
            <a:spLocks xmlns:a="http://schemas.openxmlformats.org/drawingml/2006/main" noGrp="1"/>
          </p:cNvSpPr>
          <p:nvPr/>
        </p:nvSpPr>
        <p:spPr>
          <a:xfrm xmlns:a="http://schemas.openxmlformats.org/drawingml/2006/main">
            <a:off x="35909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Select relevant passages</a:t>
            </a:r>
          </a:p>
        </p:txBody>
      </p:sp>
      <p:sp>
        <p:nvSpPr>
          <p:cNvPr id="14" name="">
            <a:extLst xmlns:a="http://schemas.openxmlformats.org/drawingml/2006/main">
              <a:ext uri="{FF2B5EF4-FFF2-40B4-BE49-F238E27FC236}">
                <a16:creationId xmlns:a16="http://schemas.microsoft.com/office/drawing/2014/main" id="{E73BC025-46BA-4634-9A14-6F9642A55C0E}"/>
              </a:ext>
            </a:extLst>
          </p:cNvPr>
          <p:cNvSpPr>
            <a:spLocks xmlns:a="http://schemas.openxmlformats.org/drawingml/2006/main" noGrp="1"/>
          </p:cNvSpPr>
          <p:nvPr/>
        </p:nvSpPr>
        <p:spPr>
          <a:xfrm xmlns:a="http://schemas.openxmlformats.org/drawingml/2006/main">
            <a:off x="61626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5" name="">
            <a:extLst xmlns:a="http://schemas.openxmlformats.org/drawingml/2006/main">
              <a:ext uri="{FF2B5EF4-FFF2-40B4-BE49-F238E27FC236}">
                <a16:creationId xmlns:a16="http://schemas.microsoft.com/office/drawing/2014/main" id="{767E3908-6B63-4A5E-B46D-077CC380C477}"/>
              </a:ext>
            </a:extLst>
          </p:cNvPr>
          <p:cNvSpPr>
            <a:spLocks xmlns:a="http://schemas.openxmlformats.org/drawingml/2006/main" noGrp="1"/>
          </p:cNvSpPr>
          <p:nvPr/>
        </p:nvSpPr>
        <p:spPr>
          <a:xfrm xmlns:a="http://schemas.openxmlformats.org/drawingml/2006/main">
            <a:off x="63150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03</a:t>
            </a:r>
          </a:p>
        </p:txBody>
      </p:sp>
      <p:sp>
        <p:nvSpPr>
          <p:cNvPr id="16" name="">
            <a:extLst xmlns:a="http://schemas.openxmlformats.org/drawingml/2006/main">
              <a:ext uri="{FF2B5EF4-FFF2-40B4-BE49-F238E27FC236}">
                <a16:creationId xmlns:a16="http://schemas.microsoft.com/office/drawing/2014/main" id="{DC7BCBDB-6FF3-4731-90BC-2DA9C5F116C5}"/>
              </a:ext>
            </a:extLst>
          </p:cNvPr>
          <p:cNvSpPr>
            <a:spLocks xmlns:a="http://schemas.openxmlformats.org/drawingml/2006/main" noGrp="1"/>
          </p:cNvSpPr>
          <p:nvPr/>
        </p:nvSpPr>
        <p:spPr>
          <a:xfrm xmlns:a="http://schemas.openxmlformats.org/drawingml/2006/main">
            <a:off x="63150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Generate</a:t>
            </a:r>
          </a:p>
        </p:txBody>
      </p:sp>
      <p:sp>
        <p:nvSpPr>
          <p:cNvPr id="17" name="">
            <a:extLst xmlns:a="http://schemas.openxmlformats.org/drawingml/2006/main">
              <a:ext uri="{FF2B5EF4-FFF2-40B4-BE49-F238E27FC236}">
                <a16:creationId xmlns:a16="http://schemas.microsoft.com/office/drawing/2014/main" id="{666BFE59-D272-479A-A746-599922F79656}"/>
              </a:ext>
            </a:extLst>
          </p:cNvPr>
          <p:cNvSpPr>
            <a:spLocks xmlns:a="http://schemas.openxmlformats.org/drawingml/2006/main" noGrp="1"/>
          </p:cNvSpPr>
          <p:nvPr/>
        </p:nvSpPr>
        <p:spPr>
          <a:xfrm xmlns:a="http://schemas.openxmlformats.org/drawingml/2006/main">
            <a:off x="63150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Condition on retained evidence</a:t>
            </a:r>
          </a:p>
        </p:txBody>
      </p:sp>
      <p:sp>
        <p:nvSpPr>
          <p:cNvPr id="18" name="">
            <a:extLst xmlns:a="http://schemas.openxmlformats.org/drawingml/2006/main">
              <a:ext uri="{FF2B5EF4-FFF2-40B4-BE49-F238E27FC236}">
                <a16:creationId xmlns:a16="http://schemas.microsoft.com/office/drawing/2014/main" id="{289B06D1-C747-40F2-9032-3E07A2EC9E50}"/>
              </a:ext>
            </a:extLst>
          </p:cNvPr>
          <p:cNvSpPr>
            <a:spLocks xmlns:a="http://schemas.openxmlformats.org/drawingml/2006/main" noGrp="1"/>
          </p:cNvSpPr>
          <p:nvPr/>
        </p:nvSpPr>
        <p:spPr>
          <a:xfrm xmlns:a="http://schemas.openxmlformats.org/drawingml/2006/main">
            <a:off x="88868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F4B740"/>
            </a:solidFill>
          </a:ln>
        </p:spPr>
      </p:sp>
      <p:sp>
        <p:nvSpPr>
          <p:cNvPr id="19" name="">
            <a:extLst xmlns:a="http://schemas.openxmlformats.org/drawingml/2006/main">
              <a:ext uri="{FF2B5EF4-FFF2-40B4-BE49-F238E27FC236}">
                <a16:creationId xmlns:a16="http://schemas.microsoft.com/office/drawing/2014/main" id="{5C6CFFAA-51F1-44A8-AEBF-DE239012F012}"/>
              </a:ext>
            </a:extLst>
          </p:cNvPr>
          <p:cNvSpPr>
            <a:spLocks xmlns:a="http://schemas.openxmlformats.org/drawingml/2006/main" noGrp="1"/>
          </p:cNvSpPr>
          <p:nvPr/>
        </p:nvSpPr>
        <p:spPr>
          <a:xfrm xmlns:a="http://schemas.openxmlformats.org/drawingml/2006/main">
            <a:off x="90392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4B740"/>
                </a:solidFill>
                <a:latin typeface="Calibri"/>
                <a:ea typeface="Calibri"/>
                <a:cs typeface="Calibri"/>
              </a:defRPr>
            </a:pPr>
            <a:r>
              <a:rPr sz="1650" b="1">
                <a:solidFill>
                  <a:srgbClr val="F4B740"/>
                </a:solidFill>
                <a:latin typeface="Calibri"/>
                <a:ea typeface="Calibri"/>
                <a:cs typeface="Calibri"/>
              </a:rPr>
              <a:t>04</a:t>
            </a:r>
          </a:p>
        </p:txBody>
      </p:sp>
      <p:sp>
        <p:nvSpPr>
          <p:cNvPr id="20" name="">
            <a:extLst xmlns:a="http://schemas.openxmlformats.org/drawingml/2006/main">
              <a:ext uri="{FF2B5EF4-FFF2-40B4-BE49-F238E27FC236}">
                <a16:creationId xmlns:a16="http://schemas.microsoft.com/office/drawing/2014/main" id="{B97F10AA-E36E-4109-A583-8AB4FCDDD992}"/>
              </a:ext>
            </a:extLst>
          </p:cNvPr>
          <p:cNvSpPr>
            <a:spLocks xmlns:a="http://schemas.openxmlformats.org/drawingml/2006/main" noGrp="1"/>
          </p:cNvSpPr>
          <p:nvPr/>
        </p:nvSpPr>
        <p:spPr>
          <a:xfrm xmlns:a="http://schemas.openxmlformats.org/drawingml/2006/main">
            <a:off x="90392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Verify</a:t>
            </a:r>
          </a:p>
        </p:txBody>
      </p:sp>
      <p:sp>
        <p:nvSpPr>
          <p:cNvPr id="21" name="">
            <a:extLst xmlns:a="http://schemas.openxmlformats.org/drawingml/2006/main">
              <a:ext uri="{FF2B5EF4-FFF2-40B4-BE49-F238E27FC236}">
                <a16:creationId xmlns:a16="http://schemas.microsoft.com/office/drawing/2014/main" id="{498ED9D8-86D2-4E27-BB7A-9B38A9E9549F}"/>
              </a:ext>
            </a:extLst>
          </p:cNvPr>
          <p:cNvSpPr>
            <a:spLocks xmlns:a="http://schemas.openxmlformats.org/drawingml/2006/main" noGrp="1"/>
          </p:cNvSpPr>
          <p:nvPr/>
        </p:nvSpPr>
        <p:spPr>
          <a:xfrm xmlns:a="http://schemas.openxmlformats.org/drawingml/2006/main">
            <a:off x="90392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Check every material claim</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33051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602932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7534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sp>
        <p:nvSpPr>
          <p:cNvPr id="25" name="">
            <a:extLst xmlns:a="http://schemas.openxmlformats.org/drawingml/2006/main">
              <a:ext uri="{FF2B5EF4-FFF2-40B4-BE49-F238E27FC236}">
                <a16:creationId xmlns:a16="http://schemas.microsoft.com/office/drawing/2014/main" id="{DE2F2B51-354D-4B47-B277-0C39CB62FCB2}"/>
              </a:ext>
            </a:extLst>
          </p:cNvPr>
          <p:cNvSpPr>
            <a:spLocks xmlns:a="http://schemas.openxmlformats.org/drawingml/2006/main" noGrp="1"/>
          </p:cNvSpPr>
          <p:nvPr/>
        </p:nvSpPr>
        <p:spPr>
          <a:xfrm xmlns:a="http://schemas.openxmlformats.org/drawingml/2006/main">
            <a:off x="66675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4B740"/>
                </a:solidFill>
                <a:latin typeface="Calibri"/>
                <a:ea typeface="Calibri"/>
                <a:cs typeface="Calibri"/>
              </a:defRPr>
            </a:pPr>
            <a:r>
              <a:rPr sz="1350" b="1">
                <a:solidFill>
                  <a:srgbClr val="F4B740"/>
                </a:solidFill>
                <a:latin typeface="Calibri"/>
                <a:ea typeface="Calibri"/>
                <a:cs typeface="Calibri"/>
              </a:rPr>
              <a:t>Measure retrieval failure separately from generation failure</a:t>
            </a:r>
          </a:p>
        </p:txBody>
      </p:sp>
    </p:spTree>
    <p:extLst>
      <p:ext uri="{BB962C8B-B14F-4D97-AF65-F5344CB8AC3E}">
        <p14:creationId xmlns:p14="http://schemas.microsoft.com/office/powerpoint/2010/main" val="1785149305"/>
      </p:ext>
    </p:extLst>
  </p:cSld>
</p:sld>
</file>

<file path=ppt/slides/slide25.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9D2F54B-EABF-4503-B697-D7CE724C9EE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32465D05-3925-480E-827B-54376D5A80F9}"/>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CD58C991-F0E1-4AB5-A77E-AA7173A4D1A7}"/>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GROUNDING</a:t>
            </a:r>
          </a:p>
        </p:txBody>
      </p:sp>
      <p:sp>
        <p:nvSpPr>
          <p:cNvPr id="4" name="">
            <a:extLst xmlns:a="http://schemas.openxmlformats.org/drawingml/2006/main">
              <a:ext uri="{FF2B5EF4-FFF2-40B4-BE49-F238E27FC236}">
                <a16:creationId xmlns:a16="http://schemas.microsoft.com/office/drawing/2014/main" id="{52519A0C-E083-44E2-B4FA-D3CFDABEAE2A}"/>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25</a:t>
            </a:r>
          </a:p>
        </p:txBody>
      </p:sp>
      <p:sp>
        <p:nvSpPr>
          <p:cNvPr id="5" name="">
            <a:extLst xmlns:a="http://schemas.openxmlformats.org/drawingml/2006/main">
              <a:ext uri="{FF2B5EF4-FFF2-40B4-BE49-F238E27FC236}">
                <a16:creationId xmlns:a16="http://schemas.microsoft.com/office/drawing/2014/main" id="{B894DBDB-427A-48DE-A411-DFF92C77ABEE}"/>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Claim-level evidence</a:t>
            </a:r>
          </a:p>
        </p:txBody>
      </p:sp>
      <p:sp>
        <p:nvSpPr>
          <p:cNvPr id="6" name="">
            <a:extLst xmlns:a="http://schemas.openxmlformats.org/drawingml/2006/main">
              <a:ext uri="{FF2B5EF4-FFF2-40B4-BE49-F238E27FC236}">
                <a16:creationId xmlns:a16="http://schemas.microsoft.com/office/drawing/2014/main" id="{82D49B1E-F977-42C7-AB26-B4629252CA95}"/>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481F0824-534F-44B3-A79B-50AB2F91A563}"/>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CLAIM</a:t>
            </a:r>
          </a:p>
        </p:txBody>
      </p:sp>
      <p:sp>
        <p:nvSpPr>
          <p:cNvPr id="8" name="">
            <a:extLst xmlns:a="http://schemas.openxmlformats.org/drawingml/2006/main">
              <a:ext uri="{FF2B5EF4-FFF2-40B4-BE49-F238E27FC236}">
                <a16:creationId xmlns:a16="http://schemas.microsoft.com/office/drawing/2014/main" id="{B9EBBC64-A846-46CC-BD04-9373397BCD66}"/>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Quarterly revenue was USD 12.4 million</a:t>
            </a:r>
          </a:p>
        </p:txBody>
      </p:sp>
      <p:sp>
        <p:nvSpPr>
          <p:cNvPr id="9" name="">
            <a:extLst xmlns:a="http://schemas.openxmlformats.org/drawingml/2006/main">
              <a:ext uri="{FF2B5EF4-FFF2-40B4-BE49-F238E27FC236}">
                <a16:creationId xmlns:a16="http://schemas.microsoft.com/office/drawing/2014/main" id="{23B54855-2D38-45B9-AD28-46369A7E970D}"/>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F60F892A-0E81-40CA-9506-107E09240E4F}"/>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QUALIFIER</a:t>
            </a:r>
          </a:p>
        </p:txBody>
      </p:sp>
      <p:sp>
        <p:nvSpPr>
          <p:cNvPr id="11" name="">
            <a:extLst xmlns:a="http://schemas.openxmlformats.org/drawingml/2006/main">
              <a:ext uri="{FF2B5EF4-FFF2-40B4-BE49-F238E27FC236}">
                <a16:creationId xmlns:a16="http://schemas.microsoft.com/office/drawing/2014/main" id="{394AB5CD-58F2-4A7E-A1FD-8AE15F89CCAE}"/>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Provisional pending audit</a:t>
            </a:r>
          </a:p>
        </p:txBody>
      </p:sp>
      <p:sp>
        <p:nvSpPr>
          <p:cNvPr id="12" name="">
            <a:extLst xmlns:a="http://schemas.openxmlformats.org/drawingml/2006/main">
              <a:ext uri="{FF2B5EF4-FFF2-40B4-BE49-F238E27FC236}">
                <a16:creationId xmlns:a16="http://schemas.microsoft.com/office/drawing/2014/main" id="{E2991B1A-2668-4AF2-8400-FADFA7FABC41}"/>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174F8B4D-33B5-48DD-9366-C312689B644C}"/>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SOURCE</a:t>
            </a:r>
          </a:p>
        </p:txBody>
      </p:sp>
      <p:sp>
        <p:nvSpPr>
          <p:cNvPr id="14" name="">
            <a:extLst xmlns:a="http://schemas.openxmlformats.org/drawingml/2006/main">
              <a:ext uri="{FF2B5EF4-FFF2-40B4-BE49-F238E27FC236}">
                <a16:creationId xmlns:a16="http://schemas.microsoft.com/office/drawing/2014/main" id="{A77C239A-5D50-4BC9-ABE3-2B6AC88BFBCA}"/>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Authorized table cell and note</a:t>
            </a:r>
          </a:p>
        </p:txBody>
      </p:sp>
      <p:sp>
        <p:nvSpPr>
          <p:cNvPr id="15" name="">
            <a:extLst xmlns:a="http://schemas.openxmlformats.org/drawingml/2006/main">
              <a:ext uri="{FF2B5EF4-FFF2-40B4-BE49-F238E27FC236}">
                <a16:creationId xmlns:a16="http://schemas.microsoft.com/office/drawing/2014/main" id="{AEEF5A6A-E6C1-4FB0-8B2A-E40CDB142693}"/>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AD66EDCC-6D65-4167-9E8B-B432B68D7FDC}"/>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DISPOSITION</a:t>
            </a:r>
          </a:p>
        </p:txBody>
      </p:sp>
      <p:sp>
        <p:nvSpPr>
          <p:cNvPr id="17" name="">
            <a:extLst xmlns:a="http://schemas.openxmlformats.org/drawingml/2006/main">
              <a:ext uri="{FF2B5EF4-FFF2-40B4-BE49-F238E27FC236}">
                <a16:creationId xmlns:a16="http://schemas.microsoft.com/office/drawing/2014/main" id="{32080AAD-667A-4B33-B606-F5699DF93A07}"/>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Approve, revise, reject or escalate</a:t>
            </a:r>
          </a:p>
        </p:txBody>
      </p:sp>
      <p:sp>
        <p:nvSpPr>
          <p:cNvPr id="18" name="">
            <a:extLst xmlns:a="http://schemas.openxmlformats.org/drawingml/2006/main">
              <a:ext uri="{FF2B5EF4-FFF2-40B4-BE49-F238E27FC236}">
                <a16:creationId xmlns:a16="http://schemas.microsoft.com/office/drawing/2014/main" id="{E87F943B-C73B-4716-9D38-370926DC6D94}"/>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A citation must exist, carry authority and support the stated meaning</a:t>
            </a:r>
          </a:p>
        </p:txBody>
      </p:sp>
    </p:spTree>
    <p:extLst>
      <p:ext uri="{BB962C8B-B14F-4D97-AF65-F5344CB8AC3E}">
        <p14:creationId xmlns:p14="http://schemas.microsoft.com/office/powerpoint/2010/main" val="420126101"/>
      </p:ext>
    </p:extLst>
  </p:cSld>
</p:sld>
</file>

<file path=ppt/slides/slide26.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24FD6DF-4FF9-420C-95A9-90E2D9922FEC}"/>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71AF98DE-655E-438D-B7A1-2C0ECE01783A}"/>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5050DE99-3598-42A1-AC04-846021689A55}"/>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SYSTEM ARCHITECTURE</a:t>
            </a:r>
          </a:p>
        </p:txBody>
      </p:sp>
      <p:sp>
        <p:nvSpPr>
          <p:cNvPr id="4" name="">
            <a:extLst xmlns:a="http://schemas.openxmlformats.org/drawingml/2006/main">
              <a:ext uri="{FF2B5EF4-FFF2-40B4-BE49-F238E27FC236}">
                <a16:creationId xmlns:a16="http://schemas.microsoft.com/office/drawing/2014/main" id="{E43BAB29-08C6-46DF-AE32-9E8C6D0A93FB}"/>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26</a:t>
            </a:r>
          </a:p>
        </p:txBody>
      </p:sp>
      <p:sp>
        <p:nvSpPr>
          <p:cNvPr id="5" name="">
            <a:extLst xmlns:a="http://schemas.openxmlformats.org/drawingml/2006/main">
              <a:ext uri="{FF2B5EF4-FFF2-40B4-BE49-F238E27FC236}">
                <a16:creationId xmlns:a16="http://schemas.microsoft.com/office/drawing/2014/main" id="{C6CC2397-E4C1-412D-B66B-F99498C823C2}"/>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Tools and functions</a:t>
            </a:r>
          </a:p>
        </p:txBody>
      </p:sp>
      <p:sp>
        <p:nvSpPr>
          <p:cNvPr id="6" name="">
            <a:extLst xmlns:a="http://schemas.openxmlformats.org/drawingml/2006/main">
              <a:ext uri="{FF2B5EF4-FFF2-40B4-BE49-F238E27FC236}">
                <a16:creationId xmlns:a16="http://schemas.microsoft.com/office/drawing/2014/main" id="{6AB313EA-7F21-442A-9692-B5B7CCB6A169}"/>
              </a:ext>
            </a:extLst>
          </p:cNvPr>
          <p:cNvSpPr>
            <a:spLocks xmlns:a="http://schemas.openxmlformats.org/drawingml/2006/main" noGrp="1"/>
          </p:cNvSpPr>
          <p:nvPr/>
        </p:nvSpPr>
        <p:spPr>
          <a:xfrm xmlns:a="http://schemas.openxmlformats.org/drawingml/2006/main">
            <a:off x="7143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2C422EB6-F22B-4072-8B68-8F93DA342BE7}"/>
              </a:ext>
            </a:extLst>
          </p:cNvPr>
          <p:cNvSpPr>
            <a:spLocks xmlns:a="http://schemas.openxmlformats.org/drawingml/2006/main" noGrp="1"/>
          </p:cNvSpPr>
          <p:nvPr/>
        </p:nvSpPr>
        <p:spPr>
          <a:xfrm xmlns:a="http://schemas.openxmlformats.org/drawingml/2006/main">
            <a:off x="8667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29555101-33CF-4F7F-91B6-6D06BB2DA066}"/>
              </a:ext>
            </a:extLst>
          </p:cNvPr>
          <p:cNvSpPr>
            <a:spLocks xmlns:a="http://schemas.openxmlformats.org/drawingml/2006/main" noGrp="1"/>
          </p:cNvSpPr>
          <p:nvPr/>
        </p:nvSpPr>
        <p:spPr>
          <a:xfrm xmlns:a="http://schemas.openxmlformats.org/drawingml/2006/main">
            <a:off x="8667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Proposal</a:t>
            </a:r>
          </a:p>
        </p:txBody>
      </p:sp>
      <p:sp>
        <p:nvSpPr>
          <p:cNvPr id="9" name="">
            <a:extLst xmlns:a="http://schemas.openxmlformats.org/drawingml/2006/main">
              <a:ext uri="{FF2B5EF4-FFF2-40B4-BE49-F238E27FC236}">
                <a16:creationId xmlns:a16="http://schemas.microsoft.com/office/drawing/2014/main" id="{000F501C-1F4B-4C95-B32E-E8D5AF9CBFC2}"/>
              </a:ext>
            </a:extLst>
          </p:cNvPr>
          <p:cNvSpPr>
            <a:spLocks xmlns:a="http://schemas.openxmlformats.org/drawingml/2006/main" noGrp="1"/>
          </p:cNvSpPr>
          <p:nvPr/>
        </p:nvSpPr>
        <p:spPr>
          <a:xfrm xmlns:a="http://schemas.openxmlformats.org/drawingml/2006/main">
            <a:off x="8667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Model produces structured arguments</a:t>
            </a:r>
          </a:p>
        </p:txBody>
      </p:sp>
      <p:sp>
        <p:nvSpPr>
          <p:cNvPr id="10" name="">
            <a:extLst xmlns:a="http://schemas.openxmlformats.org/drawingml/2006/main">
              <a:ext uri="{FF2B5EF4-FFF2-40B4-BE49-F238E27FC236}">
                <a16:creationId xmlns:a16="http://schemas.microsoft.com/office/drawing/2014/main" id="{139DAD55-0D64-461C-A11D-1CDC8EFFF546}"/>
              </a:ext>
            </a:extLst>
          </p:cNvPr>
          <p:cNvSpPr>
            <a:spLocks xmlns:a="http://schemas.openxmlformats.org/drawingml/2006/main" noGrp="1"/>
          </p:cNvSpPr>
          <p:nvPr/>
        </p:nvSpPr>
        <p:spPr>
          <a:xfrm xmlns:a="http://schemas.openxmlformats.org/drawingml/2006/main">
            <a:off x="34385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1" name="">
            <a:extLst xmlns:a="http://schemas.openxmlformats.org/drawingml/2006/main">
              <a:ext uri="{FF2B5EF4-FFF2-40B4-BE49-F238E27FC236}">
                <a16:creationId xmlns:a16="http://schemas.microsoft.com/office/drawing/2014/main" id="{C4A3D2B5-C61B-44C7-93EC-61838E9FE3EA}"/>
              </a:ext>
            </a:extLst>
          </p:cNvPr>
          <p:cNvSpPr>
            <a:spLocks xmlns:a="http://schemas.openxmlformats.org/drawingml/2006/main" noGrp="1"/>
          </p:cNvSpPr>
          <p:nvPr/>
        </p:nvSpPr>
        <p:spPr>
          <a:xfrm xmlns:a="http://schemas.openxmlformats.org/drawingml/2006/main">
            <a:off x="35909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41802C12-5F1C-4869-8BBF-293EAA8D682D}"/>
              </a:ext>
            </a:extLst>
          </p:cNvPr>
          <p:cNvSpPr>
            <a:spLocks xmlns:a="http://schemas.openxmlformats.org/drawingml/2006/main" noGrp="1"/>
          </p:cNvSpPr>
          <p:nvPr/>
        </p:nvSpPr>
        <p:spPr>
          <a:xfrm xmlns:a="http://schemas.openxmlformats.org/drawingml/2006/main">
            <a:off x="35909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Validation</a:t>
            </a:r>
          </a:p>
        </p:txBody>
      </p:sp>
      <p:sp>
        <p:nvSpPr>
          <p:cNvPr id="13" name="">
            <a:extLst xmlns:a="http://schemas.openxmlformats.org/drawingml/2006/main">
              <a:ext uri="{FF2B5EF4-FFF2-40B4-BE49-F238E27FC236}">
                <a16:creationId xmlns:a16="http://schemas.microsoft.com/office/drawing/2014/main" id="{9C8AA88C-BC9D-447C-B0A1-3F26A6B5755C}"/>
              </a:ext>
            </a:extLst>
          </p:cNvPr>
          <p:cNvSpPr>
            <a:spLocks xmlns:a="http://schemas.openxmlformats.org/drawingml/2006/main" noGrp="1"/>
          </p:cNvSpPr>
          <p:nvPr/>
        </p:nvSpPr>
        <p:spPr>
          <a:xfrm xmlns:a="http://schemas.openxmlformats.org/drawingml/2006/main">
            <a:off x="35909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System checks schema and permission</a:t>
            </a:r>
          </a:p>
        </p:txBody>
      </p:sp>
      <p:sp>
        <p:nvSpPr>
          <p:cNvPr id="14" name="">
            <a:extLst xmlns:a="http://schemas.openxmlformats.org/drawingml/2006/main">
              <a:ext uri="{FF2B5EF4-FFF2-40B4-BE49-F238E27FC236}">
                <a16:creationId xmlns:a16="http://schemas.microsoft.com/office/drawing/2014/main" id="{89340E00-97F9-4E0F-9BE8-E0D28965CCBB}"/>
              </a:ext>
            </a:extLst>
          </p:cNvPr>
          <p:cNvSpPr>
            <a:spLocks xmlns:a="http://schemas.openxmlformats.org/drawingml/2006/main" noGrp="1"/>
          </p:cNvSpPr>
          <p:nvPr/>
        </p:nvSpPr>
        <p:spPr>
          <a:xfrm xmlns:a="http://schemas.openxmlformats.org/drawingml/2006/main">
            <a:off x="61626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5" name="">
            <a:extLst xmlns:a="http://schemas.openxmlformats.org/drawingml/2006/main">
              <a:ext uri="{FF2B5EF4-FFF2-40B4-BE49-F238E27FC236}">
                <a16:creationId xmlns:a16="http://schemas.microsoft.com/office/drawing/2014/main" id="{2B9A29DF-A823-4554-A6E0-225B97ABBD73}"/>
              </a:ext>
            </a:extLst>
          </p:cNvPr>
          <p:cNvSpPr>
            <a:spLocks xmlns:a="http://schemas.openxmlformats.org/drawingml/2006/main" noGrp="1"/>
          </p:cNvSpPr>
          <p:nvPr/>
        </p:nvSpPr>
        <p:spPr>
          <a:xfrm xmlns:a="http://schemas.openxmlformats.org/drawingml/2006/main">
            <a:off x="63150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03</a:t>
            </a:r>
          </a:p>
        </p:txBody>
      </p:sp>
      <p:sp>
        <p:nvSpPr>
          <p:cNvPr id="16" name="">
            <a:extLst xmlns:a="http://schemas.openxmlformats.org/drawingml/2006/main">
              <a:ext uri="{FF2B5EF4-FFF2-40B4-BE49-F238E27FC236}">
                <a16:creationId xmlns:a16="http://schemas.microsoft.com/office/drawing/2014/main" id="{2E197E71-BC1A-43ED-8739-D5AB0F5068DE}"/>
              </a:ext>
            </a:extLst>
          </p:cNvPr>
          <p:cNvSpPr>
            <a:spLocks xmlns:a="http://schemas.openxmlformats.org/drawingml/2006/main" noGrp="1"/>
          </p:cNvSpPr>
          <p:nvPr/>
        </p:nvSpPr>
        <p:spPr>
          <a:xfrm xmlns:a="http://schemas.openxmlformats.org/drawingml/2006/main">
            <a:off x="63150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Execution</a:t>
            </a:r>
          </a:p>
        </p:txBody>
      </p:sp>
      <p:sp>
        <p:nvSpPr>
          <p:cNvPr id="17" name="">
            <a:extLst xmlns:a="http://schemas.openxmlformats.org/drawingml/2006/main">
              <a:ext uri="{FF2B5EF4-FFF2-40B4-BE49-F238E27FC236}">
                <a16:creationId xmlns:a16="http://schemas.microsoft.com/office/drawing/2014/main" id="{34151056-8BA6-4D7A-88FB-F9B3661FBFAD}"/>
              </a:ext>
            </a:extLst>
          </p:cNvPr>
          <p:cNvSpPr>
            <a:spLocks xmlns:a="http://schemas.openxmlformats.org/drawingml/2006/main" noGrp="1"/>
          </p:cNvSpPr>
          <p:nvPr/>
        </p:nvSpPr>
        <p:spPr>
          <a:xfrm xmlns:a="http://schemas.openxmlformats.org/drawingml/2006/main">
            <a:off x="63150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Authorized service performs action</a:t>
            </a:r>
          </a:p>
        </p:txBody>
      </p:sp>
      <p:sp>
        <p:nvSpPr>
          <p:cNvPr id="18" name="">
            <a:extLst xmlns:a="http://schemas.openxmlformats.org/drawingml/2006/main">
              <a:ext uri="{FF2B5EF4-FFF2-40B4-BE49-F238E27FC236}">
                <a16:creationId xmlns:a16="http://schemas.microsoft.com/office/drawing/2014/main" id="{1E2FB35F-A988-4D2A-B3BB-A55C73EE770A}"/>
              </a:ext>
            </a:extLst>
          </p:cNvPr>
          <p:cNvSpPr>
            <a:spLocks xmlns:a="http://schemas.openxmlformats.org/drawingml/2006/main" noGrp="1"/>
          </p:cNvSpPr>
          <p:nvPr/>
        </p:nvSpPr>
        <p:spPr>
          <a:xfrm xmlns:a="http://schemas.openxmlformats.org/drawingml/2006/main">
            <a:off x="88868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F4B740"/>
            </a:solidFill>
          </a:ln>
        </p:spPr>
      </p:sp>
      <p:sp>
        <p:nvSpPr>
          <p:cNvPr id="19" name="">
            <a:extLst xmlns:a="http://schemas.openxmlformats.org/drawingml/2006/main">
              <a:ext uri="{FF2B5EF4-FFF2-40B4-BE49-F238E27FC236}">
                <a16:creationId xmlns:a16="http://schemas.microsoft.com/office/drawing/2014/main" id="{0DADFE5C-B499-418A-84BC-FA979CF9F093}"/>
              </a:ext>
            </a:extLst>
          </p:cNvPr>
          <p:cNvSpPr>
            <a:spLocks xmlns:a="http://schemas.openxmlformats.org/drawingml/2006/main" noGrp="1"/>
          </p:cNvSpPr>
          <p:nvPr/>
        </p:nvSpPr>
        <p:spPr>
          <a:xfrm xmlns:a="http://schemas.openxmlformats.org/drawingml/2006/main">
            <a:off x="90392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4B740"/>
                </a:solidFill>
                <a:latin typeface="Calibri"/>
                <a:ea typeface="Calibri"/>
                <a:cs typeface="Calibri"/>
              </a:defRPr>
            </a:pPr>
            <a:r>
              <a:rPr sz="1650" b="1">
                <a:solidFill>
                  <a:srgbClr val="F4B740"/>
                </a:solidFill>
                <a:latin typeface="Calibri"/>
                <a:ea typeface="Calibri"/>
                <a:cs typeface="Calibri"/>
              </a:rPr>
              <a:t>04</a:t>
            </a:r>
          </a:p>
        </p:txBody>
      </p:sp>
      <p:sp>
        <p:nvSpPr>
          <p:cNvPr id="20" name="">
            <a:extLst xmlns:a="http://schemas.openxmlformats.org/drawingml/2006/main">
              <a:ext uri="{FF2B5EF4-FFF2-40B4-BE49-F238E27FC236}">
                <a16:creationId xmlns:a16="http://schemas.microsoft.com/office/drawing/2014/main" id="{E89ECA32-25C2-42F1-9E0A-25DBFF71D960}"/>
              </a:ext>
            </a:extLst>
          </p:cNvPr>
          <p:cNvSpPr>
            <a:spLocks xmlns:a="http://schemas.openxmlformats.org/drawingml/2006/main" noGrp="1"/>
          </p:cNvSpPr>
          <p:nvPr/>
        </p:nvSpPr>
        <p:spPr>
          <a:xfrm xmlns:a="http://schemas.openxmlformats.org/drawingml/2006/main">
            <a:off x="90392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Record</a:t>
            </a:r>
          </a:p>
        </p:txBody>
      </p:sp>
      <p:sp>
        <p:nvSpPr>
          <p:cNvPr id="21" name="">
            <a:extLst xmlns:a="http://schemas.openxmlformats.org/drawingml/2006/main">
              <a:ext uri="{FF2B5EF4-FFF2-40B4-BE49-F238E27FC236}">
                <a16:creationId xmlns:a16="http://schemas.microsoft.com/office/drawing/2014/main" id="{E83F05E0-779E-4A3F-9516-6F8A8B961C3C}"/>
              </a:ext>
            </a:extLst>
          </p:cNvPr>
          <p:cNvSpPr>
            <a:spLocks xmlns:a="http://schemas.openxmlformats.org/drawingml/2006/main" noGrp="1"/>
          </p:cNvSpPr>
          <p:nvPr/>
        </p:nvSpPr>
        <p:spPr>
          <a:xfrm xmlns:a="http://schemas.openxmlformats.org/drawingml/2006/main">
            <a:off x="90392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Result, error and approval retained</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33051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602932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7534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sp>
        <p:nvSpPr>
          <p:cNvPr id="25" name="">
            <a:extLst xmlns:a="http://schemas.openxmlformats.org/drawingml/2006/main">
              <a:ext uri="{FF2B5EF4-FFF2-40B4-BE49-F238E27FC236}">
                <a16:creationId xmlns:a16="http://schemas.microsoft.com/office/drawing/2014/main" id="{28F6C87D-11CD-45F4-903D-BA9E6BDE2E29}"/>
              </a:ext>
            </a:extLst>
          </p:cNvPr>
          <p:cNvSpPr>
            <a:spLocks xmlns:a="http://schemas.openxmlformats.org/drawingml/2006/main" noGrp="1"/>
          </p:cNvSpPr>
          <p:nvPr/>
        </p:nvSpPr>
        <p:spPr>
          <a:xfrm xmlns:a="http://schemas.openxmlformats.org/drawingml/2006/main">
            <a:off x="66675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4B740"/>
                </a:solidFill>
                <a:latin typeface="Calibri"/>
                <a:ea typeface="Calibri"/>
                <a:cs typeface="Calibri"/>
              </a:defRPr>
            </a:pPr>
            <a:r>
              <a:rPr sz="1350" b="1">
                <a:solidFill>
                  <a:srgbClr val="F4B740"/>
                </a:solidFill>
                <a:latin typeface="Calibri"/>
                <a:ea typeface="Calibri"/>
                <a:cs typeface="Calibri"/>
              </a:rPr>
              <a:t>Model capability never substitutes for operational authority</a:t>
            </a:r>
          </a:p>
        </p:txBody>
      </p:sp>
    </p:spTree>
    <p:extLst>
      <p:ext uri="{BB962C8B-B14F-4D97-AF65-F5344CB8AC3E}">
        <p14:creationId xmlns:p14="http://schemas.microsoft.com/office/powerpoint/2010/main" val="689927604"/>
      </p:ext>
    </p:extLst>
  </p:cSld>
</p:sld>
</file>

<file path=ppt/slides/slide27.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1888470-4547-4FA7-8812-F564F59387A8}"/>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0DA03349-4DBF-4192-8189-C54457A9F114}"/>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200F5D88-3F78-4B3F-B787-70F843E74C38}"/>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SYSTEM ARCHITECTURE</a:t>
            </a:r>
          </a:p>
        </p:txBody>
      </p:sp>
      <p:sp>
        <p:nvSpPr>
          <p:cNvPr id="4" name="">
            <a:extLst xmlns:a="http://schemas.openxmlformats.org/drawingml/2006/main">
              <a:ext uri="{FF2B5EF4-FFF2-40B4-BE49-F238E27FC236}">
                <a16:creationId xmlns:a16="http://schemas.microsoft.com/office/drawing/2014/main" id="{03D331A8-D6B6-4668-8617-2758A843E0A9}"/>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27</a:t>
            </a:r>
          </a:p>
        </p:txBody>
      </p:sp>
      <p:sp>
        <p:nvSpPr>
          <p:cNvPr id="5" name="">
            <a:extLst xmlns:a="http://schemas.openxmlformats.org/drawingml/2006/main">
              <a:ext uri="{FF2B5EF4-FFF2-40B4-BE49-F238E27FC236}">
                <a16:creationId xmlns:a16="http://schemas.microsoft.com/office/drawing/2014/main" id="{BC483FBA-752D-4FAE-BBD4-4BE68B779260}"/>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Agentic control boundaries</a:t>
            </a:r>
          </a:p>
        </p:txBody>
      </p:sp>
      <p:sp>
        <p:nvSpPr>
          <p:cNvPr id="6" name="">
            <a:extLst xmlns:a="http://schemas.openxmlformats.org/drawingml/2006/main">
              <a:ext uri="{FF2B5EF4-FFF2-40B4-BE49-F238E27FC236}">
                <a16:creationId xmlns:a16="http://schemas.microsoft.com/office/drawing/2014/main" id="{E80885AC-1993-4C45-8D31-8FBB0DC3AE66}"/>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4C5C8B93-993A-4696-B322-1F2B6A10274B}"/>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SCOPE</a:t>
            </a:r>
          </a:p>
        </p:txBody>
      </p:sp>
      <p:sp>
        <p:nvSpPr>
          <p:cNvPr id="8" name="">
            <a:extLst xmlns:a="http://schemas.openxmlformats.org/drawingml/2006/main">
              <a:ext uri="{FF2B5EF4-FFF2-40B4-BE49-F238E27FC236}">
                <a16:creationId xmlns:a16="http://schemas.microsoft.com/office/drawing/2014/main" id="{63B50AE0-B78D-446F-9D50-46F3534F272F}"/>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Allowed objective, tools and data</a:t>
            </a:r>
          </a:p>
        </p:txBody>
      </p:sp>
      <p:sp>
        <p:nvSpPr>
          <p:cNvPr id="9" name="">
            <a:extLst xmlns:a="http://schemas.openxmlformats.org/drawingml/2006/main">
              <a:ext uri="{FF2B5EF4-FFF2-40B4-BE49-F238E27FC236}">
                <a16:creationId xmlns:a16="http://schemas.microsoft.com/office/drawing/2014/main" id="{0D027FE5-ED53-4007-95F4-05FA9CD4C5E4}"/>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EF8A7B2A-595C-44AC-A0B9-3F1678ED415A}"/>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BUDGET</a:t>
            </a:r>
          </a:p>
        </p:txBody>
      </p:sp>
      <p:sp>
        <p:nvSpPr>
          <p:cNvPr id="11" name="">
            <a:extLst xmlns:a="http://schemas.openxmlformats.org/drawingml/2006/main">
              <a:ext uri="{FF2B5EF4-FFF2-40B4-BE49-F238E27FC236}">
                <a16:creationId xmlns:a16="http://schemas.microsoft.com/office/drawing/2014/main" id="{5302FACF-F343-4280-BCCE-E69D5B800AA3}"/>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Limits on steps, time and cost</a:t>
            </a:r>
          </a:p>
        </p:txBody>
      </p:sp>
      <p:sp>
        <p:nvSpPr>
          <p:cNvPr id="12" name="">
            <a:extLst xmlns:a="http://schemas.openxmlformats.org/drawingml/2006/main">
              <a:ext uri="{FF2B5EF4-FFF2-40B4-BE49-F238E27FC236}">
                <a16:creationId xmlns:a16="http://schemas.microsoft.com/office/drawing/2014/main" id="{13A6516F-510C-4611-9226-51F431793CF5}"/>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4AF1124F-A814-4AB7-A246-E1562B4BE311}"/>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APPROVAL</a:t>
            </a:r>
          </a:p>
        </p:txBody>
      </p:sp>
      <p:sp>
        <p:nvSpPr>
          <p:cNvPr id="14" name="">
            <a:extLst xmlns:a="http://schemas.openxmlformats.org/drawingml/2006/main">
              <a:ext uri="{FF2B5EF4-FFF2-40B4-BE49-F238E27FC236}">
                <a16:creationId xmlns:a16="http://schemas.microsoft.com/office/drawing/2014/main" id="{A02DA98F-5526-443D-88F0-FECFBCF8B3F7}"/>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Human gate before consequential action</a:t>
            </a:r>
          </a:p>
        </p:txBody>
      </p:sp>
      <p:sp>
        <p:nvSpPr>
          <p:cNvPr id="15" name="">
            <a:extLst xmlns:a="http://schemas.openxmlformats.org/drawingml/2006/main">
              <a:ext uri="{FF2B5EF4-FFF2-40B4-BE49-F238E27FC236}">
                <a16:creationId xmlns:a16="http://schemas.microsoft.com/office/drawing/2014/main" id="{54F0871B-89A9-4940-B47B-F757C8E999AE}"/>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33EA98FF-46CA-42DB-B710-4E4114BFAC38}"/>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STOP</a:t>
            </a:r>
          </a:p>
        </p:txBody>
      </p:sp>
      <p:sp>
        <p:nvSpPr>
          <p:cNvPr id="17" name="">
            <a:extLst xmlns:a="http://schemas.openxmlformats.org/drawingml/2006/main">
              <a:ext uri="{FF2B5EF4-FFF2-40B4-BE49-F238E27FC236}">
                <a16:creationId xmlns:a16="http://schemas.microsoft.com/office/drawing/2014/main" id="{CB678A94-1140-4CB8-AFD4-0C8A61BCAD74}"/>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Complete, refuse or escalate</a:t>
            </a:r>
          </a:p>
        </p:txBody>
      </p:sp>
      <p:sp>
        <p:nvSpPr>
          <p:cNvPr id="18" name="">
            <a:extLst xmlns:a="http://schemas.openxmlformats.org/drawingml/2006/main">
              <a:ext uri="{FF2B5EF4-FFF2-40B4-BE49-F238E27FC236}">
                <a16:creationId xmlns:a16="http://schemas.microsoft.com/office/drawing/2014/main" id="{714B1458-B5A3-4E4F-BFA8-9281A3DAD27F}"/>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More autonomous steps increase the need for external control</a:t>
            </a:r>
          </a:p>
        </p:txBody>
      </p:sp>
    </p:spTree>
    <p:extLst>
      <p:ext uri="{BB962C8B-B14F-4D97-AF65-F5344CB8AC3E}">
        <p14:creationId xmlns:p14="http://schemas.microsoft.com/office/powerpoint/2010/main" val="1014290200"/>
      </p:ext>
    </p:extLst>
  </p:cSld>
</p:sld>
</file>

<file path=ppt/slides/slide28.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9BB236B-381B-4ED1-A29F-365BFD903B6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4BEBD037-2338-439A-A202-88E436EE480F}"/>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92A9B87B-2A0C-4E0C-8C5F-14592CD9FB71}"/>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EVALUATION</a:t>
            </a:r>
          </a:p>
        </p:txBody>
      </p:sp>
      <p:sp>
        <p:nvSpPr>
          <p:cNvPr id="4" name="">
            <a:extLst xmlns:a="http://schemas.openxmlformats.org/drawingml/2006/main">
              <a:ext uri="{FF2B5EF4-FFF2-40B4-BE49-F238E27FC236}">
                <a16:creationId xmlns:a16="http://schemas.microsoft.com/office/drawing/2014/main" id="{E3AAC547-1210-4F12-A0C0-092E2081B189}"/>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28</a:t>
            </a:r>
          </a:p>
        </p:txBody>
      </p:sp>
      <p:sp>
        <p:nvSpPr>
          <p:cNvPr id="5" name="">
            <a:extLst xmlns:a="http://schemas.openxmlformats.org/drawingml/2006/main">
              <a:ext uri="{FF2B5EF4-FFF2-40B4-BE49-F238E27FC236}">
                <a16:creationId xmlns:a16="http://schemas.microsoft.com/office/drawing/2014/main" id="{7678FF61-30E1-4CCC-8321-9B8843E7D416}"/>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Evaluation dimensions</a:t>
            </a:r>
          </a:p>
        </p:txBody>
      </p:sp>
      <p:sp>
        <p:nvSpPr>
          <p:cNvPr id="6" name="">
            <a:extLst xmlns:a="http://schemas.openxmlformats.org/drawingml/2006/main">
              <a:ext uri="{FF2B5EF4-FFF2-40B4-BE49-F238E27FC236}">
                <a16:creationId xmlns:a16="http://schemas.microsoft.com/office/drawing/2014/main" id="{1612FC6E-D935-41C4-B47E-1A1DF47EA636}"/>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906F4FBD-03C9-47F0-A051-9A223A19F76A}"/>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FLUENCY</a:t>
            </a:r>
          </a:p>
        </p:txBody>
      </p:sp>
      <p:sp>
        <p:nvSpPr>
          <p:cNvPr id="8" name="">
            <a:extLst xmlns:a="http://schemas.openxmlformats.org/drawingml/2006/main">
              <a:ext uri="{FF2B5EF4-FFF2-40B4-BE49-F238E27FC236}">
                <a16:creationId xmlns:a16="http://schemas.microsoft.com/office/drawing/2014/main" id="{3239AD75-FB5E-481C-BC7F-7AB34DCBB09D}"/>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Coherence and relevance</a:t>
            </a:r>
          </a:p>
        </p:txBody>
      </p:sp>
      <p:sp>
        <p:nvSpPr>
          <p:cNvPr id="9" name="">
            <a:extLst xmlns:a="http://schemas.openxmlformats.org/drawingml/2006/main">
              <a:ext uri="{FF2B5EF4-FFF2-40B4-BE49-F238E27FC236}">
                <a16:creationId xmlns:a16="http://schemas.microsoft.com/office/drawing/2014/main" id="{886CB1FB-BD2A-4D09-8964-82CEB8B6D1F0}"/>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641425B3-6BCD-4DAF-B57B-F7C0FAF0C1DD}"/>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GROUNDEDNESS</a:t>
            </a:r>
          </a:p>
        </p:txBody>
      </p:sp>
      <p:sp>
        <p:nvSpPr>
          <p:cNvPr id="11" name="">
            <a:extLst xmlns:a="http://schemas.openxmlformats.org/drawingml/2006/main">
              <a:ext uri="{FF2B5EF4-FFF2-40B4-BE49-F238E27FC236}">
                <a16:creationId xmlns:a16="http://schemas.microsoft.com/office/drawing/2014/main" id="{4967594A-E790-4A2C-A1F3-6A34D04B5571}"/>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Support from authorized evidence</a:t>
            </a:r>
          </a:p>
        </p:txBody>
      </p:sp>
      <p:sp>
        <p:nvSpPr>
          <p:cNvPr id="12" name="">
            <a:extLst xmlns:a="http://schemas.openxmlformats.org/drawingml/2006/main">
              <a:ext uri="{FF2B5EF4-FFF2-40B4-BE49-F238E27FC236}">
                <a16:creationId xmlns:a16="http://schemas.microsoft.com/office/drawing/2014/main" id="{1091E6AC-B1A8-4A66-A99F-81276B32623B}"/>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4368EB05-3F28-437C-A7B8-234AB3695866}"/>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CORRECTNESS</a:t>
            </a:r>
          </a:p>
        </p:txBody>
      </p:sp>
      <p:sp>
        <p:nvSpPr>
          <p:cNvPr id="14" name="">
            <a:extLst xmlns:a="http://schemas.openxmlformats.org/drawingml/2006/main">
              <a:ext uri="{FF2B5EF4-FFF2-40B4-BE49-F238E27FC236}">
                <a16:creationId xmlns:a16="http://schemas.microsoft.com/office/drawing/2014/main" id="{20F130C7-81FE-4327-9965-43001B02F010}"/>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Agreement with verified reality</a:t>
            </a:r>
          </a:p>
        </p:txBody>
      </p:sp>
      <p:sp>
        <p:nvSpPr>
          <p:cNvPr id="15" name="">
            <a:extLst xmlns:a="http://schemas.openxmlformats.org/drawingml/2006/main">
              <a:ext uri="{FF2B5EF4-FFF2-40B4-BE49-F238E27FC236}">
                <a16:creationId xmlns:a16="http://schemas.microsoft.com/office/drawing/2014/main" id="{CDE7BBC3-547A-4EF4-B6FA-A560CD95CBF2}"/>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DDF3E9A1-F3EC-4128-ADAE-03B0C8083528}"/>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DECISION FITNESS</a:t>
            </a:r>
          </a:p>
        </p:txBody>
      </p:sp>
      <p:sp>
        <p:nvSpPr>
          <p:cNvPr id="17" name="">
            <a:extLst xmlns:a="http://schemas.openxmlformats.org/drawingml/2006/main">
              <a:ext uri="{FF2B5EF4-FFF2-40B4-BE49-F238E27FC236}">
                <a16:creationId xmlns:a16="http://schemas.microsoft.com/office/drawing/2014/main" id="{2C96B8BC-47A3-487A-B0BE-5FD82BE5AA9C}"/>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Suitability for the accountable workflow</a:t>
            </a:r>
          </a:p>
        </p:txBody>
      </p:sp>
      <p:sp>
        <p:nvSpPr>
          <p:cNvPr id="18" name="">
            <a:extLst xmlns:a="http://schemas.openxmlformats.org/drawingml/2006/main">
              <a:ext uri="{FF2B5EF4-FFF2-40B4-BE49-F238E27FC236}">
                <a16:creationId xmlns:a16="http://schemas.microsoft.com/office/drawing/2014/main" id="{38F6E71F-7268-44B7-AEFA-E0FDD25F644F}"/>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Report dimensions separately because one score can conceal material failure</a:t>
            </a:r>
          </a:p>
        </p:txBody>
      </p:sp>
    </p:spTree>
    <p:extLst>
      <p:ext uri="{BB962C8B-B14F-4D97-AF65-F5344CB8AC3E}">
        <p14:creationId xmlns:p14="http://schemas.microsoft.com/office/powerpoint/2010/main" val="1534326427"/>
      </p:ext>
    </p:extLst>
  </p:cSld>
</p:sld>
</file>

<file path=ppt/slides/slide29.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B0A408F-907B-47E9-BFA0-91C36FBB7FA0}"/>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259880D0-99F5-450B-83F5-B75BF02955F0}"/>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E115CB0E-6B48-4A8C-A00D-AEF6CCBEF906}"/>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EVALUATION</a:t>
            </a:r>
          </a:p>
        </p:txBody>
      </p:sp>
      <p:sp>
        <p:nvSpPr>
          <p:cNvPr id="4" name="">
            <a:extLst xmlns:a="http://schemas.openxmlformats.org/drawingml/2006/main">
              <a:ext uri="{FF2B5EF4-FFF2-40B4-BE49-F238E27FC236}">
                <a16:creationId xmlns:a16="http://schemas.microsoft.com/office/drawing/2014/main" id="{CFDE8F12-C2EC-4D79-99B5-C54EF2DEB839}"/>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29</a:t>
            </a:r>
          </a:p>
        </p:txBody>
      </p:sp>
      <p:sp>
        <p:nvSpPr>
          <p:cNvPr id="5" name="">
            <a:extLst xmlns:a="http://schemas.openxmlformats.org/drawingml/2006/main">
              <a:ext uri="{FF2B5EF4-FFF2-40B4-BE49-F238E27FC236}">
                <a16:creationId xmlns:a16="http://schemas.microsoft.com/office/drawing/2014/main" id="{3FF4C42C-EF70-4A67-92F5-90223E7F1BD8}"/>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Credible evaluation</a:t>
            </a:r>
          </a:p>
        </p:txBody>
      </p:sp>
      <p:sp>
        <p:nvSpPr>
          <p:cNvPr id="6" name="">
            <a:extLst xmlns:a="http://schemas.openxmlformats.org/drawingml/2006/main">
              <a:ext uri="{FF2B5EF4-FFF2-40B4-BE49-F238E27FC236}">
                <a16:creationId xmlns:a16="http://schemas.microsoft.com/office/drawing/2014/main" id="{F7C72F91-C3CF-45E5-BCC5-DA38BF80BFCE}"/>
              </a:ext>
            </a:extLst>
          </p:cNvPr>
          <p:cNvSpPr>
            <a:spLocks xmlns:a="http://schemas.openxmlformats.org/drawingml/2006/main" noGrp="1"/>
          </p:cNvSpPr>
          <p:nvPr/>
        </p:nvSpPr>
        <p:spPr>
          <a:xfrm xmlns:a="http://schemas.openxmlformats.org/drawingml/2006/main">
            <a:off x="7143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5D39CE0F-331A-4681-B76B-63626B0A2DAF}"/>
              </a:ext>
            </a:extLst>
          </p:cNvPr>
          <p:cNvSpPr>
            <a:spLocks xmlns:a="http://schemas.openxmlformats.org/drawingml/2006/main" noGrp="1"/>
          </p:cNvSpPr>
          <p:nvPr/>
        </p:nvSpPr>
        <p:spPr>
          <a:xfrm xmlns:a="http://schemas.openxmlformats.org/drawingml/2006/main">
            <a:off x="8667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90EC71CF-C8A1-4790-89B8-AC6B728B6072}"/>
              </a:ext>
            </a:extLst>
          </p:cNvPr>
          <p:cNvSpPr>
            <a:spLocks xmlns:a="http://schemas.openxmlformats.org/drawingml/2006/main" noGrp="1"/>
          </p:cNvSpPr>
          <p:nvPr/>
        </p:nvSpPr>
        <p:spPr>
          <a:xfrm xmlns:a="http://schemas.openxmlformats.org/drawingml/2006/main">
            <a:off x="8667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Define</a:t>
            </a:r>
          </a:p>
        </p:txBody>
      </p:sp>
      <p:sp>
        <p:nvSpPr>
          <p:cNvPr id="9" name="">
            <a:extLst xmlns:a="http://schemas.openxmlformats.org/drawingml/2006/main">
              <a:ext uri="{FF2B5EF4-FFF2-40B4-BE49-F238E27FC236}">
                <a16:creationId xmlns:a16="http://schemas.microsoft.com/office/drawing/2014/main" id="{3E5D6E77-8CA7-4A53-957F-654FA75D9ACC}"/>
              </a:ext>
            </a:extLst>
          </p:cNvPr>
          <p:cNvSpPr>
            <a:spLocks xmlns:a="http://schemas.openxmlformats.org/drawingml/2006/main" noGrp="1"/>
          </p:cNvSpPr>
          <p:nvPr/>
        </p:nvSpPr>
        <p:spPr>
          <a:xfrm xmlns:a="http://schemas.openxmlformats.org/drawingml/2006/main">
            <a:off x="8667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Intended and excluded uses</a:t>
            </a:r>
          </a:p>
        </p:txBody>
      </p:sp>
      <p:sp>
        <p:nvSpPr>
          <p:cNvPr id="10" name="">
            <a:extLst xmlns:a="http://schemas.openxmlformats.org/drawingml/2006/main">
              <a:ext uri="{FF2B5EF4-FFF2-40B4-BE49-F238E27FC236}">
                <a16:creationId xmlns:a16="http://schemas.microsoft.com/office/drawing/2014/main" id="{6240664A-356D-4086-9213-EED5C466DE57}"/>
              </a:ext>
            </a:extLst>
          </p:cNvPr>
          <p:cNvSpPr>
            <a:spLocks xmlns:a="http://schemas.openxmlformats.org/drawingml/2006/main" noGrp="1"/>
          </p:cNvSpPr>
          <p:nvPr/>
        </p:nvSpPr>
        <p:spPr>
          <a:xfrm xmlns:a="http://schemas.openxmlformats.org/drawingml/2006/main">
            <a:off x="34385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1" name="">
            <a:extLst xmlns:a="http://schemas.openxmlformats.org/drawingml/2006/main">
              <a:ext uri="{FF2B5EF4-FFF2-40B4-BE49-F238E27FC236}">
                <a16:creationId xmlns:a16="http://schemas.microsoft.com/office/drawing/2014/main" id="{3F707E66-B4DB-453B-BB1B-1E481D1BD7A2}"/>
              </a:ext>
            </a:extLst>
          </p:cNvPr>
          <p:cNvSpPr>
            <a:spLocks xmlns:a="http://schemas.openxmlformats.org/drawingml/2006/main" noGrp="1"/>
          </p:cNvSpPr>
          <p:nvPr/>
        </p:nvSpPr>
        <p:spPr>
          <a:xfrm xmlns:a="http://schemas.openxmlformats.org/drawingml/2006/main">
            <a:off x="35909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3C92BDB1-7A01-4A54-9123-07E186C8B337}"/>
              </a:ext>
            </a:extLst>
          </p:cNvPr>
          <p:cNvSpPr>
            <a:spLocks xmlns:a="http://schemas.openxmlformats.org/drawingml/2006/main" noGrp="1"/>
          </p:cNvSpPr>
          <p:nvPr/>
        </p:nvSpPr>
        <p:spPr>
          <a:xfrm xmlns:a="http://schemas.openxmlformats.org/drawingml/2006/main">
            <a:off x="35909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Test</a:t>
            </a:r>
          </a:p>
        </p:txBody>
      </p:sp>
      <p:sp>
        <p:nvSpPr>
          <p:cNvPr id="13" name="">
            <a:extLst xmlns:a="http://schemas.openxmlformats.org/drawingml/2006/main">
              <a:ext uri="{FF2B5EF4-FFF2-40B4-BE49-F238E27FC236}">
                <a16:creationId xmlns:a16="http://schemas.microsoft.com/office/drawing/2014/main" id="{D2B7C34A-FAB7-4CF7-B722-0C9430545FD4}"/>
              </a:ext>
            </a:extLst>
          </p:cNvPr>
          <p:cNvSpPr>
            <a:spLocks xmlns:a="http://schemas.openxmlformats.org/drawingml/2006/main" noGrp="1"/>
          </p:cNvSpPr>
          <p:nvPr/>
        </p:nvSpPr>
        <p:spPr>
          <a:xfrm xmlns:a="http://schemas.openxmlformats.org/drawingml/2006/main">
            <a:off x="35909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Representative and challenge cases</a:t>
            </a:r>
          </a:p>
        </p:txBody>
      </p:sp>
      <p:sp>
        <p:nvSpPr>
          <p:cNvPr id="14" name="">
            <a:extLst xmlns:a="http://schemas.openxmlformats.org/drawingml/2006/main">
              <a:ext uri="{FF2B5EF4-FFF2-40B4-BE49-F238E27FC236}">
                <a16:creationId xmlns:a16="http://schemas.microsoft.com/office/drawing/2014/main" id="{2E93582D-47BB-44AB-936A-4573CB84C836}"/>
              </a:ext>
            </a:extLst>
          </p:cNvPr>
          <p:cNvSpPr>
            <a:spLocks xmlns:a="http://schemas.openxmlformats.org/drawingml/2006/main" noGrp="1"/>
          </p:cNvSpPr>
          <p:nvPr/>
        </p:nvSpPr>
        <p:spPr>
          <a:xfrm xmlns:a="http://schemas.openxmlformats.org/drawingml/2006/main">
            <a:off x="616267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5" name="">
            <a:extLst xmlns:a="http://schemas.openxmlformats.org/drawingml/2006/main">
              <a:ext uri="{FF2B5EF4-FFF2-40B4-BE49-F238E27FC236}">
                <a16:creationId xmlns:a16="http://schemas.microsoft.com/office/drawing/2014/main" id="{D432CAFC-45CA-41A5-9996-149ECF843DA3}"/>
              </a:ext>
            </a:extLst>
          </p:cNvPr>
          <p:cNvSpPr>
            <a:spLocks xmlns:a="http://schemas.openxmlformats.org/drawingml/2006/main" noGrp="1"/>
          </p:cNvSpPr>
          <p:nvPr/>
        </p:nvSpPr>
        <p:spPr>
          <a:xfrm xmlns:a="http://schemas.openxmlformats.org/drawingml/2006/main">
            <a:off x="631507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03</a:t>
            </a:r>
          </a:p>
        </p:txBody>
      </p:sp>
      <p:sp>
        <p:nvSpPr>
          <p:cNvPr id="16" name="">
            <a:extLst xmlns:a="http://schemas.openxmlformats.org/drawingml/2006/main">
              <a:ext uri="{FF2B5EF4-FFF2-40B4-BE49-F238E27FC236}">
                <a16:creationId xmlns:a16="http://schemas.microsoft.com/office/drawing/2014/main" id="{2ACB40DF-6D60-4DC0-9FF7-749D9F01B7B8}"/>
              </a:ext>
            </a:extLst>
          </p:cNvPr>
          <p:cNvSpPr>
            <a:spLocks xmlns:a="http://schemas.openxmlformats.org/drawingml/2006/main" noGrp="1"/>
          </p:cNvSpPr>
          <p:nvPr/>
        </p:nvSpPr>
        <p:spPr>
          <a:xfrm xmlns:a="http://schemas.openxmlformats.org/drawingml/2006/main">
            <a:off x="631507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Review</a:t>
            </a:r>
          </a:p>
        </p:txBody>
      </p:sp>
      <p:sp>
        <p:nvSpPr>
          <p:cNvPr id="17" name="">
            <a:extLst xmlns:a="http://schemas.openxmlformats.org/drawingml/2006/main">
              <a:ext uri="{FF2B5EF4-FFF2-40B4-BE49-F238E27FC236}">
                <a16:creationId xmlns:a16="http://schemas.microsoft.com/office/drawing/2014/main" id="{D4585DFC-383E-4917-8ECF-AA709819A24C}"/>
              </a:ext>
            </a:extLst>
          </p:cNvPr>
          <p:cNvSpPr>
            <a:spLocks xmlns:a="http://schemas.openxmlformats.org/drawingml/2006/main" noGrp="1"/>
          </p:cNvSpPr>
          <p:nvPr/>
        </p:nvSpPr>
        <p:spPr>
          <a:xfrm xmlns:a="http://schemas.openxmlformats.org/drawingml/2006/main">
            <a:off x="631507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Qualified scoring and disagreement</a:t>
            </a:r>
          </a:p>
        </p:txBody>
      </p:sp>
      <p:sp>
        <p:nvSpPr>
          <p:cNvPr id="18" name="">
            <a:extLst xmlns:a="http://schemas.openxmlformats.org/drawingml/2006/main">
              <a:ext uri="{FF2B5EF4-FFF2-40B4-BE49-F238E27FC236}">
                <a16:creationId xmlns:a16="http://schemas.microsoft.com/office/drawing/2014/main" id="{E7EAB235-1EBA-4EC4-97A5-E1E42D574CA3}"/>
              </a:ext>
            </a:extLst>
          </p:cNvPr>
          <p:cNvSpPr>
            <a:spLocks xmlns:a="http://schemas.openxmlformats.org/drawingml/2006/main" noGrp="1"/>
          </p:cNvSpPr>
          <p:nvPr/>
        </p:nvSpPr>
        <p:spPr>
          <a:xfrm xmlns:a="http://schemas.openxmlformats.org/drawingml/2006/main">
            <a:off x="8886825" y="2095500"/>
            <a:ext cx="259080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F4B740"/>
            </a:solidFill>
          </a:ln>
        </p:spPr>
      </p:sp>
      <p:sp>
        <p:nvSpPr>
          <p:cNvPr id="19" name="">
            <a:extLst xmlns:a="http://schemas.openxmlformats.org/drawingml/2006/main">
              <a:ext uri="{FF2B5EF4-FFF2-40B4-BE49-F238E27FC236}">
                <a16:creationId xmlns:a16="http://schemas.microsoft.com/office/drawing/2014/main" id="{E2D39567-EAB6-405B-B044-3BB9694BE732}"/>
              </a:ext>
            </a:extLst>
          </p:cNvPr>
          <p:cNvSpPr>
            <a:spLocks xmlns:a="http://schemas.openxmlformats.org/drawingml/2006/main" noGrp="1"/>
          </p:cNvSpPr>
          <p:nvPr/>
        </p:nvSpPr>
        <p:spPr>
          <a:xfrm xmlns:a="http://schemas.openxmlformats.org/drawingml/2006/main">
            <a:off x="9039225" y="22383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4B740"/>
                </a:solidFill>
                <a:latin typeface="Calibri"/>
                <a:ea typeface="Calibri"/>
                <a:cs typeface="Calibri"/>
              </a:defRPr>
            </a:pPr>
            <a:r>
              <a:rPr sz="1650" b="1">
                <a:solidFill>
                  <a:srgbClr val="F4B740"/>
                </a:solidFill>
                <a:latin typeface="Calibri"/>
                <a:ea typeface="Calibri"/>
                <a:cs typeface="Calibri"/>
              </a:rPr>
              <a:t>04</a:t>
            </a:r>
          </a:p>
        </p:txBody>
      </p:sp>
      <p:sp>
        <p:nvSpPr>
          <p:cNvPr id="20" name="">
            <a:extLst xmlns:a="http://schemas.openxmlformats.org/drawingml/2006/main">
              <a:ext uri="{FF2B5EF4-FFF2-40B4-BE49-F238E27FC236}">
                <a16:creationId xmlns:a16="http://schemas.microsoft.com/office/drawing/2014/main" id="{AF483049-60E7-4C7C-951F-736BBF94B349}"/>
              </a:ext>
            </a:extLst>
          </p:cNvPr>
          <p:cNvSpPr>
            <a:spLocks xmlns:a="http://schemas.openxmlformats.org/drawingml/2006/main" noGrp="1"/>
          </p:cNvSpPr>
          <p:nvPr/>
        </p:nvSpPr>
        <p:spPr>
          <a:xfrm xmlns:a="http://schemas.openxmlformats.org/drawingml/2006/main">
            <a:off x="9039225" y="2714625"/>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Monitor</a:t>
            </a:r>
          </a:p>
        </p:txBody>
      </p:sp>
      <p:sp>
        <p:nvSpPr>
          <p:cNvPr id="21" name="">
            <a:extLst xmlns:a="http://schemas.openxmlformats.org/drawingml/2006/main">
              <a:ext uri="{FF2B5EF4-FFF2-40B4-BE49-F238E27FC236}">
                <a16:creationId xmlns:a16="http://schemas.microsoft.com/office/drawing/2014/main" id="{E4730544-98FB-40BE-B54F-DF99B487F41B}"/>
              </a:ext>
            </a:extLst>
          </p:cNvPr>
          <p:cNvSpPr>
            <a:spLocks xmlns:a="http://schemas.openxmlformats.org/drawingml/2006/main" noGrp="1"/>
          </p:cNvSpPr>
          <p:nvPr/>
        </p:nvSpPr>
        <p:spPr>
          <a:xfrm xmlns:a="http://schemas.openxmlformats.org/drawingml/2006/main">
            <a:off x="9039225" y="3238500"/>
            <a:ext cx="228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Incidents, drift and outcomes</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33051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602932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75347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sp>
        <p:nvSpPr>
          <p:cNvPr id="25" name="">
            <a:extLst xmlns:a="http://schemas.openxmlformats.org/drawingml/2006/main">
              <a:ext uri="{FF2B5EF4-FFF2-40B4-BE49-F238E27FC236}">
                <a16:creationId xmlns:a16="http://schemas.microsoft.com/office/drawing/2014/main" id="{1C2D0A2C-C6F1-4057-A1E7-15A8386FE494}"/>
              </a:ext>
            </a:extLst>
          </p:cNvPr>
          <p:cNvSpPr>
            <a:spLocks xmlns:a="http://schemas.openxmlformats.org/drawingml/2006/main" noGrp="1"/>
          </p:cNvSpPr>
          <p:nvPr/>
        </p:nvSpPr>
        <p:spPr>
          <a:xfrm xmlns:a="http://schemas.openxmlformats.org/drawingml/2006/main">
            <a:off x="66675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4B740"/>
                </a:solidFill>
                <a:latin typeface="Calibri"/>
                <a:ea typeface="Calibri"/>
                <a:cs typeface="Calibri"/>
              </a:defRPr>
            </a:pPr>
            <a:r>
              <a:rPr sz="1350" b="1">
                <a:solidFill>
                  <a:srgbClr val="F4B740"/>
                </a:solidFill>
                <a:latin typeface="Calibri"/>
                <a:ea typeface="Calibri"/>
                <a:cs typeface="Calibri"/>
              </a:rPr>
              <a:t>Evidence supports claims only for the tested configuration and population</a:t>
            </a:r>
          </a:p>
        </p:txBody>
      </p:sp>
    </p:spTree>
    <p:extLst>
      <p:ext uri="{BB962C8B-B14F-4D97-AF65-F5344CB8AC3E}">
        <p14:creationId xmlns:p14="http://schemas.microsoft.com/office/powerpoint/2010/main" val="1803178264"/>
      </p:ext>
    </p:extLst>
  </p:cSld>
</p:sld>
</file>

<file path=ppt/slides/slide30.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C3A55D4-850D-4342-8C76-E4D5DF2D0FF8}"/>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1EFEE75E-6414-4174-9A14-4C9A68C68BF4}"/>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CEED8C76-F0B9-418D-9559-544479AABFB7}"/>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RISK AND CONTROL</a:t>
            </a:r>
          </a:p>
        </p:txBody>
      </p:sp>
      <p:sp>
        <p:nvSpPr>
          <p:cNvPr id="4" name="">
            <a:extLst xmlns:a="http://schemas.openxmlformats.org/drawingml/2006/main">
              <a:ext uri="{FF2B5EF4-FFF2-40B4-BE49-F238E27FC236}">
                <a16:creationId xmlns:a16="http://schemas.microsoft.com/office/drawing/2014/main" id="{6033726E-A1F4-400B-984B-E1FB671EAB6A}"/>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30</a:t>
            </a:r>
          </a:p>
        </p:txBody>
      </p:sp>
      <p:sp>
        <p:nvSpPr>
          <p:cNvPr id="5" name="">
            <a:extLst xmlns:a="http://schemas.openxmlformats.org/drawingml/2006/main">
              <a:ext uri="{FF2B5EF4-FFF2-40B4-BE49-F238E27FC236}">
                <a16:creationId xmlns:a16="http://schemas.microsoft.com/office/drawing/2014/main" id="{4285CD3D-4F85-48D3-99E3-BC6736145B66}"/>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Privacy and security</a:t>
            </a:r>
          </a:p>
        </p:txBody>
      </p:sp>
      <p:sp>
        <p:nvSpPr>
          <p:cNvPr id="6" name="">
            <a:extLst xmlns:a="http://schemas.openxmlformats.org/drawingml/2006/main">
              <a:ext uri="{FF2B5EF4-FFF2-40B4-BE49-F238E27FC236}">
                <a16:creationId xmlns:a16="http://schemas.microsoft.com/office/drawing/2014/main" id="{C2466B13-EA62-4DA4-9A6C-9ADCCB8E0261}"/>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5C2453C1-B18B-42FB-A70F-A07883EFAD18}"/>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PRIVACY</a:t>
            </a:r>
          </a:p>
        </p:txBody>
      </p:sp>
      <p:sp>
        <p:nvSpPr>
          <p:cNvPr id="8" name="">
            <a:extLst xmlns:a="http://schemas.openxmlformats.org/drawingml/2006/main">
              <a:ext uri="{FF2B5EF4-FFF2-40B4-BE49-F238E27FC236}">
                <a16:creationId xmlns:a16="http://schemas.microsoft.com/office/drawing/2014/main" id="{6E143999-3A89-4143-9DD3-D36A4D221AE6}"/>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Minimize and authorize sensitive context</a:t>
            </a:r>
          </a:p>
        </p:txBody>
      </p:sp>
      <p:sp>
        <p:nvSpPr>
          <p:cNvPr id="9" name="">
            <a:extLst xmlns:a="http://schemas.openxmlformats.org/drawingml/2006/main">
              <a:ext uri="{FF2B5EF4-FFF2-40B4-BE49-F238E27FC236}">
                <a16:creationId xmlns:a16="http://schemas.microsoft.com/office/drawing/2014/main" id="{4BF42F91-E1F7-4E45-9647-11C1591F3258}"/>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D0656BDF-CC3C-43D1-96E8-CDF8E60F5493}"/>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PROMPT INJECTION</a:t>
            </a:r>
          </a:p>
        </p:txBody>
      </p:sp>
      <p:sp>
        <p:nvSpPr>
          <p:cNvPr id="11" name="">
            <a:extLst xmlns:a="http://schemas.openxmlformats.org/drawingml/2006/main">
              <a:ext uri="{FF2B5EF4-FFF2-40B4-BE49-F238E27FC236}">
                <a16:creationId xmlns:a16="http://schemas.microsoft.com/office/drawing/2014/main" id="{C6C0C420-FAD0-4853-B54D-381CC44E17D7}"/>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Treat retrieved content as untrusted data</a:t>
            </a:r>
          </a:p>
        </p:txBody>
      </p:sp>
      <p:sp>
        <p:nvSpPr>
          <p:cNvPr id="12" name="">
            <a:extLst xmlns:a="http://schemas.openxmlformats.org/drawingml/2006/main">
              <a:ext uri="{FF2B5EF4-FFF2-40B4-BE49-F238E27FC236}">
                <a16:creationId xmlns:a16="http://schemas.microsoft.com/office/drawing/2014/main" id="{97D08714-679C-4627-B7DB-27C03B58183B}"/>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7CD524E0-5BE6-405F-8B27-94FAB65B0A90}"/>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TOOL ACCESS</a:t>
            </a:r>
          </a:p>
        </p:txBody>
      </p:sp>
      <p:sp>
        <p:nvSpPr>
          <p:cNvPr id="14" name="">
            <a:extLst xmlns:a="http://schemas.openxmlformats.org/drawingml/2006/main">
              <a:ext uri="{FF2B5EF4-FFF2-40B4-BE49-F238E27FC236}">
                <a16:creationId xmlns:a16="http://schemas.microsoft.com/office/drawing/2014/main" id="{D515BE60-2614-429E-B3CE-72BCD1F4E045}"/>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Enforce least privilege outside the model</a:t>
            </a:r>
          </a:p>
        </p:txBody>
      </p:sp>
      <p:sp>
        <p:nvSpPr>
          <p:cNvPr id="15" name="">
            <a:extLst xmlns:a="http://schemas.openxmlformats.org/drawingml/2006/main">
              <a:ext uri="{FF2B5EF4-FFF2-40B4-BE49-F238E27FC236}">
                <a16:creationId xmlns:a16="http://schemas.microsoft.com/office/drawing/2014/main" id="{81EE044B-5C3C-4C5F-B155-B3AFCDE2CC63}"/>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FBCCC4A0-2735-41C4-AA67-04E1BD3D5762}"/>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INCIDENT</a:t>
            </a:r>
          </a:p>
        </p:txBody>
      </p:sp>
      <p:sp>
        <p:nvSpPr>
          <p:cNvPr id="17" name="">
            <a:extLst xmlns:a="http://schemas.openxmlformats.org/drawingml/2006/main">
              <a:ext uri="{FF2B5EF4-FFF2-40B4-BE49-F238E27FC236}">
                <a16:creationId xmlns:a16="http://schemas.microsoft.com/office/drawing/2014/main" id="{530818EF-F463-4413-B39F-5E0A5CF6071C}"/>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Detect, contain, correct and document</a:t>
            </a:r>
          </a:p>
        </p:txBody>
      </p:sp>
      <p:sp>
        <p:nvSpPr>
          <p:cNvPr id="18" name="">
            <a:extLst xmlns:a="http://schemas.openxmlformats.org/drawingml/2006/main">
              <a:ext uri="{FF2B5EF4-FFF2-40B4-BE49-F238E27FC236}">
                <a16:creationId xmlns:a16="http://schemas.microsoft.com/office/drawing/2014/main" id="{3B2B5211-F33A-4EDE-98DB-44E7DEC6E2E9}"/>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The complete application path requires protection</a:t>
            </a:r>
          </a:p>
        </p:txBody>
      </p:sp>
    </p:spTree>
    <p:extLst>
      <p:ext uri="{BB962C8B-B14F-4D97-AF65-F5344CB8AC3E}">
        <p14:creationId xmlns:p14="http://schemas.microsoft.com/office/powerpoint/2010/main" val="1951280775"/>
      </p:ext>
    </p:extLst>
  </p:cSld>
</p:sld>
</file>

<file path=ppt/slides/slide31.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36475F0-4B8F-4E4A-B13C-ECBE0E4F16D7}"/>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91742818-BC6F-4E07-9BF8-E93A68935AD6}"/>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93BF1E90-962E-4DA4-BFB6-4C891E465003}"/>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RISK AND CONTROL</a:t>
            </a:r>
          </a:p>
        </p:txBody>
      </p:sp>
      <p:sp>
        <p:nvSpPr>
          <p:cNvPr id="4" name="">
            <a:extLst xmlns:a="http://schemas.openxmlformats.org/drawingml/2006/main">
              <a:ext uri="{FF2B5EF4-FFF2-40B4-BE49-F238E27FC236}">
                <a16:creationId xmlns:a16="http://schemas.microsoft.com/office/drawing/2014/main" id="{F30E823F-7420-441D-90DA-ED02A9A92D6F}"/>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31</a:t>
            </a:r>
          </a:p>
        </p:txBody>
      </p:sp>
      <p:sp>
        <p:nvSpPr>
          <p:cNvPr id="5" name="">
            <a:extLst xmlns:a="http://schemas.openxmlformats.org/drawingml/2006/main">
              <a:ext uri="{FF2B5EF4-FFF2-40B4-BE49-F238E27FC236}">
                <a16:creationId xmlns:a16="http://schemas.microsoft.com/office/drawing/2014/main" id="{24A65959-7948-4154-BAEA-3BDB1D3E7C09}"/>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Bias and multilingual performance</a:t>
            </a:r>
          </a:p>
        </p:txBody>
      </p:sp>
      <p:sp>
        <p:nvSpPr>
          <p:cNvPr id="6" name="">
            <a:extLst xmlns:a="http://schemas.openxmlformats.org/drawingml/2006/main">
              <a:ext uri="{FF2B5EF4-FFF2-40B4-BE49-F238E27FC236}">
                <a16:creationId xmlns:a16="http://schemas.microsoft.com/office/drawing/2014/main" id="{63033C70-A532-401F-B7EB-3773A9F94876}"/>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1B093F52-E239-4015-A7B6-D0AF875D339A}"/>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REPRESENTATION</a:t>
            </a:r>
          </a:p>
        </p:txBody>
      </p:sp>
      <p:sp>
        <p:nvSpPr>
          <p:cNvPr id="8" name="">
            <a:extLst xmlns:a="http://schemas.openxmlformats.org/drawingml/2006/main">
              <a:ext uri="{FF2B5EF4-FFF2-40B4-BE49-F238E27FC236}">
                <a16:creationId xmlns:a16="http://schemas.microsoft.com/office/drawing/2014/main" id="{4BBF86AF-45BB-4D21-ABCF-90F02C3A1072}"/>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Who and which languages appear in data</a:t>
            </a:r>
          </a:p>
        </p:txBody>
      </p:sp>
      <p:sp>
        <p:nvSpPr>
          <p:cNvPr id="9" name="">
            <a:extLst xmlns:a="http://schemas.openxmlformats.org/drawingml/2006/main">
              <a:ext uri="{FF2B5EF4-FFF2-40B4-BE49-F238E27FC236}">
                <a16:creationId xmlns:a16="http://schemas.microsoft.com/office/drawing/2014/main" id="{A7F5E291-3EB4-4728-AEEE-ED1308AE720E}"/>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577BD277-6BE0-4744-8C4B-54F6D9D2F64F}"/>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MEASUREMENT</a:t>
            </a:r>
          </a:p>
        </p:txBody>
      </p:sp>
      <p:sp>
        <p:nvSpPr>
          <p:cNvPr id="11" name="">
            <a:extLst xmlns:a="http://schemas.openxmlformats.org/drawingml/2006/main">
              <a:ext uri="{FF2B5EF4-FFF2-40B4-BE49-F238E27FC236}">
                <a16:creationId xmlns:a16="http://schemas.microsoft.com/office/drawing/2014/main" id="{E425E53B-1193-4FDE-B0F5-20F9784483C1}"/>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Whether metrics capture relevant harms</a:t>
            </a:r>
          </a:p>
        </p:txBody>
      </p:sp>
      <p:sp>
        <p:nvSpPr>
          <p:cNvPr id="12" name="">
            <a:extLst xmlns:a="http://schemas.openxmlformats.org/drawingml/2006/main">
              <a:ext uri="{FF2B5EF4-FFF2-40B4-BE49-F238E27FC236}">
                <a16:creationId xmlns:a16="http://schemas.microsoft.com/office/drawing/2014/main" id="{B7F20BCA-746B-498A-8516-18AD23D7269B}"/>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F8DF68EA-68DD-4A2C-AC3F-EF31602D28EB}"/>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ALLOCATION</a:t>
            </a:r>
          </a:p>
        </p:txBody>
      </p:sp>
      <p:sp>
        <p:nvSpPr>
          <p:cNvPr id="14" name="">
            <a:extLst xmlns:a="http://schemas.openxmlformats.org/drawingml/2006/main">
              <a:ext uri="{FF2B5EF4-FFF2-40B4-BE49-F238E27FC236}">
                <a16:creationId xmlns:a16="http://schemas.microsoft.com/office/drawing/2014/main" id="{542627E6-8ECD-4ECA-AFDD-41472495BC24}"/>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Who receives benefits, burdens or errors</a:t>
            </a:r>
          </a:p>
        </p:txBody>
      </p:sp>
      <p:sp>
        <p:nvSpPr>
          <p:cNvPr id="15" name="">
            <a:extLst xmlns:a="http://schemas.openxmlformats.org/drawingml/2006/main">
              <a:ext uri="{FF2B5EF4-FFF2-40B4-BE49-F238E27FC236}">
                <a16:creationId xmlns:a16="http://schemas.microsoft.com/office/drawing/2014/main" id="{0C417F68-C8C6-49C5-B9BC-6433F4FF4533}"/>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E12988A5-4C8C-40DF-8D1E-1F8E7C25B713}"/>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RECOURSE</a:t>
            </a:r>
          </a:p>
        </p:txBody>
      </p:sp>
      <p:sp>
        <p:nvSpPr>
          <p:cNvPr id="17" name="">
            <a:extLst xmlns:a="http://schemas.openxmlformats.org/drawingml/2006/main">
              <a:ext uri="{FF2B5EF4-FFF2-40B4-BE49-F238E27FC236}">
                <a16:creationId xmlns:a16="http://schemas.microsoft.com/office/drawing/2014/main" id="{79146E69-28FD-419D-99EB-EB56F48AD0CA}"/>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How affected people challenge results</a:t>
            </a:r>
          </a:p>
        </p:txBody>
      </p:sp>
      <p:sp>
        <p:nvSpPr>
          <p:cNvPr id="18" name="">
            <a:extLst xmlns:a="http://schemas.openxmlformats.org/drawingml/2006/main">
              <a:ext uri="{FF2B5EF4-FFF2-40B4-BE49-F238E27FC236}">
                <a16:creationId xmlns:a16="http://schemas.microsoft.com/office/drawing/2014/main" id="{F06AEE22-22BD-4CA3-A268-D2435A52AC0A}"/>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Aggregate accuracy can conceal serious failure for a smaller group</a:t>
            </a:r>
          </a:p>
        </p:txBody>
      </p:sp>
    </p:spTree>
    <p:extLst>
      <p:ext uri="{BB962C8B-B14F-4D97-AF65-F5344CB8AC3E}">
        <p14:creationId xmlns:p14="http://schemas.microsoft.com/office/powerpoint/2010/main" val="442229258"/>
      </p:ext>
    </p:extLst>
  </p:cSld>
</p:sld>
</file>

<file path=ppt/slides/slide32.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FFF315A-6C56-4B0C-AE00-EA2687C27466}"/>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AC3DA9CC-EFC2-4625-97ED-82F1C6B3B806}"/>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30A6F9C2-1916-49E5-BB10-D8E44FF18D1E}"/>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APPLIED CASE</a:t>
            </a:r>
          </a:p>
        </p:txBody>
      </p:sp>
      <p:sp>
        <p:nvSpPr>
          <p:cNvPr id="4" name="">
            <a:extLst xmlns:a="http://schemas.openxmlformats.org/drawingml/2006/main">
              <a:ext uri="{FF2B5EF4-FFF2-40B4-BE49-F238E27FC236}">
                <a16:creationId xmlns:a16="http://schemas.microsoft.com/office/drawing/2014/main" id="{71FD5B13-DA52-4A22-BE57-9A14398B5005}"/>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32</a:t>
            </a:r>
          </a:p>
        </p:txBody>
      </p:sp>
      <p:sp>
        <p:nvSpPr>
          <p:cNvPr id="5" name="">
            <a:extLst xmlns:a="http://schemas.openxmlformats.org/drawingml/2006/main">
              <a:ext uri="{FF2B5EF4-FFF2-40B4-BE49-F238E27FC236}">
                <a16:creationId xmlns:a16="http://schemas.microsoft.com/office/drawing/2014/main" id="{00764265-127E-4A56-8DE1-74D6C04F017C}"/>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Official statistics case</a:t>
            </a:r>
          </a:p>
        </p:txBody>
      </p:sp>
      <p:sp>
        <p:nvSpPr>
          <p:cNvPr id="6" name="">
            <a:extLst xmlns:a="http://schemas.openxmlformats.org/drawingml/2006/main">
              <a:ext uri="{FF2B5EF4-FFF2-40B4-BE49-F238E27FC236}">
                <a16:creationId xmlns:a16="http://schemas.microsoft.com/office/drawing/2014/main" id="{9EDB694E-E77B-4BC7-961E-4047945D1A6E}"/>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C3EFF499-8869-4A3B-8E5B-866DC1DE7E3B}"/>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AUTHORITY</a:t>
            </a:r>
          </a:p>
        </p:txBody>
      </p:sp>
      <p:sp>
        <p:nvSpPr>
          <p:cNvPr id="8" name="">
            <a:extLst xmlns:a="http://schemas.openxmlformats.org/drawingml/2006/main">
              <a:ext uri="{FF2B5EF4-FFF2-40B4-BE49-F238E27FC236}">
                <a16:creationId xmlns:a16="http://schemas.microsoft.com/office/drawing/2014/main" id="{A424C595-D510-4F91-940E-EE060180D674}"/>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Approved table and metadata</a:t>
            </a:r>
          </a:p>
        </p:txBody>
      </p:sp>
      <p:sp>
        <p:nvSpPr>
          <p:cNvPr id="9" name="">
            <a:extLst xmlns:a="http://schemas.openxmlformats.org/drawingml/2006/main">
              <a:ext uri="{FF2B5EF4-FFF2-40B4-BE49-F238E27FC236}">
                <a16:creationId xmlns:a16="http://schemas.microsoft.com/office/drawing/2014/main" id="{2DA5C6DB-3C8C-40D6-B99E-63F041A7AE4E}"/>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DCB72347-F58E-425D-9482-CF476A71470D}"/>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CALCULATION</a:t>
            </a:r>
          </a:p>
        </p:txBody>
      </p:sp>
      <p:sp>
        <p:nvSpPr>
          <p:cNvPr id="11" name="">
            <a:extLst xmlns:a="http://schemas.openxmlformats.org/drawingml/2006/main">
              <a:ext uri="{FF2B5EF4-FFF2-40B4-BE49-F238E27FC236}">
                <a16:creationId xmlns:a16="http://schemas.microsoft.com/office/drawing/2014/main" id="{CD9E5131-F5F5-42DE-AC9F-25203770D191}"/>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Deterministic code for values and changes</a:t>
            </a:r>
          </a:p>
        </p:txBody>
      </p:sp>
      <p:sp>
        <p:nvSpPr>
          <p:cNvPr id="12" name="">
            <a:extLst xmlns:a="http://schemas.openxmlformats.org/drawingml/2006/main">
              <a:ext uri="{FF2B5EF4-FFF2-40B4-BE49-F238E27FC236}">
                <a16:creationId xmlns:a16="http://schemas.microsoft.com/office/drawing/2014/main" id="{E73A2909-2A46-47CA-912E-28CFEDE5B26A}"/>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F21F7A45-C740-4580-B015-BD04AE5F5EBF}"/>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GENERATION</a:t>
            </a:r>
          </a:p>
        </p:txBody>
      </p:sp>
      <p:sp>
        <p:nvSpPr>
          <p:cNvPr id="14" name="">
            <a:extLst xmlns:a="http://schemas.openxmlformats.org/drawingml/2006/main">
              <a:ext uri="{FF2B5EF4-FFF2-40B4-BE49-F238E27FC236}">
                <a16:creationId xmlns:a16="http://schemas.microsoft.com/office/drawing/2014/main" id="{ECD7703B-2FE0-49CE-B903-76C2274DC495}"/>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Draft narrative with source identifiers</a:t>
            </a:r>
          </a:p>
        </p:txBody>
      </p:sp>
      <p:sp>
        <p:nvSpPr>
          <p:cNvPr id="15" name="">
            <a:extLst xmlns:a="http://schemas.openxmlformats.org/drawingml/2006/main">
              <a:ext uri="{FF2B5EF4-FFF2-40B4-BE49-F238E27FC236}">
                <a16:creationId xmlns:a16="http://schemas.microsoft.com/office/drawing/2014/main" id="{606FFD3A-D3AF-4F81-B2BF-8216D827AA3E}"/>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A62BB847-E168-4CB8-A080-EA9B1D1B448B}"/>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RELEASE</a:t>
            </a:r>
          </a:p>
        </p:txBody>
      </p:sp>
      <p:sp>
        <p:nvSpPr>
          <p:cNvPr id="17" name="">
            <a:extLst xmlns:a="http://schemas.openxmlformats.org/drawingml/2006/main">
              <a:ext uri="{FF2B5EF4-FFF2-40B4-BE49-F238E27FC236}">
                <a16:creationId xmlns:a16="http://schemas.microsoft.com/office/drawing/2014/main" id="{D6DC821D-476E-4C60-949E-9092AC0E64B9}"/>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Statistician review and authorized publication</a:t>
            </a:r>
          </a:p>
        </p:txBody>
      </p:sp>
      <p:sp>
        <p:nvSpPr>
          <p:cNvPr id="18" name="">
            <a:extLst xmlns:a="http://schemas.openxmlformats.org/drawingml/2006/main">
              <a:ext uri="{FF2B5EF4-FFF2-40B4-BE49-F238E27FC236}">
                <a16:creationId xmlns:a16="http://schemas.microsoft.com/office/drawing/2014/main" id="{D4D75601-25D4-4D4C-9105-ED5691EFE3C4}"/>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Metadata forms part of every official statistical fact</a:t>
            </a:r>
          </a:p>
        </p:txBody>
      </p:sp>
    </p:spTree>
    <p:extLst>
      <p:ext uri="{BB962C8B-B14F-4D97-AF65-F5344CB8AC3E}">
        <p14:creationId xmlns:p14="http://schemas.microsoft.com/office/powerpoint/2010/main" val="1226835789"/>
      </p:ext>
    </p:extLst>
  </p:cSld>
</p:sld>
</file>

<file path=ppt/slides/slide33.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5075DF-283B-4275-85C9-00F96B3BAC67}"/>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8B1FB1B7-5CED-4E12-8961-B70EECC8A91D}"/>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90186DB3-6667-4CB6-AB59-2AA2FF1841AA}"/>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APPLIED CASE</a:t>
            </a:r>
          </a:p>
        </p:txBody>
      </p:sp>
      <p:sp>
        <p:nvSpPr>
          <p:cNvPr id="4" name="">
            <a:extLst xmlns:a="http://schemas.openxmlformats.org/drawingml/2006/main">
              <a:ext uri="{FF2B5EF4-FFF2-40B4-BE49-F238E27FC236}">
                <a16:creationId xmlns:a16="http://schemas.microsoft.com/office/drawing/2014/main" id="{79D6B461-25D2-4E6A-9A8A-AD9F808C44B3}"/>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33</a:t>
            </a:r>
          </a:p>
        </p:txBody>
      </p:sp>
      <p:sp>
        <p:nvSpPr>
          <p:cNvPr id="5" name="">
            <a:extLst xmlns:a="http://schemas.openxmlformats.org/drawingml/2006/main">
              <a:ext uri="{FF2B5EF4-FFF2-40B4-BE49-F238E27FC236}">
                <a16:creationId xmlns:a16="http://schemas.microsoft.com/office/drawing/2014/main" id="{9ED1E847-22E0-4C37-BAEF-1855BEBF8FDE}"/>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Public enterprise reporting case</a:t>
            </a:r>
          </a:p>
        </p:txBody>
      </p:sp>
      <p:sp>
        <p:nvSpPr>
          <p:cNvPr id="6" name="">
            <a:extLst xmlns:a="http://schemas.openxmlformats.org/drawingml/2006/main">
              <a:ext uri="{FF2B5EF4-FFF2-40B4-BE49-F238E27FC236}">
                <a16:creationId xmlns:a16="http://schemas.microsoft.com/office/drawing/2014/main" id="{90FE2735-A863-4401-A765-E1992FA67A76}"/>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D92C8733-4AA1-4DFF-B6BD-A5E6383A88DE}"/>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SOURCE</a:t>
            </a:r>
          </a:p>
        </p:txBody>
      </p:sp>
      <p:sp>
        <p:nvSpPr>
          <p:cNvPr id="8" name="">
            <a:extLst xmlns:a="http://schemas.openxmlformats.org/drawingml/2006/main">
              <a:ext uri="{FF2B5EF4-FFF2-40B4-BE49-F238E27FC236}">
                <a16:creationId xmlns:a16="http://schemas.microsoft.com/office/drawing/2014/main" id="{ADE439FD-933D-4614-B8FE-EAB6B1D5D29C}"/>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Controlled financial reporting system</a:t>
            </a:r>
          </a:p>
        </p:txBody>
      </p:sp>
      <p:sp>
        <p:nvSpPr>
          <p:cNvPr id="9" name="">
            <a:extLst xmlns:a="http://schemas.openxmlformats.org/drawingml/2006/main">
              <a:ext uri="{FF2B5EF4-FFF2-40B4-BE49-F238E27FC236}">
                <a16:creationId xmlns:a16="http://schemas.microsoft.com/office/drawing/2014/main" id="{3982B866-FA89-4494-B132-8B79996BBCF7}"/>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EB9F4CF0-0EF3-428B-AE74-FFE5C450BC8C}"/>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MODEL ROLE</a:t>
            </a:r>
          </a:p>
        </p:txBody>
      </p:sp>
      <p:sp>
        <p:nvSpPr>
          <p:cNvPr id="11" name="">
            <a:extLst xmlns:a="http://schemas.openxmlformats.org/drawingml/2006/main">
              <a:ext uri="{FF2B5EF4-FFF2-40B4-BE49-F238E27FC236}">
                <a16:creationId xmlns:a16="http://schemas.microsoft.com/office/drawing/2014/main" id="{C29C3FAB-F219-4A53-82B5-62904EB47DD8}"/>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Explain exceptions and draft narrative</a:t>
            </a:r>
          </a:p>
        </p:txBody>
      </p:sp>
      <p:sp>
        <p:nvSpPr>
          <p:cNvPr id="12" name="">
            <a:extLst xmlns:a="http://schemas.openxmlformats.org/drawingml/2006/main">
              <a:ext uri="{FF2B5EF4-FFF2-40B4-BE49-F238E27FC236}">
                <a16:creationId xmlns:a16="http://schemas.microsoft.com/office/drawing/2014/main" id="{3FA6DE29-AA6A-4368-83A0-3B6DAB2EFC16}"/>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0CC486BE-A627-4B2C-839E-88A925A11588}"/>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BOUNDARY</a:t>
            </a:r>
          </a:p>
        </p:txBody>
      </p:sp>
      <p:sp>
        <p:nvSpPr>
          <p:cNvPr id="14" name="">
            <a:extLst xmlns:a="http://schemas.openxmlformats.org/drawingml/2006/main">
              <a:ext uri="{FF2B5EF4-FFF2-40B4-BE49-F238E27FC236}">
                <a16:creationId xmlns:a16="http://schemas.microsoft.com/office/drawing/2014/main" id="{8A6111C8-5680-42A8-AC47-A45E964ACCAD}"/>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No direct alteration of ledger records</a:t>
            </a:r>
          </a:p>
        </p:txBody>
      </p:sp>
      <p:sp>
        <p:nvSpPr>
          <p:cNvPr id="15" name="">
            <a:extLst xmlns:a="http://schemas.openxmlformats.org/drawingml/2006/main">
              <a:ext uri="{FF2B5EF4-FFF2-40B4-BE49-F238E27FC236}">
                <a16:creationId xmlns:a16="http://schemas.microsoft.com/office/drawing/2014/main" id="{579BA80B-0C99-4AC4-8626-1E78C2AF165A}"/>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71E55929-B54E-495B-B6DE-B6576C2A9791}"/>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APPROVAL</a:t>
            </a:r>
          </a:p>
        </p:txBody>
      </p:sp>
      <p:sp>
        <p:nvSpPr>
          <p:cNvPr id="17" name="">
            <a:extLst xmlns:a="http://schemas.openxmlformats.org/drawingml/2006/main">
              <a:ext uri="{FF2B5EF4-FFF2-40B4-BE49-F238E27FC236}">
                <a16:creationId xmlns:a16="http://schemas.microsoft.com/office/drawing/2014/main" id="{8F9E2CE6-1664-4769-B1E8-0B5AAFA95BC2}"/>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Named reviewer confirms material claims</a:t>
            </a:r>
          </a:p>
        </p:txBody>
      </p:sp>
      <p:sp>
        <p:nvSpPr>
          <p:cNvPr id="18" name="">
            <a:extLst xmlns:a="http://schemas.openxmlformats.org/drawingml/2006/main">
              <a:ext uri="{FF2B5EF4-FFF2-40B4-BE49-F238E27FC236}">
                <a16:creationId xmlns:a16="http://schemas.microsoft.com/office/drawing/2014/main" id="{1B39D73E-83B0-41DD-9E10-930B19E7A6F1}"/>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The system of record remains authoritative</a:t>
            </a:r>
          </a:p>
        </p:txBody>
      </p:sp>
    </p:spTree>
    <p:extLst>
      <p:ext uri="{BB962C8B-B14F-4D97-AF65-F5344CB8AC3E}">
        <p14:creationId xmlns:p14="http://schemas.microsoft.com/office/powerpoint/2010/main" val="1605236760"/>
      </p:ext>
    </p:extLst>
  </p:cSld>
</p:sld>
</file>

<file path=ppt/slides/slide34.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D8A396B-B9EA-40E0-8571-41EDE98215C0}"/>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C44ECDB5-2235-4063-9D8B-2B1CBEC0B674}"/>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6BF141DA-4491-494D-AD92-53A1C336543F}"/>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NOTEBOOK LABORATORY</a:t>
            </a:r>
          </a:p>
        </p:txBody>
      </p:sp>
      <p:sp>
        <p:nvSpPr>
          <p:cNvPr id="4" name="">
            <a:extLst xmlns:a="http://schemas.openxmlformats.org/drawingml/2006/main">
              <a:ext uri="{FF2B5EF4-FFF2-40B4-BE49-F238E27FC236}">
                <a16:creationId xmlns:a16="http://schemas.microsoft.com/office/drawing/2014/main" id="{BF0B2222-1FD1-4B59-B300-ED305A4E2DEE}"/>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34</a:t>
            </a:r>
          </a:p>
        </p:txBody>
      </p:sp>
      <p:sp>
        <p:nvSpPr>
          <p:cNvPr id="5" name="">
            <a:extLst xmlns:a="http://schemas.openxmlformats.org/drawingml/2006/main">
              <a:ext uri="{FF2B5EF4-FFF2-40B4-BE49-F238E27FC236}">
                <a16:creationId xmlns:a16="http://schemas.microsoft.com/office/drawing/2014/main" id="{419526F6-13A0-415F-B8AB-8C5D11765902}"/>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Notebook validation</a:t>
            </a:r>
          </a:p>
        </p:txBody>
      </p:sp>
      <p:sp>
        <p:nvSpPr>
          <p:cNvPr id="6" name="">
            <a:extLst xmlns:a="http://schemas.openxmlformats.org/drawingml/2006/main">
              <a:ext uri="{FF2B5EF4-FFF2-40B4-BE49-F238E27FC236}">
                <a16:creationId xmlns:a16="http://schemas.microsoft.com/office/drawing/2014/main" id="{876AEAAE-1BE9-4262-8F2A-6F924B9A8EB3}"/>
              </a:ext>
            </a:extLst>
          </p:cNvPr>
          <p:cNvSpPr>
            <a:spLocks xmlns:a="http://schemas.openxmlformats.org/drawingml/2006/main" noGrp="1"/>
          </p:cNvSpPr>
          <p:nvPr/>
        </p:nvSpPr>
        <p:spPr>
          <a:xfrm xmlns:a="http://schemas.openxmlformats.org/drawingml/2006/main">
            <a:off x="51435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88556F18-D653-4E6A-AD61-A923496ED55A}"/>
              </a:ext>
            </a:extLst>
          </p:cNvPr>
          <p:cNvSpPr>
            <a:spLocks xmlns:a="http://schemas.openxmlformats.org/drawingml/2006/main" noGrp="1"/>
          </p:cNvSpPr>
          <p:nvPr/>
        </p:nvSpPr>
        <p:spPr>
          <a:xfrm xmlns:a="http://schemas.openxmlformats.org/drawingml/2006/main">
            <a:off x="68580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CELLS</a:t>
            </a:r>
          </a:p>
        </p:txBody>
      </p:sp>
      <p:sp>
        <p:nvSpPr>
          <p:cNvPr id="8" name="">
            <a:extLst xmlns:a="http://schemas.openxmlformats.org/drawingml/2006/main">
              <a:ext uri="{FF2B5EF4-FFF2-40B4-BE49-F238E27FC236}">
                <a16:creationId xmlns:a16="http://schemas.microsoft.com/office/drawing/2014/main" id="{C75A2D9F-00AC-455C-A0A9-9B8B392E01A2}"/>
              </a:ext>
            </a:extLst>
          </p:cNvPr>
          <p:cNvSpPr>
            <a:spLocks xmlns:a="http://schemas.openxmlformats.org/drawingml/2006/main" noGrp="1"/>
          </p:cNvSpPr>
          <p:nvPr/>
        </p:nvSpPr>
        <p:spPr>
          <a:xfrm xmlns:a="http://schemas.openxmlformats.org/drawingml/2006/main">
            <a:off x="68580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41 total with 21 executable code cells</a:t>
            </a:r>
          </a:p>
        </p:txBody>
      </p:sp>
      <p:sp>
        <p:nvSpPr>
          <p:cNvPr id="9" name="">
            <a:extLst xmlns:a="http://schemas.openxmlformats.org/drawingml/2006/main">
              <a:ext uri="{FF2B5EF4-FFF2-40B4-BE49-F238E27FC236}">
                <a16:creationId xmlns:a16="http://schemas.microsoft.com/office/drawing/2014/main" id="{41A45F4E-FD07-4707-BE44-66916A1BBDD2}"/>
              </a:ext>
            </a:extLst>
          </p:cNvPr>
          <p:cNvSpPr>
            <a:spLocks xmlns:a="http://schemas.openxmlformats.org/drawingml/2006/main" noGrp="1"/>
          </p:cNvSpPr>
          <p:nvPr/>
        </p:nvSpPr>
        <p:spPr>
          <a:xfrm xmlns:a="http://schemas.openxmlformats.org/drawingml/2006/main">
            <a:off x="334327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0" name="">
            <a:extLst xmlns:a="http://schemas.openxmlformats.org/drawingml/2006/main">
              <a:ext uri="{FF2B5EF4-FFF2-40B4-BE49-F238E27FC236}">
                <a16:creationId xmlns:a16="http://schemas.microsoft.com/office/drawing/2014/main" id="{CAB35238-A308-48F2-85DB-DDFFD1629BA5}"/>
              </a:ext>
            </a:extLst>
          </p:cNvPr>
          <p:cNvSpPr>
            <a:spLocks xmlns:a="http://schemas.openxmlformats.org/drawingml/2006/main" noGrp="1"/>
          </p:cNvSpPr>
          <p:nvPr/>
        </p:nvSpPr>
        <p:spPr>
          <a:xfrm xmlns:a="http://schemas.openxmlformats.org/drawingml/2006/main">
            <a:off x="351472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PORTABILITY</a:t>
            </a:r>
          </a:p>
        </p:txBody>
      </p:sp>
      <p:sp>
        <p:nvSpPr>
          <p:cNvPr id="11" name="">
            <a:extLst xmlns:a="http://schemas.openxmlformats.org/drawingml/2006/main">
              <a:ext uri="{FF2B5EF4-FFF2-40B4-BE49-F238E27FC236}">
                <a16:creationId xmlns:a16="http://schemas.microsoft.com/office/drawing/2014/main" id="{F4E42A8B-0F70-4E50-9E38-174A57279622}"/>
              </a:ext>
            </a:extLst>
          </p:cNvPr>
          <p:cNvSpPr>
            <a:spLocks xmlns:a="http://schemas.openxmlformats.org/drawingml/2006/main" noGrp="1"/>
          </p:cNvSpPr>
          <p:nvPr/>
        </p:nvSpPr>
        <p:spPr>
          <a:xfrm xmlns:a="http://schemas.openxmlformats.org/drawingml/2006/main">
            <a:off x="351472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Runs in VS Code and Google Colab</a:t>
            </a:r>
          </a:p>
        </p:txBody>
      </p:sp>
      <p:sp>
        <p:nvSpPr>
          <p:cNvPr id="12" name="">
            <a:extLst xmlns:a="http://schemas.openxmlformats.org/drawingml/2006/main">
              <a:ext uri="{FF2B5EF4-FFF2-40B4-BE49-F238E27FC236}">
                <a16:creationId xmlns:a16="http://schemas.microsoft.com/office/drawing/2014/main" id="{D131B082-92E3-4D0D-94A7-185C3F0CCBD0}"/>
              </a:ext>
            </a:extLst>
          </p:cNvPr>
          <p:cNvSpPr>
            <a:spLocks xmlns:a="http://schemas.openxmlformats.org/drawingml/2006/main" noGrp="1"/>
          </p:cNvSpPr>
          <p:nvPr/>
        </p:nvSpPr>
        <p:spPr>
          <a:xfrm xmlns:a="http://schemas.openxmlformats.org/drawingml/2006/main">
            <a:off x="6172200"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3" name="">
            <a:extLst xmlns:a="http://schemas.openxmlformats.org/drawingml/2006/main">
              <a:ext uri="{FF2B5EF4-FFF2-40B4-BE49-F238E27FC236}">
                <a16:creationId xmlns:a16="http://schemas.microsoft.com/office/drawing/2014/main" id="{45956B09-7C5E-4137-885B-3792AEA5AE0B}"/>
              </a:ext>
            </a:extLst>
          </p:cNvPr>
          <p:cNvSpPr>
            <a:spLocks xmlns:a="http://schemas.openxmlformats.org/drawingml/2006/main" noGrp="1"/>
          </p:cNvSpPr>
          <p:nvPr/>
        </p:nvSpPr>
        <p:spPr>
          <a:xfrm xmlns:a="http://schemas.openxmlformats.org/drawingml/2006/main">
            <a:off x="6343650"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DEPENDENCIES</a:t>
            </a:r>
          </a:p>
        </p:txBody>
      </p:sp>
      <p:sp>
        <p:nvSpPr>
          <p:cNvPr id="14" name="">
            <a:extLst xmlns:a="http://schemas.openxmlformats.org/drawingml/2006/main">
              <a:ext uri="{FF2B5EF4-FFF2-40B4-BE49-F238E27FC236}">
                <a16:creationId xmlns:a16="http://schemas.microsoft.com/office/drawing/2014/main" id="{19EBDCAD-4E87-48FA-BA15-E160BECCFDC1}"/>
              </a:ext>
            </a:extLst>
          </p:cNvPr>
          <p:cNvSpPr>
            <a:spLocks xmlns:a="http://schemas.openxmlformats.org/drawingml/2006/main" noGrp="1"/>
          </p:cNvSpPr>
          <p:nvPr/>
        </p:nvSpPr>
        <p:spPr>
          <a:xfrm xmlns:a="http://schemas.openxmlformats.org/drawingml/2006/main">
            <a:off x="6343650"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No private SRAI package required</a:t>
            </a:r>
          </a:p>
        </p:txBody>
      </p:sp>
      <p:sp>
        <p:nvSpPr>
          <p:cNvPr id="15" name="">
            <a:extLst xmlns:a="http://schemas.openxmlformats.org/drawingml/2006/main">
              <a:ext uri="{FF2B5EF4-FFF2-40B4-BE49-F238E27FC236}">
                <a16:creationId xmlns:a16="http://schemas.microsoft.com/office/drawing/2014/main" id="{1D38D0C4-8543-4144-AB34-E7E613C1AC95}"/>
              </a:ext>
            </a:extLst>
          </p:cNvPr>
          <p:cNvSpPr>
            <a:spLocks xmlns:a="http://schemas.openxmlformats.org/drawingml/2006/main" noGrp="1"/>
          </p:cNvSpPr>
          <p:nvPr/>
        </p:nvSpPr>
        <p:spPr>
          <a:xfrm xmlns:a="http://schemas.openxmlformats.org/drawingml/2006/main">
            <a:off x="9001125" y="1428750"/>
            <a:ext cx="2657475"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6" name="">
            <a:extLst xmlns:a="http://schemas.openxmlformats.org/drawingml/2006/main">
              <a:ext uri="{FF2B5EF4-FFF2-40B4-BE49-F238E27FC236}">
                <a16:creationId xmlns:a16="http://schemas.microsoft.com/office/drawing/2014/main" id="{E43652DC-E2BA-4AAC-B736-08480139B3F1}"/>
              </a:ext>
            </a:extLst>
          </p:cNvPr>
          <p:cNvSpPr>
            <a:spLocks xmlns:a="http://schemas.openxmlformats.org/drawingml/2006/main" noGrp="1"/>
          </p:cNvSpPr>
          <p:nvPr/>
        </p:nvSpPr>
        <p:spPr>
          <a:xfrm xmlns:a="http://schemas.openxmlformats.org/drawingml/2006/main">
            <a:off x="9172575" y="1562100"/>
            <a:ext cx="2314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RESULT</a:t>
            </a:r>
          </a:p>
        </p:txBody>
      </p:sp>
      <p:sp>
        <p:nvSpPr>
          <p:cNvPr id="17" name="">
            <a:extLst xmlns:a="http://schemas.openxmlformats.org/drawingml/2006/main">
              <a:ext uri="{FF2B5EF4-FFF2-40B4-BE49-F238E27FC236}">
                <a16:creationId xmlns:a16="http://schemas.microsoft.com/office/drawing/2014/main" id="{9165684F-5705-487E-898C-51F175C27DA6}"/>
              </a:ext>
            </a:extLst>
          </p:cNvPr>
          <p:cNvSpPr>
            <a:spLocks xmlns:a="http://schemas.openxmlformats.org/drawingml/2006/main" noGrp="1"/>
          </p:cNvSpPr>
          <p:nvPr/>
        </p:nvSpPr>
        <p:spPr>
          <a:xfrm xmlns:a="http://schemas.openxmlformats.org/drawingml/2006/main">
            <a:off x="9172575" y="1924050"/>
            <a:ext cx="231457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Ordered execution PASS</a:t>
            </a:r>
          </a:p>
        </p:txBody>
      </p:sp>
      <p:sp>
        <p:nvSpPr>
          <p:cNvPr id="18" name="">
            <a:extLst xmlns:a="http://schemas.openxmlformats.org/drawingml/2006/main">
              <a:ext uri="{FF2B5EF4-FFF2-40B4-BE49-F238E27FC236}">
                <a16:creationId xmlns:a16="http://schemas.microsoft.com/office/drawing/2014/main" id="{0EFB04DF-424E-485E-802C-1187953021AF}"/>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Transparent experiments expose mechanisms without claiming frontier-scale performance</a:t>
            </a:r>
          </a:p>
        </p:txBody>
      </p:sp>
    </p:spTree>
    <p:extLst>
      <p:ext uri="{BB962C8B-B14F-4D97-AF65-F5344CB8AC3E}">
        <p14:creationId xmlns:p14="http://schemas.microsoft.com/office/powerpoint/2010/main" val="1473438338"/>
      </p:ext>
    </p:extLst>
  </p:cSld>
</p:sld>
</file>

<file path=ppt/slides/slide35.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AA32BF9-9AC4-4A99-A78D-CC7F554AF2BC}"/>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DEBD6AE0-E41B-4718-B3AF-E9F4A3BA4757}"/>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ACF9F523-843F-43E0-AD38-BEE0E8700337}"/>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SRAI CONTROL</a:t>
            </a:r>
          </a:p>
        </p:txBody>
      </p:sp>
      <p:sp>
        <p:nvSpPr>
          <p:cNvPr id="4" name="">
            <a:extLst xmlns:a="http://schemas.openxmlformats.org/drawingml/2006/main">
              <a:ext uri="{FF2B5EF4-FFF2-40B4-BE49-F238E27FC236}">
                <a16:creationId xmlns:a16="http://schemas.microsoft.com/office/drawing/2014/main" id="{99AB81EA-0780-43F1-8479-3813145BCD0F}"/>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35</a:t>
            </a:r>
          </a:p>
        </p:txBody>
      </p:sp>
      <p:sp>
        <p:nvSpPr>
          <p:cNvPr id="5" name="">
            <a:extLst xmlns:a="http://schemas.openxmlformats.org/drawingml/2006/main">
              <a:ext uri="{FF2B5EF4-FFF2-40B4-BE49-F238E27FC236}">
                <a16:creationId xmlns:a16="http://schemas.microsoft.com/office/drawing/2014/main" id="{BE01E2B4-0507-4D22-90CE-4C79CDDDEFE3}"/>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The SRAI evidence chain</a:t>
            </a:r>
          </a:p>
        </p:txBody>
      </p:sp>
      <p:sp>
        <p:nvSpPr>
          <p:cNvPr id="6" name="">
            <a:extLst xmlns:a="http://schemas.openxmlformats.org/drawingml/2006/main">
              <a:ext uri="{FF2B5EF4-FFF2-40B4-BE49-F238E27FC236}">
                <a16:creationId xmlns:a16="http://schemas.microsoft.com/office/drawing/2014/main" id="{20FE5D9C-3D82-4277-86E5-8EFD0A642EF2}"/>
              </a:ext>
            </a:extLst>
          </p:cNvPr>
          <p:cNvSpPr>
            <a:spLocks xmlns:a="http://schemas.openxmlformats.org/drawingml/2006/main" noGrp="1"/>
          </p:cNvSpPr>
          <p:nvPr/>
        </p:nvSpPr>
        <p:spPr>
          <a:xfrm xmlns:a="http://schemas.openxmlformats.org/drawingml/2006/main">
            <a:off x="714375" y="2095500"/>
            <a:ext cx="204597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E5949583-DEB5-4F95-8B28-DF543CFB39B1}"/>
              </a:ext>
            </a:extLst>
          </p:cNvPr>
          <p:cNvSpPr>
            <a:spLocks xmlns:a="http://schemas.openxmlformats.org/drawingml/2006/main" noGrp="1"/>
          </p:cNvSpPr>
          <p:nvPr/>
        </p:nvSpPr>
        <p:spPr>
          <a:xfrm xmlns:a="http://schemas.openxmlformats.org/drawingml/2006/main">
            <a:off x="866775" y="2238375"/>
            <a:ext cx="17411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FB168064-1894-41FD-9499-E271B98BD031}"/>
              </a:ext>
            </a:extLst>
          </p:cNvPr>
          <p:cNvSpPr>
            <a:spLocks xmlns:a="http://schemas.openxmlformats.org/drawingml/2006/main" noGrp="1"/>
          </p:cNvSpPr>
          <p:nvPr/>
        </p:nvSpPr>
        <p:spPr>
          <a:xfrm xmlns:a="http://schemas.openxmlformats.org/drawingml/2006/main">
            <a:off x="866775" y="2714625"/>
            <a:ext cx="174117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Request</a:t>
            </a:r>
          </a:p>
        </p:txBody>
      </p:sp>
      <p:sp>
        <p:nvSpPr>
          <p:cNvPr id="9" name="">
            <a:extLst xmlns:a="http://schemas.openxmlformats.org/drawingml/2006/main">
              <a:ext uri="{FF2B5EF4-FFF2-40B4-BE49-F238E27FC236}">
                <a16:creationId xmlns:a16="http://schemas.microsoft.com/office/drawing/2014/main" id="{9BF75FF0-F62E-45D2-B21D-FD5E5CE6D23D}"/>
              </a:ext>
            </a:extLst>
          </p:cNvPr>
          <p:cNvSpPr>
            <a:spLocks xmlns:a="http://schemas.openxmlformats.org/drawingml/2006/main" noGrp="1"/>
          </p:cNvSpPr>
          <p:nvPr/>
        </p:nvSpPr>
        <p:spPr>
          <a:xfrm xmlns:a="http://schemas.openxmlformats.org/drawingml/2006/main">
            <a:off x="866775" y="3238500"/>
            <a:ext cx="174117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Purpose and user</a:t>
            </a:r>
          </a:p>
        </p:txBody>
      </p:sp>
      <p:sp>
        <p:nvSpPr>
          <p:cNvPr id="10" name="">
            <a:extLst xmlns:a="http://schemas.openxmlformats.org/drawingml/2006/main">
              <a:ext uri="{FF2B5EF4-FFF2-40B4-BE49-F238E27FC236}">
                <a16:creationId xmlns:a16="http://schemas.microsoft.com/office/drawing/2014/main" id="{418BC843-F0A9-43DE-AEE0-AA329047FE4E}"/>
              </a:ext>
            </a:extLst>
          </p:cNvPr>
          <p:cNvSpPr>
            <a:spLocks xmlns:a="http://schemas.openxmlformats.org/drawingml/2006/main" noGrp="1"/>
          </p:cNvSpPr>
          <p:nvPr/>
        </p:nvSpPr>
        <p:spPr>
          <a:xfrm xmlns:a="http://schemas.openxmlformats.org/drawingml/2006/main">
            <a:off x="2893695" y="2095500"/>
            <a:ext cx="204597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1" name="">
            <a:extLst xmlns:a="http://schemas.openxmlformats.org/drawingml/2006/main">
              <a:ext uri="{FF2B5EF4-FFF2-40B4-BE49-F238E27FC236}">
                <a16:creationId xmlns:a16="http://schemas.microsoft.com/office/drawing/2014/main" id="{A1F65003-E3CC-4A5A-B5A2-48A943B40783}"/>
              </a:ext>
            </a:extLst>
          </p:cNvPr>
          <p:cNvSpPr>
            <a:spLocks xmlns:a="http://schemas.openxmlformats.org/drawingml/2006/main" noGrp="1"/>
          </p:cNvSpPr>
          <p:nvPr/>
        </p:nvSpPr>
        <p:spPr>
          <a:xfrm xmlns:a="http://schemas.openxmlformats.org/drawingml/2006/main">
            <a:off x="3046095" y="2238375"/>
            <a:ext cx="17411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1768CF95-75E9-4B78-8B8D-572F9517E1F3}"/>
              </a:ext>
            </a:extLst>
          </p:cNvPr>
          <p:cNvSpPr>
            <a:spLocks xmlns:a="http://schemas.openxmlformats.org/drawingml/2006/main" noGrp="1"/>
          </p:cNvSpPr>
          <p:nvPr/>
        </p:nvSpPr>
        <p:spPr>
          <a:xfrm xmlns:a="http://schemas.openxmlformats.org/drawingml/2006/main">
            <a:off x="3046095" y="2714625"/>
            <a:ext cx="174117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Context</a:t>
            </a:r>
          </a:p>
        </p:txBody>
      </p:sp>
      <p:sp>
        <p:nvSpPr>
          <p:cNvPr id="13" name="">
            <a:extLst xmlns:a="http://schemas.openxmlformats.org/drawingml/2006/main">
              <a:ext uri="{FF2B5EF4-FFF2-40B4-BE49-F238E27FC236}">
                <a16:creationId xmlns:a16="http://schemas.microsoft.com/office/drawing/2014/main" id="{4968B089-7F74-4C1E-B5B1-DA87AEFA1BB0}"/>
              </a:ext>
            </a:extLst>
          </p:cNvPr>
          <p:cNvSpPr>
            <a:spLocks xmlns:a="http://schemas.openxmlformats.org/drawingml/2006/main" noGrp="1"/>
          </p:cNvSpPr>
          <p:nvPr/>
        </p:nvSpPr>
        <p:spPr>
          <a:xfrm xmlns:a="http://schemas.openxmlformats.org/drawingml/2006/main">
            <a:off x="3046095" y="3238500"/>
            <a:ext cx="174117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Authorized sources</a:t>
            </a:r>
          </a:p>
        </p:txBody>
      </p:sp>
      <p:sp>
        <p:nvSpPr>
          <p:cNvPr id="14" name="">
            <a:extLst xmlns:a="http://schemas.openxmlformats.org/drawingml/2006/main">
              <a:ext uri="{FF2B5EF4-FFF2-40B4-BE49-F238E27FC236}">
                <a16:creationId xmlns:a16="http://schemas.microsoft.com/office/drawing/2014/main" id="{4A4E68B2-C38C-40A1-B3FB-75C6E2DE9E0E}"/>
              </a:ext>
            </a:extLst>
          </p:cNvPr>
          <p:cNvSpPr>
            <a:spLocks xmlns:a="http://schemas.openxmlformats.org/drawingml/2006/main" noGrp="1"/>
          </p:cNvSpPr>
          <p:nvPr/>
        </p:nvSpPr>
        <p:spPr>
          <a:xfrm xmlns:a="http://schemas.openxmlformats.org/drawingml/2006/main">
            <a:off x="5073015" y="2095500"/>
            <a:ext cx="204597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5" name="">
            <a:extLst xmlns:a="http://schemas.openxmlformats.org/drawingml/2006/main">
              <a:ext uri="{FF2B5EF4-FFF2-40B4-BE49-F238E27FC236}">
                <a16:creationId xmlns:a16="http://schemas.microsoft.com/office/drawing/2014/main" id="{749980DF-1F0B-4D7F-AD43-ACE4438BF01F}"/>
              </a:ext>
            </a:extLst>
          </p:cNvPr>
          <p:cNvSpPr>
            <a:spLocks xmlns:a="http://schemas.openxmlformats.org/drawingml/2006/main" noGrp="1"/>
          </p:cNvSpPr>
          <p:nvPr/>
        </p:nvSpPr>
        <p:spPr>
          <a:xfrm xmlns:a="http://schemas.openxmlformats.org/drawingml/2006/main">
            <a:off x="5225415" y="2238375"/>
            <a:ext cx="17411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03</a:t>
            </a:r>
          </a:p>
        </p:txBody>
      </p:sp>
      <p:sp>
        <p:nvSpPr>
          <p:cNvPr id="16" name="">
            <a:extLst xmlns:a="http://schemas.openxmlformats.org/drawingml/2006/main">
              <a:ext uri="{FF2B5EF4-FFF2-40B4-BE49-F238E27FC236}">
                <a16:creationId xmlns:a16="http://schemas.microsoft.com/office/drawing/2014/main" id="{631F7F0F-4CFE-4E14-BF92-C1C394335530}"/>
              </a:ext>
            </a:extLst>
          </p:cNvPr>
          <p:cNvSpPr>
            <a:spLocks xmlns:a="http://schemas.openxmlformats.org/drawingml/2006/main" noGrp="1"/>
          </p:cNvSpPr>
          <p:nvPr/>
        </p:nvSpPr>
        <p:spPr>
          <a:xfrm xmlns:a="http://schemas.openxmlformats.org/drawingml/2006/main">
            <a:off x="5225415" y="2714625"/>
            <a:ext cx="174117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System</a:t>
            </a:r>
          </a:p>
        </p:txBody>
      </p:sp>
      <p:sp>
        <p:nvSpPr>
          <p:cNvPr id="17" name="">
            <a:extLst xmlns:a="http://schemas.openxmlformats.org/drawingml/2006/main">
              <a:ext uri="{FF2B5EF4-FFF2-40B4-BE49-F238E27FC236}">
                <a16:creationId xmlns:a16="http://schemas.microsoft.com/office/drawing/2014/main" id="{2C201F19-2385-4AD7-87B4-916B5D8E34BF}"/>
              </a:ext>
            </a:extLst>
          </p:cNvPr>
          <p:cNvSpPr>
            <a:spLocks xmlns:a="http://schemas.openxmlformats.org/drawingml/2006/main" noGrp="1"/>
          </p:cNvSpPr>
          <p:nvPr/>
        </p:nvSpPr>
        <p:spPr>
          <a:xfrm xmlns:a="http://schemas.openxmlformats.org/drawingml/2006/main">
            <a:off x="5225415" y="3238500"/>
            <a:ext cx="174117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Model, prompt and settings</a:t>
            </a:r>
          </a:p>
        </p:txBody>
      </p:sp>
      <p:sp>
        <p:nvSpPr>
          <p:cNvPr id="18" name="">
            <a:extLst xmlns:a="http://schemas.openxmlformats.org/drawingml/2006/main">
              <a:ext uri="{FF2B5EF4-FFF2-40B4-BE49-F238E27FC236}">
                <a16:creationId xmlns:a16="http://schemas.microsoft.com/office/drawing/2014/main" id="{01EFC24E-B8D3-497E-99AC-D808F668A861}"/>
              </a:ext>
            </a:extLst>
          </p:cNvPr>
          <p:cNvSpPr>
            <a:spLocks xmlns:a="http://schemas.openxmlformats.org/drawingml/2006/main" noGrp="1"/>
          </p:cNvSpPr>
          <p:nvPr/>
        </p:nvSpPr>
        <p:spPr>
          <a:xfrm xmlns:a="http://schemas.openxmlformats.org/drawingml/2006/main">
            <a:off x="7252335" y="2095500"/>
            <a:ext cx="204597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19" name="">
            <a:extLst xmlns:a="http://schemas.openxmlformats.org/drawingml/2006/main">
              <a:ext uri="{FF2B5EF4-FFF2-40B4-BE49-F238E27FC236}">
                <a16:creationId xmlns:a16="http://schemas.microsoft.com/office/drawing/2014/main" id="{2C42EA74-9D39-48C7-AC87-518E2F4E6B52}"/>
              </a:ext>
            </a:extLst>
          </p:cNvPr>
          <p:cNvSpPr>
            <a:spLocks xmlns:a="http://schemas.openxmlformats.org/drawingml/2006/main" noGrp="1"/>
          </p:cNvSpPr>
          <p:nvPr/>
        </p:nvSpPr>
        <p:spPr>
          <a:xfrm xmlns:a="http://schemas.openxmlformats.org/drawingml/2006/main">
            <a:off x="7404735" y="2238375"/>
            <a:ext cx="17411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39D7D5"/>
                </a:solidFill>
                <a:latin typeface="Calibri"/>
                <a:ea typeface="Calibri"/>
                <a:cs typeface="Calibri"/>
              </a:defRPr>
            </a:pPr>
            <a:r>
              <a:rPr sz="1650" b="1">
                <a:solidFill>
                  <a:srgbClr val="39D7D5"/>
                </a:solidFill>
                <a:latin typeface="Calibri"/>
                <a:ea typeface="Calibri"/>
                <a:cs typeface="Calibri"/>
              </a:rPr>
              <a:t>04</a:t>
            </a:r>
          </a:p>
        </p:txBody>
      </p:sp>
      <p:sp>
        <p:nvSpPr>
          <p:cNvPr id="20" name="">
            <a:extLst xmlns:a="http://schemas.openxmlformats.org/drawingml/2006/main">
              <a:ext uri="{FF2B5EF4-FFF2-40B4-BE49-F238E27FC236}">
                <a16:creationId xmlns:a16="http://schemas.microsoft.com/office/drawing/2014/main" id="{328E07E9-5191-460C-BD49-AEA628710E7A}"/>
              </a:ext>
            </a:extLst>
          </p:cNvPr>
          <p:cNvSpPr>
            <a:spLocks xmlns:a="http://schemas.openxmlformats.org/drawingml/2006/main" noGrp="1"/>
          </p:cNvSpPr>
          <p:nvPr/>
        </p:nvSpPr>
        <p:spPr>
          <a:xfrm xmlns:a="http://schemas.openxmlformats.org/drawingml/2006/main">
            <a:off x="7404735" y="2714625"/>
            <a:ext cx="174117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Verification</a:t>
            </a:r>
          </a:p>
        </p:txBody>
      </p:sp>
      <p:sp>
        <p:nvSpPr>
          <p:cNvPr id="21" name="">
            <a:extLst xmlns:a="http://schemas.openxmlformats.org/drawingml/2006/main">
              <a:ext uri="{FF2B5EF4-FFF2-40B4-BE49-F238E27FC236}">
                <a16:creationId xmlns:a16="http://schemas.microsoft.com/office/drawing/2014/main" id="{C5775A1B-0CCC-4E62-9F8D-3A1854B8E271}"/>
              </a:ext>
            </a:extLst>
          </p:cNvPr>
          <p:cNvSpPr>
            <a:spLocks xmlns:a="http://schemas.openxmlformats.org/drawingml/2006/main" noGrp="1"/>
          </p:cNvSpPr>
          <p:nvPr/>
        </p:nvSpPr>
        <p:spPr>
          <a:xfrm xmlns:a="http://schemas.openxmlformats.org/drawingml/2006/main">
            <a:off x="7404735" y="3238500"/>
            <a:ext cx="174117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Claim checks and exceptions</a:t>
            </a:r>
          </a:p>
        </p:txBody>
      </p:sp>
      <p:sp>
        <p:nvSpPr>
          <p:cNvPr id="22" name="">
            <a:extLst xmlns:a="http://schemas.openxmlformats.org/drawingml/2006/main">
              <a:ext uri="{FF2B5EF4-FFF2-40B4-BE49-F238E27FC236}">
                <a16:creationId xmlns:a16="http://schemas.microsoft.com/office/drawing/2014/main" id="{50628AF0-D735-487A-924A-7F4BEAFDCA2E}"/>
              </a:ext>
            </a:extLst>
          </p:cNvPr>
          <p:cNvSpPr>
            <a:spLocks xmlns:a="http://schemas.openxmlformats.org/drawingml/2006/main" noGrp="1"/>
          </p:cNvSpPr>
          <p:nvPr/>
        </p:nvSpPr>
        <p:spPr>
          <a:xfrm xmlns:a="http://schemas.openxmlformats.org/drawingml/2006/main">
            <a:off x="9431655" y="2095500"/>
            <a:ext cx="2045970" cy="2095500"/>
          </a:xfrm>
          <a:prstGeom xmlns:a="http://schemas.openxmlformats.org/drawingml/2006/main" prst="rect">
            <a:avLst/>
          </a:prstGeom>
          <a:solidFill xmlns:a="http://schemas.openxmlformats.org/drawingml/2006/main">
            <a:srgbClr val="102A3E"/>
          </a:solidFill>
          <a:ln xmlns:a="http://schemas.openxmlformats.org/drawingml/2006/main" w="9525">
            <a:solidFill>
              <a:srgbClr val="F4B740"/>
            </a:solidFill>
          </a:ln>
        </p:spPr>
      </p:sp>
      <p:sp>
        <p:nvSpPr>
          <p:cNvPr id="23" name="">
            <a:extLst xmlns:a="http://schemas.openxmlformats.org/drawingml/2006/main">
              <a:ext uri="{FF2B5EF4-FFF2-40B4-BE49-F238E27FC236}">
                <a16:creationId xmlns:a16="http://schemas.microsoft.com/office/drawing/2014/main" id="{CF67BB8D-877E-4AC1-A56C-CFA3E860DF86}"/>
              </a:ext>
            </a:extLst>
          </p:cNvPr>
          <p:cNvSpPr>
            <a:spLocks xmlns:a="http://schemas.openxmlformats.org/drawingml/2006/main" noGrp="1"/>
          </p:cNvSpPr>
          <p:nvPr/>
        </p:nvSpPr>
        <p:spPr>
          <a:xfrm xmlns:a="http://schemas.openxmlformats.org/drawingml/2006/main">
            <a:off x="9584055" y="2238375"/>
            <a:ext cx="17411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4B740"/>
                </a:solidFill>
                <a:latin typeface="Calibri"/>
                <a:ea typeface="Calibri"/>
                <a:cs typeface="Calibri"/>
              </a:defRPr>
            </a:pPr>
            <a:r>
              <a:rPr sz="1650" b="1">
                <a:solidFill>
                  <a:srgbClr val="F4B740"/>
                </a:solidFill>
                <a:latin typeface="Calibri"/>
                <a:ea typeface="Calibri"/>
                <a:cs typeface="Calibri"/>
              </a:rPr>
              <a:t>05</a:t>
            </a:r>
          </a:p>
        </p:txBody>
      </p:sp>
      <p:sp>
        <p:nvSpPr>
          <p:cNvPr id="24" name="">
            <a:extLst xmlns:a="http://schemas.openxmlformats.org/drawingml/2006/main">
              <a:ext uri="{FF2B5EF4-FFF2-40B4-BE49-F238E27FC236}">
                <a16:creationId xmlns:a16="http://schemas.microsoft.com/office/drawing/2014/main" id="{7D830D56-214A-47E3-8535-19D0B93F445F}"/>
              </a:ext>
            </a:extLst>
          </p:cNvPr>
          <p:cNvSpPr>
            <a:spLocks xmlns:a="http://schemas.openxmlformats.org/drawingml/2006/main" noGrp="1"/>
          </p:cNvSpPr>
          <p:nvPr/>
        </p:nvSpPr>
        <p:spPr>
          <a:xfrm xmlns:a="http://schemas.openxmlformats.org/drawingml/2006/main">
            <a:off x="9584055" y="2714625"/>
            <a:ext cx="174117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5FAFC"/>
                </a:solidFill>
                <a:latin typeface="Calibri"/>
                <a:ea typeface="Calibri"/>
                <a:cs typeface="Calibri"/>
              </a:defRPr>
            </a:pPr>
            <a:r>
              <a:rPr sz="1350" b="1">
                <a:solidFill>
                  <a:srgbClr val="F5FAFC"/>
                </a:solidFill>
                <a:latin typeface="Calibri"/>
                <a:ea typeface="Calibri"/>
                <a:cs typeface="Calibri"/>
              </a:rPr>
              <a:t>Decision</a:t>
            </a:r>
          </a:p>
        </p:txBody>
      </p:sp>
      <p:sp>
        <p:nvSpPr>
          <p:cNvPr id="25" name="">
            <a:extLst xmlns:a="http://schemas.openxmlformats.org/drawingml/2006/main">
              <a:ext uri="{FF2B5EF4-FFF2-40B4-BE49-F238E27FC236}">
                <a16:creationId xmlns:a16="http://schemas.microsoft.com/office/drawing/2014/main" id="{4CFC0D3B-92F1-42E2-A0E4-8E51AD269F51}"/>
              </a:ext>
            </a:extLst>
          </p:cNvPr>
          <p:cNvSpPr>
            <a:spLocks xmlns:a="http://schemas.openxmlformats.org/drawingml/2006/main" noGrp="1"/>
          </p:cNvSpPr>
          <p:nvPr/>
        </p:nvSpPr>
        <p:spPr>
          <a:xfrm xmlns:a="http://schemas.openxmlformats.org/drawingml/2006/main">
            <a:off x="9584055" y="3238500"/>
            <a:ext cx="174117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A9C0CE"/>
                </a:solidFill>
                <a:latin typeface="Calibri"/>
                <a:ea typeface="Calibri"/>
                <a:cs typeface="Calibri"/>
              </a:defRPr>
            </a:pPr>
            <a:r>
              <a:rPr sz="1125" b="0">
                <a:solidFill>
                  <a:srgbClr val="A9C0CE"/>
                </a:solidFill>
                <a:latin typeface="Calibri"/>
                <a:ea typeface="Calibri"/>
                <a:cs typeface="Calibri"/>
              </a:rPr>
              <a:t>Human approval or escalation</a:t>
            </a:r>
          </a:p>
        </p:txBody>
      </p:sp>
      <p:cxnSp>
        <p:nvCxnSpPr>
          <p:cNvPr id="56" name=""/>
          <p:cNvCxnSpPr>
            <a:stCxn xmlns:a="http://schemas.openxmlformats.org/drawingml/2006/main" id="6" idx="3"/>
            <a:endCxn xmlns:a="http://schemas.openxmlformats.org/drawingml/2006/main" id="10" idx="1"/>
          </p:cNvCxnSpPr>
          <p:nvPr/>
        </p:nvCxnSpPr>
        <p:spPr>
          <a:xfrm xmlns:a="http://schemas.openxmlformats.org/drawingml/2006/main">
            <a:off x="276034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57" name=""/>
          <p:cNvCxnSpPr>
            <a:stCxn xmlns:a="http://schemas.openxmlformats.org/drawingml/2006/main" id="10" idx="3"/>
            <a:endCxn xmlns:a="http://schemas.openxmlformats.org/drawingml/2006/main" id="14" idx="1"/>
          </p:cNvCxnSpPr>
          <p:nvPr/>
        </p:nvCxnSpPr>
        <p:spPr>
          <a:xfrm xmlns:a="http://schemas.openxmlformats.org/drawingml/2006/main">
            <a:off x="493966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58" name=""/>
          <p:cNvCxnSpPr>
            <a:stCxn xmlns:a="http://schemas.openxmlformats.org/drawingml/2006/main" id="14" idx="3"/>
            <a:endCxn xmlns:a="http://schemas.openxmlformats.org/drawingml/2006/main" id="18" idx="1"/>
          </p:cNvCxnSpPr>
          <p:nvPr/>
        </p:nvCxnSpPr>
        <p:spPr>
          <a:xfrm xmlns:a="http://schemas.openxmlformats.org/drawingml/2006/main">
            <a:off x="711898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cxnSp>
        <p:nvCxnSpPr>
          <p:cNvPr id="59" name=""/>
          <p:cNvCxnSpPr>
            <a:stCxn xmlns:a="http://schemas.openxmlformats.org/drawingml/2006/main" id="18" idx="3"/>
            <a:endCxn xmlns:a="http://schemas.openxmlformats.org/drawingml/2006/main" id="22" idx="1"/>
          </p:cNvCxnSpPr>
          <p:nvPr/>
        </p:nvCxnSpPr>
        <p:spPr>
          <a:xfrm xmlns:a="http://schemas.openxmlformats.org/drawingml/2006/main">
            <a:off x="9298305" y="3143250"/>
            <a:ext cx="133350" cy="0"/>
          </a:xfrm>
          <a:prstGeom xmlns:a="http://schemas.openxmlformats.org/drawingml/2006/main" prst="straightConnector1">
            <a:avLst/>
          </a:prstGeom>
          <a:ln xmlns:a="http://schemas.openxmlformats.org/drawingml/2006/main" w="19050">
            <a:solidFill>
              <a:srgbClr val="39D7D5"/>
            </a:solidFill>
            <a:tailEnd type="triangle" w="sm" len="sm"/>
          </a:ln>
        </p:spPr>
      </p:cxnSp>
      <p:sp>
        <p:nvSpPr>
          <p:cNvPr id="30" name="">
            <a:extLst xmlns:a="http://schemas.openxmlformats.org/drawingml/2006/main">
              <a:ext uri="{FF2B5EF4-FFF2-40B4-BE49-F238E27FC236}">
                <a16:creationId xmlns:a16="http://schemas.microsoft.com/office/drawing/2014/main" id="{29BAC2ED-78FD-4D35-BF41-2F515C85D637}"/>
              </a:ext>
            </a:extLst>
          </p:cNvPr>
          <p:cNvSpPr>
            <a:spLocks xmlns:a="http://schemas.openxmlformats.org/drawingml/2006/main" noGrp="1"/>
          </p:cNvSpPr>
          <p:nvPr/>
        </p:nvSpPr>
        <p:spPr>
          <a:xfrm xmlns:a="http://schemas.openxmlformats.org/drawingml/2006/main">
            <a:off x="66675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4B740"/>
                </a:solidFill>
                <a:latin typeface="Calibri"/>
                <a:ea typeface="Calibri"/>
                <a:cs typeface="Calibri"/>
              </a:defRPr>
            </a:pPr>
            <a:r>
              <a:rPr sz="1350" b="1">
                <a:solidFill>
                  <a:srgbClr val="F4B740"/>
                </a:solidFill>
                <a:latin typeface="Calibri"/>
                <a:ea typeface="Calibri"/>
                <a:cs typeface="Calibri"/>
              </a:rPr>
              <a:t>Retain enough evidence to audit without retaining unnecessary sensitive data</a:t>
            </a:r>
          </a:p>
        </p:txBody>
      </p:sp>
    </p:spTree>
    <p:extLst>
      <p:ext uri="{BB962C8B-B14F-4D97-AF65-F5344CB8AC3E}">
        <p14:creationId xmlns:p14="http://schemas.microsoft.com/office/powerpoint/2010/main" val="1857793228"/>
      </p:ext>
    </p:extLst>
  </p:cSld>
</p:sld>
</file>

<file path=ppt/slides/slide36.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21C8F6-CC0C-4E56-ADE6-F8AE7580721D}"/>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3759C359-77DF-44ED-AEF0-1734844F34D7}"/>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5D11ED9F-92FA-463B-9E69-B89862E713A3}"/>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SRAI CONTROL</a:t>
            </a:r>
          </a:p>
        </p:txBody>
      </p:sp>
      <p:sp>
        <p:nvSpPr>
          <p:cNvPr id="4" name="">
            <a:extLst xmlns:a="http://schemas.openxmlformats.org/drawingml/2006/main">
              <a:ext uri="{FF2B5EF4-FFF2-40B4-BE49-F238E27FC236}">
                <a16:creationId xmlns:a16="http://schemas.microsoft.com/office/drawing/2014/main" id="{F00CAE0F-BBA4-45DE-89CC-FE330D2010D5}"/>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36</a:t>
            </a:r>
          </a:p>
        </p:txBody>
      </p:sp>
      <p:sp>
        <p:nvSpPr>
          <p:cNvPr id="5" name="">
            <a:extLst xmlns:a="http://schemas.openxmlformats.org/drawingml/2006/main">
              <a:ext uri="{FF2B5EF4-FFF2-40B4-BE49-F238E27FC236}">
                <a16:creationId xmlns:a16="http://schemas.microsoft.com/office/drawing/2014/main" id="{183DD67F-93E3-4712-9452-C51A875278E0}"/>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SRAI Principle Number 96</a:t>
            </a:r>
          </a:p>
        </p:txBody>
      </p:sp>
      <p:sp>
        <p:nvSpPr>
          <p:cNvPr id="6" name="">
            <a:extLst xmlns:a="http://schemas.openxmlformats.org/drawingml/2006/main">
              <a:ext uri="{FF2B5EF4-FFF2-40B4-BE49-F238E27FC236}">
                <a16:creationId xmlns:a16="http://schemas.microsoft.com/office/drawing/2014/main" id="{F694114A-38C6-4D25-9898-E7F82CB97A56}"/>
              </a:ext>
            </a:extLst>
          </p:cNvPr>
          <p:cNvSpPr>
            <a:spLocks xmlns:a="http://schemas.openxmlformats.org/drawingml/2006/main" noGrp="1"/>
          </p:cNvSpPr>
          <p:nvPr/>
        </p:nvSpPr>
        <p:spPr>
          <a:xfrm xmlns:a="http://schemas.openxmlformats.org/drawingml/2006/main">
            <a:off x="514350" y="1428750"/>
            <a:ext cx="11144250" cy="4191000"/>
          </a:xfrm>
          <a:prstGeom xmlns:a="http://schemas.openxmlformats.org/drawingml/2006/main" prst="rect">
            <a:avLst/>
          </a:prstGeom>
          <a:solidFill xmlns:a="http://schemas.openxmlformats.org/drawingml/2006/main">
            <a:srgbClr val="102A3E"/>
          </a:solidFill>
          <a:ln xmlns:a="http://schemas.openxmlformats.org/drawingml/2006/main" w="9525">
            <a:solidFill>
              <a:srgbClr val="39D7D5"/>
            </a:solidFill>
          </a:ln>
        </p:spPr>
      </p:sp>
      <p:sp>
        <p:nvSpPr>
          <p:cNvPr id="7" name="">
            <a:extLst xmlns:a="http://schemas.openxmlformats.org/drawingml/2006/main">
              <a:ext uri="{FF2B5EF4-FFF2-40B4-BE49-F238E27FC236}">
                <a16:creationId xmlns:a16="http://schemas.microsoft.com/office/drawing/2014/main" id="{FCDBF0E7-B2B5-4624-8D82-84FC04E52897}"/>
              </a:ext>
            </a:extLst>
          </p:cNvPr>
          <p:cNvSpPr>
            <a:spLocks xmlns:a="http://schemas.openxmlformats.org/drawingml/2006/main" noGrp="1"/>
          </p:cNvSpPr>
          <p:nvPr/>
        </p:nvSpPr>
        <p:spPr>
          <a:xfrm xmlns:a="http://schemas.openxmlformats.org/drawingml/2006/main">
            <a:off x="685800" y="1562100"/>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39D7D5"/>
                </a:solidFill>
                <a:latin typeface="Calibri"/>
                <a:ea typeface="Calibri"/>
                <a:cs typeface="Calibri"/>
              </a:defRPr>
            </a:pPr>
            <a:r>
              <a:rPr sz="900" b="1">
                <a:solidFill>
                  <a:srgbClr val="39D7D5"/>
                </a:solidFill>
                <a:latin typeface="Calibri"/>
                <a:ea typeface="Calibri"/>
                <a:cs typeface="Calibri"/>
              </a:rPr>
              <a:t>PRINCIPLE</a:t>
            </a:r>
          </a:p>
        </p:txBody>
      </p:sp>
      <p:sp>
        <p:nvSpPr>
          <p:cNvPr id="8" name="">
            <a:extLst xmlns:a="http://schemas.openxmlformats.org/drawingml/2006/main">
              <a:ext uri="{FF2B5EF4-FFF2-40B4-BE49-F238E27FC236}">
                <a16:creationId xmlns:a16="http://schemas.microsoft.com/office/drawing/2014/main" id="{055E7B78-8F85-479F-A0CD-2D06D0645357}"/>
              </a:ext>
            </a:extLst>
          </p:cNvPr>
          <p:cNvSpPr>
            <a:spLocks xmlns:a="http://schemas.openxmlformats.org/drawingml/2006/main" noGrp="1"/>
          </p:cNvSpPr>
          <p:nvPr/>
        </p:nvSpPr>
        <p:spPr>
          <a:xfrm xmlns:a="http://schemas.openxmlformats.org/drawingml/2006/main">
            <a:off x="685800" y="1924050"/>
            <a:ext cx="108013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F5FAFC"/>
                </a:solidFill>
                <a:latin typeface="Calibri"/>
                <a:ea typeface="Calibri"/>
                <a:cs typeface="Calibri"/>
              </a:defRPr>
            </a:pPr>
            <a:r>
              <a:rPr sz="1425" b="0">
                <a:solidFill>
                  <a:srgbClr val="F5FAFC"/>
                </a:solidFill>
                <a:latin typeface="Calibri"/>
                <a:ea typeface="Calibri"/>
                <a:cs typeface="Calibri"/>
              </a:rPr>
              <a:t>A language model generates statistically plausible continuations. Factual authority must come from evidence, validation and accountable human use.</a:t>
            </a:r>
          </a:p>
        </p:txBody>
      </p:sp>
      <p:sp>
        <p:nvSpPr>
          <p:cNvPr id="9" name="">
            <a:extLst xmlns:a="http://schemas.openxmlformats.org/drawingml/2006/main">
              <a:ext uri="{FF2B5EF4-FFF2-40B4-BE49-F238E27FC236}">
                <a16:creationId xmlns:a16="http://schemas.microsoft.com/office/drawing/2014/main" id="{062026ED-A85B-4062-BEBC-80793AD2C590}"/>
              </a:ext>
            </a:extLst>
          </p:cNvPr>
          <p:cNvSpPr>
            <a:spLocks xmlns:a="http://schemas.openxmlformats.org/drawingml/2006/main" noGrp="1"/>
          </p:cNvSpPr>
          <p:nvPr/>
        </p:nvSpPr>
        <p:spPr>
          <a:xfrm xmlns:a="http://schemas.openxmlformats.org/drawingml/2006/main">
            <a:off x="666750" y="5905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4B740"/>
                </a:solidFill>
                <a:latin typeface="Calibri"/>
                <a:ea typeface="Calibri"/>
                <a:cs typeface="Calibri"/>
              </a:defRPr>
            </a:pPr>
            <a:r>
              <a:rPr sz="1200" b="1">
                <a:solidFill>
                  <a:srgbClr val="F4B740"/>
                </a:solidFill>
                <a:latin typeface="Calibri"/>
                <a:ea typeface="Calibri"/>
                <a:cs typeface="Calibri"/>
              </a:rPr>
              <a:t>This principle locates institutional authority outside the probability distribution</a:t>
            </a:r>
          </a:p>
        </p:txBody>
      </p:sp>
    </p:spTree>
    <p:extLst>
      <p:ext uri="{BB962C8B-B14F-4D97-AF65-F5344CB8AC3E}">
        <p14:creationId xmlns:p14="http://schemas.microsoft.com/office/powerpoint/2010/main" val="2146958220"/>
      </p:ext>
    </p:extLst>
  </p:cSld>
</p:sld>
</file>

<file path=ppt/slides/slide37.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0C2833-58C5-4B89-933E-1334EE671F32}"/>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39D7D5"/>
          </a:solidFill>
          <a:ln xmlns:a="http://schemas.openxmlformats.org/drawingml/2006/main" w="9525">
            <a:solidFill>
              <a:srgbClr val="39D7D5"/>
            </a:solidFill>
          </a:ln>
        </p:spPr>
      </p:sp>
      <p:sp>
        <p:nvSpPr>
          <p:cNvPr id="2" name="">
            <a:extLst xmlns:a="http://schemas.openxmlformats.org/drawingml/2006/main">
              <a:ext uri="{FF2B5EF4-FFF2-40B4-BE49-F238E27FC236}">
                <a16:creationId xmlns:a16="http://schemas.microsoft.com/office/drawing/2014/main" id="{4EBACC5C-C66E-4B2B-AEAD-D46E3224E525}"/>
              </a:ext>
            </a:extLst>
          </p:cNvPr>
          <p:cNvSpPr>
            <a:spLocks xmlns:a="http://schemas.openxmlformats.org/drawingml/2006/main" noGrp="1"/>
          </p:cNvSpPr>
          <p:nvPr/>
        </p:nvSpPr>
        <p:spPr>
          <a:xfrm xmlns:a="http://schemas.openxmlformats.org/drawingml/2006/main">
            <a:off x="323850" y="1714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9D7D5"/>
                </a:solidFill>
                <a:latin typeface="Calibri"/>
                <a:ea typeface="Calibri"/>
                <a:cs typeface="Calibri"/>
              </a:defRPr>
            </a:pPr>
            <a:r>
              <a:rPr sz="975" b="1">
                <a:solidFill>
                  <a:srgbClr val="39D7D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82DC7D3A-F0E3-4215-BD0D-880DCBA79DCF}"/>
              </a:ext>
            </a:extLst>
          </p:cNvPr>
          <p:cNvSpPr>
            <a:spLocks xmlns:a="http://schemas.openxmlformats.org/drawingml/2006/main" noGrp="1"/>
          </p:cNvSpPr>
          <p:nvPr/>
        </p:nvSpPr>
        <p:spPr>
          <a:xfrm xmlns:a="http://schemas.openxmlformats.org/drawingml/2006/main">
            <a:off x="1428750" y="17145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CLOSING</a:t>
            </a:r>
          </a:p>
        </p:txBody>
      </p:sp>
      <p:sp>
        <p:nvSpPr>
          <p:cNvPr id="4" name="">
            <a:extLst xmlns:a="http://schemas.openxmlformats.org/drawingml/2006/main">
              <a:ext uri="{FF2B5EF4-FFF2-40B4-BE49-F238E27FC236}">
                <a16:creationId xmlns:a16="http://schemas.microsoft.com/office/drawing/2014/main" id="{C279D368-75A3-4866-A606-43B1895170B5}"/>
              </a:ext>
            </a:extLst>
          </p:cNvPr>
          <p:cNvSpPr>
            <a:spLocks xmlns:a="http://schemas.openxmlformats.org/drawingml/2006/main" noGrp="1"/>
          </p:cNvSpPr>
          <p:nvPr/>
        </p:nvSpPr>
        <p:spPr>
          <a:xfrm xmlns:a="http://schemas.openxmlformats.org/drawingml/2006/main">
            <a:off x="11334750" y="1714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A9C0CE"/>
                </a:solidFill>
                <a:latin typeface="Calibri"/>
                <a:ea typeface="Calibri"/>
                <a:cs typeface="Calibri"/>
              </a:defRPr>
            </a:pPr>
            <a:r>
              <a:rPr sz="825" b="0">
                <a:solidFill>
                  <a:srgbClr val="A9C0CE"/>
                </a:solidFill>
                <a:latin typeface="Calibri"/>
                <a:ea typeface="Calibri"/>
                <a:cs typeface="Calibri"/>
              </a:rPr>
              <a:t>37</a:t>
            </a:r>
          </a:p>
        </p:txBody>
      </p:sp>
      <p:sp>
        <p:nvSpPr>
          <p:cNvPr id="5" name="">
            <a:extLst xmlns:a="http://schemas.openxmlformats.org/drawingml/2006/main">
              <a:ext uri="{FF2B5EF4-FFF2-40B4-BE49-F238E27FC236}">
                <a16:creationId xmlns:a16="http://schemas.microsoft.com/office/drawing/2014/main" id="{404F46C5-AB86-472E-AE17-C083C80B19C5}"/>
              </a:ext>
            </a:extLst>
          </p:cNvPr>
          <p:cNvSpPr>
            <a:spLocks xmlns:a="http://schemas.openxmlformats.org/drawingml/2006/main" noGrp="1"/>
          </p:cNvSpPr>
          <p:nvPr/>
        </p:nvSpPr>
        <p:spPr>
          <a:xfrm xmlns:a="http://schemas.openxmlformats.org/drawingml/2006/main">
            <a:off x="514350" y="5905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5FAFC"/>
                </a:solidFill>
                <a:latin typeface="Calibri"/>
                <a:ea typeface="Calibri"/>
                <a:cs typeface="Calibri"/>
              </a:defRPr>
            </a:pPr>
            <a:r>
              <a:rPr sz="2400" b="1">
                <a:solidFill>
                  <a:srgbClr val="F5FAFC"/>
                </a:solidFill>
                <a:latin typeface="Calibri"/>
                <a:ea typeface="Calibri"/>
                <a:cs typeface="Calibri"/>
              </a:rPr>
              <a:t>Book 4 begins with an ambitious destination</a:t>
            </a:r>
          </a:p>
        </p:txBody>
      </p:sp>
      <p:sp>
        <p:nvSpPr>
          <p:cNvPr id="6" name="">
            <a:extLst xmlns:a="http://schemas.openxmlformats.org/drawingml/2006/main">
              <a:ext uri="{FF2B5EF4-FFF2-40B4-BE49-F238E27FC236}">
                <a16:creationId xmlns:a16="http://schemas.microsoft.com/office/drawing/2014/main" id="{B3C1FE72-18BB-44E6-8CC9-ADF9E76D04CA}"/>
              </a:ext>
            </a:extLst>
          </p:cNvPr>
          <p:cNvSpPr>
            <a:spLocks xmlns:a="http://schemas.openxmlformats.org/drawingml/2006/main" noGrp="1"/>
          </p:cNvSpPr>
          <p:nvPr/>
        </p:nvSpPr>
        <p:spPr>
          <a:xfrm xmlns:a="http://schemas.openxmlformats.org/drawingml/2006/main">
            <a:off x="1428750" y="1714500"/>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F5FAFC"/>
                </a:solidFill>
                <a:latin typeface="Calibri"/>
                <a:ea typeface="Calibri"/>
                <a:cs typeface="Calibri"/>
              </a:defRPr>
            </a:pPr>
            <a:r>
              <a:rPr sz="3600" b="1">
                <a:solidFill>
                  <a:srgbClr val="F5FAFC"/>
                </a:solidFill>
                <a:latin typeface="Calibri"/>
                <a:ea typeface="Calibri"/>
                <a:cs typeface="Calibri"/>
              </a:rPr>
              <a:t>BUILD AND EXPLAIN</a:t>
            </a:r>
          </a:p>
          <a:p xmlns:a="http://schemas.openxmlformats.org/drawingml/2006/main">
            <a:pPr>
              <a:defRPr sz="3600" b="1">
                <a:solidFill>
                  <a:srgbClr val="F5FAFC"/>
                </a:solidFill>
                <a:latin typeface="Calibri"/>
                <a:ea typeface="Calibri"/>
                <a:cs typeface="Calibri"/>
              </a:defRPr>
            </a:pPr>
            <a:r>
              <a:rPr sz="3600" b="1">
                <a:solidFill>
                  <a:srgbClr val="F5FAFC"/>
                </a:solidFill>
                <a:latin typeface="Calibri"/>
                <a:ea typeface="Calibri"/>
                <a:cs typeface="Calibri"/>
              </a:rPr>
              <a:t>A SMALL GPT</a:t>
            </a:r>
          </a:p>
        </p:txBody>
      </p:sp>
      <p:sp>
        <p:nvSpPr>
          <p:cNvPr id="7" name="">
            <a:extLst xmlns:a="http://schemas.openxmlformats.org/drawingml/2006/main">
              <a:ext uri="{FF2B5EF4-FFF2-40B4-BE49-F238E27FC236}">
                <a16:creationId xmlns:a16="http://schemas.microsoft.com/office/drawing/2014/main" id="{9FADC73C-86E4-43F4-BC71-C85CCF34875B}"/>
              </a:ext>
            </a:extLst>
          </p:cNvPr>
          <p:cNvSpPr>
            <a:spLocks xmlns:a="http://schemas.openxmlformats.org/drawingml/2006/main" noGrp="1"/>
          </p:cNvSpPr>
          <p:nvPr/>
        </p:nvSpPr>
        <p:spPr>
          <a:xfrm xmlns:a="http://schemas.openxmlformats.org/drawingml/2006/main">
            <a:off x="1095375" y="37147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39D7D5"/>
                </a:solidFill>
                <a:latin typeface="Calibri"/>
                <a:ea typeface="Calibri"/>
                <a:cs typeface="Calibri"/>
              </a:defRPr>
            </a:pPr>
            <a:r>
              <a:rPr sz="1575" b="1">
                <a:solidFill>
                  <a:srgbClr val="39D7D5"/>
                </a:solidFill>
                <a:latin typeface="Calibri"/>
                <a:ea typeface="Calibri"/>
                <a:cs typeface="Calibri"/>
              </a:rPr>
              <a:t>Tokens  |  Causal attention  |  Decoder blocks  |  Training  |  Generation  |  Evaluation</a:t>
            </a:r>
          </a:p>
        </p:txBody>
      </p:sp>
      <p:sp>
        <p:nvSpPr>
          <p:cNvPr id="8" name="">
            <a:extLst xmlns:a="http://schemas.openxmlformats.org/drawingml/2006/main">
              <a:ext uri="{FF2B5EF4-FFF2-40B4-BE49-F238E27FC236}">
                <a16:creationId xmlns:a16="http://schemas.microsoft.com/office/drawing/2014/main" id="{7B6EBBBE-394B-4548-8177-B54A9184A6F0}"/>
              </a:ext>
            </a:extLst>
          </p:cNvPr>
          <p:cNvSpPr>
            <a:spLocks xmlns:a="http://schemas.openxmlformats.org/drawingml/2006/main" noGrp="1"/>
          </p:cNvSpPr>
          <p:nvPr/>
        </p:nvSpPr>
        <p:spPr>
          <a:xfrm xmlns:a="http://schemas.openxmlformats.org/drawingml/2006/main">
            <a:off x="1428750" y="4953000"/>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4B740"/>
                </a:solidFill>
                <a:latin typeface="Calibri"/>
                <a:ea typeface="Calibri"/>
                <a:cs typeface="Calibri"/>
              </a:defRPr>
            </a:pPr>
            <a:r>
              <a:rPr sz="1425" b="1">
                <a:solidFill>
                  <a:srgbClr val="F4B740"/>
                </a:solidFill>
                <a:latin typeface="Calibri"/>
                <a:ea typeface="Calibri"/>
                <a:cs typeface="Calibri"/>
              </a:rPr>
              <a:t>Lesson 1 establishes the evidence discipline that will govern the complete journey</a:t>
            </a:r>
          </a:p>
        </p:txBody>
      </p:sp>
    </p:spTree>
    <p:extLst>
      <p:ext uri="{BB962C8B-B14F-4D97-AF65-F5344CB8AC3E}">
        <p14:creationId xmlns:p14="http://schemas.microsoft.com/office/powerpoint/2010/main" val="1897702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2026-09-14T10:38:47.2170000Z</dcterms:created>
  <dcterms:modified xsi:type="dcterms:W3CDTF">2026-09-14T10:38:47.2170000Z</dcterms:modified>
</coreProperties>
</file>